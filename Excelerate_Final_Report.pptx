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993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6035040" cy="6858000"/>
          </a:xfrm>
          <a:prstGeom prst="rect">
            <a:avLst/>
          </a:prstGeom>
          <a:solidFill>
            <a:srgbClr val="071A33"/>
          </a:solidFill>
          <a:ln w="12700">
            <a:solidFill>
              <a:srgbClr val="071A33"/>
            </a:solidFill>
            <a:prstDash val="solid"/>
          </a:ln>
        </p:spPr>
        <p:txBody>
          <a:bodyPr/>
          <a:lstStyle/>
          <a:p>
            <a:endParaRPr lang="en-KE"/>
          </a:p>
        </p:txBody>
      </p:sp>
      <p:sp>
        <p:nvSpPr>
          <p:cNvPr id="3" name="Shape 1"/>
          <p:cNvSpPr/>
          <p:nvPr/>
        </p:nvSpPr>
        <p:spPr>
          <a:xfrm>
            <a:off x="6035040" y="0"/>
            <a:ext cx="82296" cy="6858000"/>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502920" y="822960"/>
            <a:ext cx="5212080" cy="347472"/>
          </a:xfrm>
          <a:prstGeom prst="rect">
            <a:avLst/>
          </a:prstGeom>
          <a:noFill/>
          <a:ln/>
        </p:spPr>
        <p:txBody>
          <a:bodyPr wrap="square" lIns="0" tIns="0" rIns="0" bIns="0" rtlCol="0" anchor="ctr"/>
          <a:lstStyle/>
          <a:p>
            <a:pPr marL="0" indent="0">
              <a:buNone/>
            </a:pPr>
            <a:r>
              <a:rPr lang="en-US" sz="1100" b="1" kern="0" spc="500" dirty="0">
                <a:solidFill>
                  <a:srgbClr val="00897B"/>
                </a:solidFill>
                <a:latin typeface="Calibri" pitchFamily="34" charset="0"/>
                <a:ea typeface="Calibri" pitchFamily="34" charset="-122"/>
                <a:cs typeface="Calibri" pitchFamily="34" charset="-120"/>
              </a:rPr>
              <a:t>EXCELERATE</a:t>
            </a:r>
            <a:endParaRPr lang="en-US" sz="1100" dirty="0"/>
          </a:p>
        </p:txBody>
      </p:sp>
      <p:sp>
        <p:nvSpPr>
          <p:cNvPr id="5" name="Text 3"/>
          <p:cNvSpPr/>
          <p:nvPr/>
        </p:nvSpPr>
        <p:spPr>
          <a:xfrm>
            <a:off x="502920" y="1243584"/>
            <a:ext cx="5212080" cy="1005840"/>
          </a:xfrm>
          <a:prstGeom prst="rect">
            <a:avLst/>
          </a:prstGeom>
          <a:noFill/>
          <a:ln/>
        </p:spPr>
        <p:txBody>
          <a:bodyPr wrap="square" lIns="0" tIns="0" rIns="0" bIns="0" rtlCol="0" anchor="ctr"/>
          <a:lstStyle/>
          <a:p>
            <a:pPr marL="0" indent="0">
              <a:lnSpc>
                <a:spcPct val="130000"/>
              </a:lnSpc>
              <a:buNone/>
            </a:pPr>
            <a:r>
              <a:rPr lang="en-US" sz="1400" i="1" dirty="0">
                <a:solidFill>
                  <a:srgbClr val="90C2E7"/>
                </a:solidFill>
                <a:latin typeface="Calibri" pitchFamily="34" charset="0"/>
                <a:ea typeface="Calibri" pitchFamily="34" charset="-122"/>
                <a:cs typeface="Calibri" pitchFamily="34" charset="-120"/>
              </a:rPr>
              <a:t>AI-Powered Data Insight</a:t>
            </a:r>
            <a:endParaRPr lang="en-US" sz="1400" dirty="0"/>
          </a:p>
          <a:p>
            <a:pPr marL="0" indent="0">
              <a:lnSpc>
                <a:spcPct val="130000"/>
              </a:lnSpc>
              <a:buNone/>
            </a:pPr>
            <a:r>
              <a:rPr lang="en-US" sz="1400" i="1" dirty="0">
                <a:solidFill>
                  <a:srgbClr val="90C2E7"/>
                </a:solidFill>
                <a:latin typeface="Calibri" pitchFamily="34" charset="0"/>
                <a:ea typeface="Calibri" pitchFamily="34" charset="-122"/>
                <a:cs typeface="Calibri" pitchFamily="34" charset="-120"/>
              </a:rPr>
              <a:t>Internship</a:t>
            </a:r>
            <a:endParaRPr lang="en-US" sz="1400" dirty="0"/>
          </a:p>
        </p:txBody>
      </p:sp>
      <p:sp>
        <p:nvSpPr>
          <p:cNvPr id="6" name="Shape 4"/>
          <p:cNvSpPr/>
          <p:nvPr/>
        </p:nvSpPr>
        <p:spPr>
          <a:xfrm>
            <a:off x="502920" y="2395728"/>
            <a:ext cx="5029200" cy="0"/>
          </a:xfrm>
          <a:prstGeom prst="line">
            <a:avLst/>
          </a:prstGeom>
          <a:noFill/>
          <a:ln w="12700">
            <a:solidFill>
              <a:srgbClr val="00897B"/>
            </a:solidFill>
            <a:prstDash val="solid"/>
          </a:ln>
        </p:spPr>
        <p:txBody>
          <a:bodyPr/>
          <a:lstStyle/>
          <a:p>
            <a:endParaRPr lang="en-KE"/>
          </a:p>
        </p:txBody>
      </p:sp>
      <p:sp>
        <p:nvSpPr>
          <p:cNvPr id="7" name="Text 5"/>
          <p:cNvSpPr/>
          <p:nvPr/>
        </p:nvSpPr>
        <p:spPr>
          <a:xfrm>
            <a:off x="502920" y="2560320"/>
            <a:ext cx="5212080" cy="457200"/>
          </a:xfrm>
          <a:prstGeom prst="rect">
            <a:avLst/>
          </a:prstGeom>
          <a:noFill/>
          <a:ln/>
        </p:spPr>
        <p:txBody>
          <a:bodyPr wrap="square" lIns="0" tIns="0" rIns="0" bIns="0" rtlCol="0" anchor="ctr"/>
          <a:lstStyle/>
          <a:p>
            <a:pPr marL="0" indent="0">
              <a:buNone/>
            </a:pPr>
            <a:r>
              <a:rPr lang="en-US" sz="1300" dirty="0">
                <a:solidFill>
                  <a:srgbClr val="5A7A95"/>
                </a:solidFill>
                <a:latin typeface="Calibri" pitchFamily="34" charset="0"/>
                <a:ea typeface="Calibri" pitchFamily="34" charset="-122"/>
                <a:cs typeface="Calibri" pitchFamily="34" charset="-120"/>
              </a:rPr>
              <a:t>4-Week Data Analysis</a:t>
            </a:r>
            <a:endParaRPr lang="en-US" sz="1300" dirty="0"/>
          </a:p>
        </p:txBody>
      </p:sp>
      <p:sp>
        <p:nvSpPr>
          <p:cNvPr id="8" name="Text 6"/>
          <p:cNvSpPr/>
          <p:nvPr/>
        </p:nvSpPr>
        <p:spPr>
          <a:xfrm>
            <a:off x="502920" y="2999232"/>
            <a:ext cx="5212080" cy="1371600"/>
          </a:xfrm>
          <a:prstGeom prst="rect">
            <a:avLst/>
          </a:prstGeom>
          <a:noFill/>
          <a:ln/>
        </p:spPr>
        <p:txBody>
          <a:bodyPr wrap="square" lIns="0" tIns="0" rIns="0" bIns="0" rtlCol="0" anchor="ctr"/>
          <a:lstStyle/>
          <a:p>
            <a:pPr>
              <a:lnSpc>
                <a:spcPct val="110000"/>
              </a:lnSpc>
            </a:pPr>
            <a:r>
              <a:rPr lang="en-GB" sz="3600" b="1" dirty="0">
                <a:solidFill>
                  <a:schemeClr val="bg1"/>
                </a:solidFill>
              </a:rPr>
              <a:t>Student Churn Analysis &amp; Forecasting Framework</a:t>
            </a:r>
            <a:endParaRPr lang="en-US" sz="3200" dirty="0">
              <a:solidFill>
                <a:schemeClr val="bg1"/>
              </a:solidFill>
            </a:endParaRPr>
          </a:p>
        </p:txBody>
      </p:sp>
      <p:sp>
        <p:nvSpPr>
          <p:cNvPr id="9" name="Text 7"/>
          <p:cNvSpPr/>
          <p:nvPr/>
        </p:nvSpPr>
        <p:spPr>
          <a:xfrm>
            <a:off x="502920" y="4480560"/>
            <a:ext cx="5212080" cy="502920"/>
          </a:xfrm>
          <a:prstGeom prst="rect">
            <a:avLst/>
          </a:prstGeom>
          <a:noFill/>
          <a:ln/>
        </p:spPr>
        <p:txBody>
          <a:bodyPr wrap="square" lIns="0" tIns="0" rIns="0" bIns="0" rtlCol="0" anchor="ctr"/>
          <a:lstStyle/>
          <a:p>
            <a:pPr marL="0" indent="0">
              <a:buNone/>
            </a:pPr>
            <a:r>
              <a:rPr lang="en-US" sz="1400" i="1" dirty="0">
                <a:solidFill>
                  <a:srgbClr val="4DB6AC"/>
                </a:solidFill>
                <a:latin typeface="Calibri" pitchFamily="34" charset="0"/>
                <a:ea typeface="Calibri" pitchFamily="34" charset="-122"/>
                <a:cs typeface="Calibri" pitchFamily="34" charset="-120"/>
              </a:rPr>
              <a:t>Student Churn Prediction &amp; Retention Strategy</a:t>
            </a:r>
            <a:endParaRPr lang="en-US" sz="1400" dirty="0"/>
          </a:p>
        </p:txBody>
      </p:sp>
      <p:sp>
        <p:nvSpPr>
          <p:cNvPr id="10" name="Shape 8"/>
          <p:cNvSpPr/>
          <p:nvPr/>
        </p:nvSpPr>
        <p:spPr>
          <a:xfrm>
            <a:off x="502920" y="5120640"/>
            <a:ext cx="5029200" cy="0"/>
          </a:xfrm>
          <a:prstGeom prst="line">
            <a:avLst/>
          </a:prstGeom>
          <a:noFill/>
          <a:ln w="12700">
            <a:solidFill>
              <a:srgbClr val="1E3A5F"/>
            </a:solidFill>
            <a:prstDash val="solid"/>
          </a:ln>
        </p:spPr>
        <p:txBody>
          <a:bodyPr/>
          <a:lstStyle/>
          <a:p>
            <a:endParaRPr lang="en-KE"/>
          </a:p>
        </p:txBody>
      </p:sp>
      <p:sp>
        <p:nvSpPr>
          <p:cNvPr id="11" name="Text 9"/>
          <p:cNvSpPr/>
          <p:nvPr/>
        </p:nvSpPr>
        <p:spPr>
          <a:xfrm>
            <a:off x="502920" y="5230368"/>
            <a:ext cx="5212080" cy="274320"/>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SLU Opportunity-Wise Dataset  ·  March 2026</a:t>
            </a:r>
            <a:endParaRPr lang="en-US" sz="1000" dirty="0"/>
          </a:p>
        </p:txBody>
      </p:sp>
      <p:sp>
        <p:nvSpPr>
          <p:cNvPr id="12" name="Shape 10"/>
          <p:cNvSpPr/>
          <p:nvPr/>
        </p:nvSpPr>
        <p:spPr>
          <a:xfrm>
            <a:off x="6355080" y="685800"/>
            <a:ext cx="5577840" cy="1261872"/>
          </a:xfrm>
          <a:prstGeom prst="rect">
            <a:avLst/>
          </a:prstGeom>
          <a:solidFill>
            <a:srgbClr val="0F2D4A"/>
          </a:solidFill>
          <a:ln w="12700">
            <a:solidFill>
              <a:srgbClr val="1E3A5F"/>
            </a:solidFill>
            <a:prstDash val="solid"/>
          </a:ln>
          <a:effectLst>
            <a:outerShdw blurRad="76200" dist="38100" dir="8100000" algn="bl" rotWithShape="0">
              <a:srgbClr val="000000">
                <a:alpha val="10000"/>
              </a:srgbClr>
            </a:outerShdw>
          </a:effectLst>
        </p:spPr>
        <p:txBody>
          <a:bodyPr/>
          <a:lstStyle/>
          <a:p>
            <a:endParaRPr lang="en-KE"/>
          </a:p>
        </p:txBody>
      </p:sp>
      <p:sp>
        <p:nvSpPr>
          <p:cNvPr id="13" name="Shape 11"/>
          <p:cNvSpPr/>
          <p:nvPr/>
        </p:nvSpPr>
        <p:spPr>
          <a:xfrm>
            <a:off x="6355080" y="685800"/>
            <a:ext cx="73152" cy="1261872"/>
          </a:xfrm>
          <a:prstGeom prst="rect">
            <a:avLst/>
          </a:prstGeom>
          <a:solidFill>
            <a:srgbClr val="00897B"/>
          </a:solidFill>
          <a:ln w="12700">
            <a:solidFill>
              <a:srgbClr val="00897B"/>
            </a:solidFill>
            <a:prstDash val="solid"/>
          </a:ln>
        </p:spPr>
        <p:txBody>
          <a:bodyPr/>
          <a:lstStyle/>
          <a:p>
            <a:endParaRPr lang="en-KE"/>
          </a:p>
        </p:txBody>
      </p:sp>
      <p:sp>
        <p:nvSpPr>
          <p:cNvPr id="14" name="Text 12"/>
          <p:cNvSpPr/>
          <p:nvPr/>
        </p:nvSpPr>
        <p:spPr>
          <a:xfrm>
            <a:off x="6537960" y="777240"/>
            <a:ext cx="1005840" cy="274320"/>
          </a:xfrm>
          <a:prstGeom prst="rect">
            <a:avLst/>
          </a:prstGeom>
          <a:noFill/>
          <a:ln/>
        </p:spPr>
        <p:txBody>
          <a:bodyPr wrap="square" lIns="0" tIns="0" rIns="0" bIns="0" rtlCol="0" anchor="ctr"/>
          <a:lstStyle/>
          <a:p>
            <a:pPr marL="0" indent="0">
              <a:buNone/>
            </a:pPr>
            <a:r>
              <a:rPr lang="en-US" sz="900" b="1" kern="0" spc="200" dirty="0">
                <a:solidFill>
                  <a:srgbClr val="00897B"/>
                </a:solidFill>
                <a:latin typeface="Calibri" pitchFamily="34" charset="0"/>
                <a:ea typeface="Calibri" pitchFamily="34" charset="-122"/>
                <a:cs typeface="Calibri" pitchFamily="34" charset="-120"/>
              </a:rPr>
              <a:t>WEEK 1</a:t>
            </a:r>
            <a:endParaRPr lang="en-US" sz="900" dirty="0"/>
          </a:p>
        </p:txBody>
      </p:sp>
      <p:sp>
        <p:nvSpPr>
          <p:cNvPr id="15" name="Text 13"/>
          <p:cNvSpPr/>
          <p:nvPr/>
        </p:nvSpPr>
        <p:spPr>
          <a:xfrm>
            <a:off x="6537960" y="1033272"/>
            <a:ext cx="5212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Cleaning &amp; Feature Engineering</a:t>
            </a:r>
            <a:endParaRPr lang="en-US" sz="1300" dirty="0"/>
          </a:p>
        </p:txBody>
      </p:sp>
      <p:sp>
        <p:nvSpPr>
          <p:cNvPr id="16" name="Text 14"/>
          <p:cNvSpPr/>
          <p:nvPr/>
        </p:nvSpPr>
        <p:spPr>
          <a:xfrm>
            <a:off x="6537960" y="1435608"/>
            <a:ext cx="5212080" cy="384048"/>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8,558 records cleaned → 35 columns built</a:t>
            </a:r>
            <a:endParaRPr lang="en-US" sz="1050" dirty="0"/>
          </a:p>
        </p:txBody>
      </p:sp>
      <p:sp>
        <p:nvSpPr>
          <p:cNvPr id="17" name="Shape 15"/>
          <p:cNvSpPr/>
          <p:nvPr/>
        </p:nvSpPr>
        <p:spPr>
          <a:xfrm>
            <a:off x="6355080" y="2130552"/>
            <a:ext cx="5577840" cy="1261872"/>
          </a:xfrm>
          <a:prstGeom prst="rect">
            <a:avLst/>
          </a:prstGeom>
          <a:solidFill>
            <a:srgbClr val="0F2D4A"/>
          </a:solidFill>
          <a:ln w="12700">
            <a:solidFill>
              <a:srgbClr val="1E3A5F"/>
            </a:solidFill>
            <a:prstDash val="solid"/>
          </a:ln>
          <a:effectLst>
            <a:outerShdw blurRad="76200" dist="38100" dir="8100000" algn="bl" rotWithShape="0">
              <a:srgbClr val="000000">
                <a:alpha val="10000"/>
              </a:srgbClr>
            </a:outerShdw>
          </a:effectLst>
        </p:spPr>
        <p:txBody>
          <a:bodyPr/>
          <a:lstStyle/>
          <a:p>
            <a:endParaRPr lang="en-KE"/>
          </a:p>
        </p:txBody>
      </p:sp>
      <p:sp>
        <p:nvSpPr>
          <p:cNvPr id="18" name="Shape 16"/>
          <p:cNvSpPr/>
          <p:nvPr/>
        </p:nvSpPr>
        <p:spPr>
          <a:xfrm>
            <a:off x="6355080" y="2130552"/>
            <a:ext cx="73152" cy="1261872"/>
          </a:xfrm>
          <a:prstGeom prst="rect">
            <a:avLst/>
          </a:prstGeom>
          <a:solidFill>
            <a:srgbClr val="1565C0"/>
          </a:solidFill>
          <a:ln w="12700">
            <a:solidFill>
              <a:srgbClr val="1565C0"/>
            </a:solidFill>
            <a:prstDash val="solid"/>
          </a:ln>
        </p:spPr>
        <p:txBody>
          <a:bodyPr/>
          <a:lstStyle/>
          <a:p>
            <a:endParaRPr lang="en-KE"/>
          </a:p>
        </p:txBody>
      </p:sp>
      <p:sp>
        <p:nvSpPr>
          <p:cNvPr id="19" name="Text 17"/>
          <p:cNvSpPr/>
          <p:nvPr/>
        </p:nvSpPr>
        <p:spPr>
          <a:xfrm>
            <a:off x="6537960" y="2221992"/>
            <a:ext cx="1005840" cy="274320"/>
          </a:xfrm>
          <a:prstGeom prst="rect">
            <a:avLst/>
          </a:prstGeom>
          <a:noFill/>
          <a:ln/>
        </p:spPr>
        <p:txBody>
          <a:bodyPr wrap="square" lIns="0" tIns="0" rIns="0" bIns="0" rtlCol="0" anchor="ctr"/>
          <a:lstStyle/>
          <a:p>
            <a:pPr marL="0" indent="0">
              <a:buNone/>
            </a:pPr>
            <a:r>
              <a:rPr lang="en-US" sz="900" b="1" kern="0" spc="200" dirty="0">
                <a:solidFill>
                  <a:srgbClr val="1565C0"/>
                </a:solidFill>
                <a:latin typeface="Calibri" pitchFamily="34" charset="0"/>
                <a:ea typeface="Calibri" pitchFamily="34" charset="-122"/>
                <a:cs typeface="Calibri" pitchFamily="34" charset="-120"/>
              </a:rPr>
              <a:t>WEEK 2</a:t>
            </a:r>
            <a:endParaRPr lang="en-US" sz="900" dirty="0"/>
          </a:p>
        </p:txBody>
      </p:sp>
      <p:sp>
        <p:nvSpPr>
          <p:cNvPr id="20" name="Text 18"/>
          <p:cNvSpPr/>
          <p:nvPr/>
        </p:nvSpPr>
        <p:spPr>
          <a:xfrm>
            <a:off x="6537960" y="2478024"/>
            <a:ext cx="5212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Exploratory Data Analysis</a:t>
            </a:r>
            <a:endParaRPr lang="en-US" sz="1300" dirty="0"/>
          </a:p>
        </p:txBody>
      </p:sp>
      <p:sp>
        <p:nvSpPr>
          <p:cNvPr id="21" name="Text 19"/>
          <p:cNvSpPr/>
          <p:nvPr/>
        </p:nvSpPr>
        <p:spPr>
          <a:xfrm>
            <a:off x="6537960" y="2880360"/>
            <a:ext cx="5212080" cy="384048"/>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Key trends, seasonality &amp; anomalies identified</a:t>
            </a:r>
            <a:endParaRPr lang="en-US" sz="1050" dirty="0"/>
          </a:p>
        </p:txBody>
      </p:sp>
      <p:sp>
        <p:nvSpPr>
          <p:cNvPr id="22" name="Shape 20"/>
          <p:cNvSpPr/>
          <p:nvPr/>
        </p:nvSpPr>
        <p:spPr>
          <a:xfrm>
            <a:off x="6355080" y="3575304"/>
            <a:ext cx="5577840" cy="1261872"/>
          </a:xfrm>
          <a:prstGeom prst="rect">
            <a:avLst/>
          </a:prstGeom>
          <a:solidFill>
            <a:srgbClr val="0F2D4A"/>
          </a:solidFill>
          <a:ln w="12700">
            <a:solidFill>
              <a:srgbClr val="1E3A5F"/>
            </a:solidFill>
            <a:prstDash val="solid"/>
          </a:ln>
          <a:effectLst>
            <a:outerShdw blurRad="76200" dist="38100" dir="8100000" algn="bl" rotWithShape="0">
              <a:srgbClr val="000000">
                <a:alpha val="10000"/>
              </a:srgbClr>
            </a:outerShdw>
          </a:effectLst>
        </p:spPr>
        <p:txBody>
          <a:bodyPr/>
          <a:lstStyle/>
          <a:p>
            <a:endParaRPr lang="en-KE"/>
          </a:p>
        </p:txBody>
      </p:sp>
      <p:sp>
        <p:nvSpPr>
          <p:cNvPr id="23" name="Shape 21"/>
          <p:cNvSpPr/>
          <p:nvPr/>
        </p:nvSpPr>
        <p:spPr>
          <a:xfrm>
            <a:off x="6355080" y="3575304"/>
            <a:ext cx="73152" cy="1261872"/>
          </a:xfrm>
          <a:prstGeom prst="rect">
            <a:avLst/>
          </a:prstGeom>
          <a:solidFill>
            <a:srgbClr val="E65100"/>
          </a:solidFill>
          <a:ln w="12700">
            <a:solidFill>
              <a:srgbClr val="E65100"/>
            </a:solidFill>
            <a:prstDash val="solid"/>
          </a:ln>
        </p:spPr>
        <p:txBody>
          <a:bodyPr/>
          <a:lstStyle/>
          <a:p>
            <a:endParaRPr lang="en-KE"/>
          </a:p>
        </p:txBody>
      </p:sp>
      <p:sp>
        <p:nvSpPr>
          <p:cNvPr id="24" name="Text 22"/>
          <p:cNvSpPr/>
          <p:nvPr/>
        </p:nvSpPr>
        <p:spPr>
          <a:xfrm>
            <a:off x="6537960" y="3666744"/>
            <a:ext cx="1005840" cy="274320"/>
          </a:xfrm>
          <a:prstGeom prst="rect">
            <a:avLst/>
          </a:prstGeom>
          <a:noFill/>
          <a:ln/>
        </p:spPr>
        <p:txBody>
          <a:bodyPr wrap="square" lIns="0" tIns="0" rIns="0" bIns="0" rtlCol="0" anchor="ctr"/>
          <a:lstStyle/>
          <a:p>
            <a:pPr marL="0" indent="0">
              <a:buNone/>
            </a:pPr>
            <a:r>
              <a:rPr lang="en-US" sz="900" b="1" kern="0" spc="200" dirty="0">
                <a:solidFill>
                  <a:srgbClr val="E65100"/>
                </a:solidFill>
                <a:latin typeface="Calibri" pitchFamily="34" charset="0"/>
                <a:ea typeface="Calibri" pitchFamily="34" charset="-122"/>
                <a:cs typeface="Calibri" pitchFamily="34" charset="-120"/>
              </a:rPr>
              <a:t>WEEK 3</a:t>
            </a:r>
            <a:endParaRPr lang="en-US" sz="900" dirty="0"/>
          </a:p>
        </p:txBody>
      </p:sp>
      <p:sp>
        <p:nvSpPr>
          <p:cNvPr id="25" name="Text 23"/>
          <p:cNvSpPr/>
          <p:nvPr/>
        </p:nvSpPr>
        <p:spPr>
          <a:xfrm>
            <a:off x="6537960" y="3922776"/>
            <a:ext cx="5212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Forecasting &amp; Churn Modelling</a:t>
            </a:r>
            <a:endParaRPr lang="en-US" sz="1300" dirty="0"/>
          </a:p>
        </p:txBody>
      </p:sp>
      <p:sp>
        <p:nvSpPr>
          <p:cNvPr id="26" name="Text 24"/>
          <p:cNvSpPr/>
          <p:nvPr/>
        </p:nvSpPr>
        <p:spPr>
          <a:xfrm>
            <a:off x="6537960" y="4325112"/>
            <a:ext cx="5212080" cy="384048"/>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3 models compared · Best: Random Forest</a:t>
            </a:r>
            <a:endParaRPr lang="en-US" sz="1050" dirty="0"/>
          </a:p>
        </p:txBody>
      </p:sp>
      <p:sp>
        <p:nvSpPr>
          <p:cNvPr id="27" name="Shape 25"/>
          <p:cNvSpPr/>
          <p:nvPr/>
        </p:nvSpPr>
        <p:spPr>
          <a:xfrm>
            <a:off x="6355080" y="5020056"/>
            <a:ext cx="5577840" cy="1261872"/>
          </a:xfrm>
          <a:prstGeom prst="rect">
            <a:avLst/>
          </a:prstGeom>
          <a:solidFill>
            <a:srgbClr val="0F2D4A"/>
          </a:solidFill>
          <a:ln w="12700">
            <a:solidFill>
              <a:srgbClr val="1E3A5F"/>
            </a:solidFill>
            <a:prstDash val="solid"/>
          </a:ln>
          <a:effectLst>
            <a:outerShdw blurRad="76200" dist="38100" dir="8100000" algn="bl" rotWithShape="0">
              <a:srgbClr val="000000">
                <a:alpha val="10000"/>
              </a:srgbClr>
            </a:outerShdw>
          </a:effectLst>
        </p:spPr>
        <p:txBody>
          <a:bodyPr/>
          <a:lstStyle/>
          <a:p>
            <a:endParaRPr lang="en-KE"/>
          </a:p>
        </p:txBody>
      </p:sp>
      <p:sp>
        <p:nvSpPr>
          <p:cNvPr id="28" name="Shape 26"/>
          <p:cNvSpPr/>
          <p:nvPr/>
        </p:nvSpPr>
        <p:spPr>
          <a:xfrm>
            <a:off x="6355080" y="5020056"/>
            <a:ext cx="73152" cy="1261872"/>
          </a:xfrm>
          <a:prstGeom prst="rect">
            <a:avLst/>
          </a:prstGeom>
          <a:solidFill>
            <a:srgbClr val="2E7D32"/>
          </a:solidFill>
          <a:ln w="12700">
            <a:solidFill>
              <a:srgbClr val="2E7D32"/>
            </a:solidFill>
            <a:prstDash val="solid"/>
          </a:ln>
        </p:spPr>
        <p:txBody>
          <a:bodyPr/>
          <a:lstStyle/>
          <a:p>
            <a:endParaRPr lang="en-KE"/>
          </a:p>
        </p:txBody>
      </p:sp>
      <p:sp>
        <p:nvSpPr>
          <p:cNvPr id="29" name="Text 27"/>
          <p:cNvSpPr/>
          <p:nvPr/>
        </p:nvSpPr>
        <p:spPr>
          <a:xfrm>
            <a:off x="6537960" y="5111496"/>
            <a:ext cx="1005840" cy="274320"/>
          </a:xfrm>
          <a:prstGeom prst="rect">
            <a:avLst/>
          </a:prstGeom>
          <a:noFill/>
          <a:ln/>
        </p:spPr>
        <p:txBody>
          <a:bodyPr wrap="square" lIns="0" tIns="0" rIns="0" bIns="0" rtlCol="0" anchor="ctr"/>
          <a:lstStyle/>
          <a:p>
            <a:pPr marL="0" indent="0">
              <a:buNone/>
            </a:pPr>
            <a:r>
              <a:rPr lang="en-US" sz="900" b="1" kern="0" spc="200" dirty="0">
                <a:solidFill>
                  <a:srgbClr val="2E7D32"/>
                </a:solidFill>
                <a:latin typeface="Calibri" pitchFamily="34" charset="0"/>
                <a:ea typeface="Calibri" pitchFamily="34" charset="-122"/>
                <a:cs typeface="Calibri" pitchFamily="34" charset="-120"/>
              </a:rPr>
              <a:t>WEEK 4</a:t>
            </a:r>
            <a:endParaRPr lang="en-US" sz="900" dirty="0"/>
          </a:p>
        </p:txBody>
      </p:sp>
      <p:sp>
        <p:nvSpPr>
          <p:cNvPr id="30" name="Text 28"/>
          <p:cNvSpPr/>
          <p:nvPr/>
        </p:nvSpPr>
        <p:spPr>
          <a:xfrm>
            <a:off x="6537960" y="5367528"/>
            <a:ext cx="5212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Insights &amp; Recommendations</a:t>
            </a:r>
            <a:endParaRPr lang="en-US" sz="1300" dirty="0"/>
          </a:p>
        </p:txBody>
      </p:sp>
      <p:sp>
        <p:nvSpPr>
          <p:cNvPr id="31" name="Text 29"/>
          <p:cNvSpPr/>
          <p:nvPr/>
        </p:nvSpPr>
        <p:spPr>
          <a:xfrm>
            <a:off x="6537960" y="5769864"/>
            <a:ext cx="5212080" cy="384048"/>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Churn decoded · Retention strategy defined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600" y="73152"/>
            <a:ext cx="4910328" cy="338328"/>
          </a:xfrm>
          <a:prstGeom prst="rect">
            <a:avLst/>
          </a:prstGeom>
          <a:noFill/>
          <a:ln/>
        </p:spPr>
        <p:txBody>
          <a:bodyPr wrap="square" lIns="0" tIns="0" rIns="0" bIns="0" rtlCol="0" anchor="ctr"/>
          <a:lstStyle/>
          <a:p>
            <a:pPr marL="0" indent="0">
              <a:buNone/>
            </a:pPr>
            <a:r>
              <a:rPr lang="en-US" sz="1000" b="1" kern="0" spc="400" dirty="0">
                <a:solidFill>
                  <a:srgbClr val="4DB6AC"/>
                </a:solidFill>
                <a:latin typeface="Calibri" pitchFamily="34" charset="0"/>
                <a:ea typeface="Calibri" pitchFamily="34" charset="-122"/>
                <a:cs typeface="Calibri" pitchFamily="34" charset="-120"/>
              </a:rPr>
              <a:t>WEEK 1  ·  DATA FOUNDATION</a:t>
            </a:r>
            <a:endParaRPr lang="en-US" sz="10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About the Dataset</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SLU Opportunity-Wise Application Data · Feb 2022 – Dec 2024</a:t>
            </a:r>
            <a:endParaRPr lang="en-US" sz="1100" dirty="0"/>
          </a:p>
        </p:txBody>
      </p:sp>
      <p:sp>
        <p:nvSpPr>
          <p:cNvPr id="7" name="Shape 5"/>
          <p:cNvSpPr/>
          <p:nvPr/>
        </p:nvSpPr>
        <p:spPr>
          <a:xfrm>
            <a:off x="228600" y="1234440"/>
            <a:ext cx="2240280" cy="141732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8" name="Shape 6"/>
          <p:cNvSpPr/>
          <p:nvPr/>
        </p:nvSpPr>
        <p:spPr>
          <a:xfrm>
            <a:off x="228600" y="1234440"/>
            <a:ext cx="2240280" cy="64008"/>
          </a:xfrm>
          <a:prstGeom prst="rect">
            <a:avLst/>
          </a:prstGeom>
          <a:solidFill>
            <a:srgbClr val="0B2545"/>
          </a:solidFill>
          <a:ln w="12700">
            <a:solidFill>
              <a:srgbClr val="0B2545"/>
            </a:solidFill>
            <a:prstDash val="solid"/>
          </a:ln>
        </p:spPr>
        <p:txBody>
          <a:bodyPr/>
          <a:lstStyle/>
          <a:p>
            <a:endParaRPr lang="en-KE"/>
          </a:p>
        </p:txBody>
      </p:sp>
      <p:sp>
        <p:nvSpPr>
          <p:cNvPr id="9" name="Text 7"/>
          <p:cNvSpPr/>
          <p:nvPr/>
        </p:nvSpPr>
        <p:spPr>
          <a:xfrm>
            <a:off x="320040" y="1399032"/>
            <a:ext cx="2057400" cy="640080"/>
          </a:xfrm>
          <a:prstGeom prst="rect">
            <a:avLst/>
          </a:prstGeom>
          <a:noFill/>
          <a:ln/>
        </p:spPr>
        <p:txBody>
          <a:bodyPr wrap="square" lIns="0" tIns="0" rIns="0" bIns="0" rtlCol="0" anchor="ctr"/>
          <a:lstStyle/>
          <a:p>
            <a:pPr marL="0" indent="0" algn="ctr">
              <a:buNone/>
            </a:pPr>
            <a:r>
              <a:rPr lang="en-US" sz="3200" b="1" dirty="0">
                <a:solidFill>
                  <a:srgbClr val="0B2545"/>
                </a:solidFill>
                <a:latin typeface="Calibri" pitchFamily="34" charset="0"/>
                <a:ea typeface="Calibri" pitchFamily="34" charset="-122"/>
                <a:cs typeface="Calibri" pitchFamily="34" charset="-120"/>
              </a:rPr>
              <a:t>8,499</a:t>
            </a:r>
            <a:endParaRPr lang="en-US" sz="3200" dirty="0"/>
          </a:p>
        </p:txBody>
      </p:sp>
      <p:sp>
        <p:nvSpPr>
          <p:cNvPr id="10" name="Text 8"/>
          <p:cNvSpPr/>
          <p:nvPr/>
        </p:nvSpPr>
        <p:spPr>
          <a:xfrm>
            <a:off x="320040" y="2011680"/>
            <a:ext cx="2057400" cy="320040"/>
          </a:xfrm>
          <a:prstGeom prst="rect">
            <a:avLst/>
          </a:prstGeom>
          <a:noFill/>
          <a:ln/>
        </p:spPr>
        <p:txBody>
          <a:bodyPr wrap="square" lIns="0" tIns="0" rIns="0" bIns="0" rtlCol="0" anchor="ctr"/>
          <a:lstStyle/>
          <a:p>
            <a:pPr marL="0" indent="0" algn="ctr">
              <a:buNone/>
            </a:pPr>
            <a:r>
              <a:rPr lang="en-US" sz="1000" dirty="0">
                <a:solidFill>
                  <a:srgbClr val="5A7A95"/>
                </a:solidFill>
                <a:latin typeface="Calibri" pitchFamily="34" charset="0"/>
                <a:ea typeface="Calibri" pitchFamily="34" charset="-122"/>
                <a:cs typeface="Calibri" pitchFamily="34" charset="-120"/>
              </a:rPr>
              <a:t>Raw Records</a:t>
            </a:r>
            <a:endParaRPr lang="en-US" sz="1000" dirty="0"/>
          </a:p>
        </p:txBody>
      </p:sp>
      <p:sp>
        <p:nvSpPr>
          <p:cNvPr id="11" name="Shape 9"/>
          <p:cNvSpPr/>
          <p:nvPr/>
        </p:nvSpPr>
        <p:spPr>
          <a:xfrm>
            <a:off x="2624328" y="1234440"/>
            <a:ext cx="2240280" cy="141732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12" name="Shape 10"/>
          <p:cNvSpPr/>
          <p:nvPr/>
        </p:nvSpPr>
        <p:spPr>
          <a:xfrm>
            <a:off x="2624328" y="1234440"/>
            <a:ext cx="2240280" cy="64008"/>
          </a:xfrm>
          <a:prstGeom prst="rect">
            <a:avLst/>
          </a:prstGeom>
          <a:solidFill>
            <a:srgbClr val="1565C0"/>
          </a:solidFill>
          <a:ln w="12700">
            <a:solidFill>
              <a:srgbClr val="1565C0"/>
            </a:solidFill>
            <a:prstDash val="solid"/>
          </a:ln>
        </p:spPr>
        <p:txBody>
          <a:bodyPr/>
          <a:lstStyle/>
          <a:p>
            <a:endParaRPr lang="en-KE"/>
          </a:p>
        </p:txBody>
      </p:sp>
      <p:sp>
        <p:nvSpPr>
          <p:cNvPr id="13" name="Text 11"/>
          <p:cNvSpPr/>
          <p:nvPr/>
        </p:nvSpPr>
        <p:spPr>
          <a:xfrm>
            <a:off x="2715768" y="1399032"/>
            <a:ext cx="2057400" cy="640080"/>
          </a:xfrm>
          <a:prstGeom prst="rect">
            <a:avLst/>
          </a:prstGeom>
          <a:noFill/>
          <a:ln/>
        </p:spPr>
        <p:txBody>
          <a:bodyPr wrap="square" lIns="0" tIns="0" rIns="0" bIns="0" rtlCol="0" anchor="ctr"/>
          <a:lstStyle/>
          <a:p>
            <a:pPr marL="0" indent="0" algn="ctr">
              <a:buNone/>
            </a:pPr>
            <a:r>
              <a:rPr lang="en-US" sz="3200" b="1" dirty="0">
                <a:solidFill>
                  <a:srgbClr val="1565C0"/>
                </a:solidFill>
                <a:latin typeface="Calibri" pitchFamily="34" charset="0"/>
                <a:ea typeface="Calibri" pitchFamily="34" charset="-122"/>
                <a:cs typeface="Calibri" pitchFamily="34" charset="-120"/>
              </a:rPr>
              <a:t>22</a:t>
            </a:r>
            <a:endParaRPr lang="en-US" sz="3200" dirty="0"/>
          </a:p>
        </p:txBody>
      </p:sp>
      <p:sp>
        <p:nvSpPr>
          <p:cNvPr id="14" name="Text 12"/>
          <p:cNvSpPr/>
          <p:nvPr/>
        </p:nvSpPr>
        <p:spPr>
          <a:xfrm>
            <a:off x="2715768" y="2011680"/>
            <a:ext cx="2057400" cy="320040"/>
          </a:xfrm>
          <a:prstGeom prst="rect">
            <a:avLst/>
          </a:prstGeom>
          <a:noFill/>
          <a:ln/>
        </p:spPr>
        <p:txBody>
          <a:bodyPr wrap="square" lIns="0" tIns="0" rIns="0" bIns="0" rtlCol="0" anchor="ctr"/>
          <a:lstStyle/>
          <a:p>
            <a:pPr marL="0" indent="0" algn="ctr">
              <a:buNone/>
            </a:pPr>
            <a:r>
              <a:rPr lang="en-US" sz="1000" dirty="0">
                <a:solidFill>
                  <a:srgbClr val="5A7A95"/>
                </a:solidFill>
                <a:latin typeface="Calibri" pitchFamily="34" charset="0"/>
                <a:ea typeface="Calibri" pitchFamily="34" charset="-122"/>
                <a:cs typeface="Calibri" pitchFamily="34" charset="-120"/>
              </a:rPr>
              <a:t>Opportunities</a:t>
            </a:r>
            <a:endParaRPr lang="en-US" sz="1000" dirty="0"/>
          </a:p>
        </p:txBody>
      </p:sp>
      <p:sp>
        <p:nvSpPr>
          <p:cNvPr id="15" name="Shape 13"/>
          <p:cNvSpPr/>
          <p:nvPr/>
        </p:nvSpPr>
        <p:spPr>
          <a:xfrm>
            <a:off x="5020056" y="1234440"/>
            <a:ext cx="2240280" cy="141732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16" name="Shape 14"/>
          <p:cNvSpPr/>
          <p:nvPr/>
        </p:nvSpPr>
        <p:spPr>
          <a:xfrm>
            <a:off x="5020056" y="1234440"/>
            <a:ext cx="2240280" cy="64008"/>
          </a:xfrm>
          <a:prstGeom prst="rect">
            <a:avLst/>
          </a:prstGeom>
          <a:solidFill>
            <a:srgbClr val="00897B"/>
          </a:solidFill>
          <a:ln w="12700">
            <a:solidFill>
              <a:srgbClr val="00897B"/>
            </a:solidFill>
            <a:prstDash val="solid"/>
          </a:ln>
        </p:spPr>
        <p:txBody>
          <a:bodyPr/>
          <a:lstStyle/>
          <a:p>
            <a:endParaRPr lang="en-KE"/>
          </a:p>
        </p:txBody>
      </p:sp>
      <p:sp>
        <p:nvSpPr>
          <p:cNvPr id="17" name="Text 15"/>
          <p:cNvSpPr/>
          <p:nvPr/>
        </p:nvSpPr>
        <p:spPr>
          <a:xfrm>
            <a:off x="5111496" y="1399032"/>
            <a:ext cx="2057400" cy="640080"/>
          </a:xfrm>
          <a:prstGeom prst="rect">
            <a:avLst/>
          </a:prstGeom>
          <a:noFill/>
          <a:ln/>
        </p:spPr>
        <p:txBody>
          <a:bodyPr wrap="square" lIns="0" tIns="0" rIns="0" bIns="0" rtlCol="0" anchor="ctr"/>
          <a:lstStyle/>
          <a:p>
            <a:pPr marL="0" indent="0" algn="ctr">
              <a:buNone/>
            </a:pPr>
            <a:r>
              <a:rPr lang="en-US" sz="3200" b="1" dirty="0">
                <a:solidFill>
                  <a:srgbClr val="00897B"/>
                </a:solidFill>
                <a:latin typeface="Calibri" pitchFamily="34" charset="0"/>
                <a:ea typeface="Calibri" pitchFamily="34" charset="-122"/>
                <a:cs typeface="Calibri" pitchFamily="34" charset="-120"/>
              </a:rPr>
              <a:t>3,871</a:t>
            </a:r>
            <a:endParaRPr lang="en-US" sz="3200" dirty="0"/>
          </a:p>
        </p:txBody>
      </p:sp>
      <p:sp>
        <p:nvSpPr>
          <p:cNvPr id="18" name="Text 16"/>
          <p:cNvSpPr/>
          <p:nvPr/>
        </p:nvSpPr>
        <p:spPr>
          <a:xfrm>
            <a:off x="5111496" y="2011680"/>
            <a:ext cx="2057400" cy="320040"/>
          </a:xfrm>
          <a:prstGeom prst="rect">
            <a:avLst/>
          </a:prstGeom>
          <a:noFill/>
          <a:ln/>
        </p:spPr>
        <p:txBody>
          <a:bodyPr wrap="square" lIns="0" tIns="0" rIns="0" bIns="0" rtlCol="0" anchor="ctr"/>
          <a:lstStyle/>
          <a:p>
            <a:pPr marL="0" indent="0" algn="ctr">
              <a:buNone/>
            </a:pPr>
            <a:r>
              <a:rPr lang="en-US" sz="1000" dirty="0">
                <a:solidFill>
                  <a:srgbClr val="5A7A95"/>
                </a:solidFill>
                <a:latin typeface="Calibri" pitchFamily="34" charset="0"/>
                <a:ea typeface="Calibri" pitchFamily="34" charset="-122"/>
                <a:cs typeface="Calibri" pitchFamily="34" charset="-120"/>
              </a:rPr>
              <a:t>Unique Learners</a:t>
            </a:r>
            <a:endParaRPr lang="en-US" sz="1000" dirty="0"/>
          </a:p>
        </p:txBody>
      </p:sp>
      <p:sp>
        <p:nvSpPr>
          <p:cNvPr id="19" name="Shape 17"/>
          <p:cNvSpPr/>
          <p:nvPr/>
        </p:nvSpPr>
        <p:spPr>
          <a:xfrm>
            <a:off x="7415784" y="1234440"/>
            <a:ext cx="2240280" cy="141732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20" name="Shape 18"/>
          <p:cNvSpPr/>
          <p:nvPr/>
        </p:nvSpPr>
        <p:spPr>
          <a:xfrm>
            <a:off x="7415784" y="1234440"/>
            <a:ext cx="2240280" cy="64008"/>
          </a:xfrm>
          <a:prstGeom prst="rect">
            <a:avLst/>
          </a:prstGeom>
          <a:solidFill>
            <a:srgbClr val="E65100"/>
          </a:solidFill>
          <a:ln w="12700">
            <a:solidFill>
              <a:srgbClr val="E65100"/>
            </a:solidFill>
            <a:prstDash val="solid"/>
          </a:ln>
        </p:spPr>
        <p:txBody>
          <a:bodyPr/>
          <a:lstStyle/>
          <a:p>
            <a:endParaRPr lang="en-KE"/>
          </a:p>
        </p:txBody>
      </p:sp>
      <p:sp>
        <p:nvSpPr>
          <p:cNvPr id="21" name="Text 19"/>
          <p:cNvSpPr/>
          <p:nvPr/>
        </p:nvSpPr>
        <p:spPr>
          <a:xfrm>
            <a:off x="7507224" y="1399032"/>
            <a:ext cx="2057400" cy="640080"/>
          </a:xfrm>
          <a:prstGeom prst="rect">
            <a:avLst/>
          </a:prstGeom>
          <a:noFill/>
          <a:ln/>
        </p:spPr>
        <p:txBody>
          <a:bodyPr wrap="square" lIns="0" tIns="0" rIns="0" bIns="0" rtlCol="0" anchor="ctr"/>
          <a:lstStyle/>
          <a:p>
            <a:pPr marL="0" indent="0" algn="ctr">
              <a:buNone/>
            </a:pPr>
            <a:r>
              <a:rPr lang="en-US" sz="3200" b="1" dirty="0">
                <a:solidFill>
                  <a:srgbClr val="E65100"/>
                </a:solidFill>
                <a:latin typeface="Calibri" pitchFamily="34" charset="0"/>
                <a:ea typeface="Calibri" pitchFamily="34" charset="-122"/>
                <a:cs typeface="Calibri" pitchFamily="34" charset="-120"/>
              </a:rPr>
              <a:t>71</a:t>
            </a:r>
            <a:endParaRPr lang="en-US" sz="3200" dirty="0"/>
          </a:p>
        </p:txBody>
      </p:sp>
      <p:sp>
        <p:nvSpPr>
          <p:cNvPr id="22" name="Text 20"/>
          <p:cNvSpPr/>
          <p:nvPr/>
        </p:nvSpPr>
        <p:spPr>
          <a:xfrm>
            <a:off x="7507224" y="2011680"/>
            <a:ext cx="2057400" cy="320040"/>
          </a:xfrm>
          <a:prstGeom prst="rect">
            <a:avLst/>
          </a:prstGeom>
          <a:noFill/>
          <a:ln/>
        </p:spPr>
        <p:txBody>
          <a:bodyPr wrap="square" lIns="0" tIns="0" rIns="0" bIns="0" rtlCol="0" anchor="ctr"/>
          <a:lstStyle/>
          <a:p>
            <a:pPr marL="0" indent="0" algn="ctr">
              <a:buNone/>
            </a:pPr>
            <a:r>
              <a:rPr lang="en-US" sz="1000" dirty="0">
                <a:solidFill>
                  <a:srgbClr val="5A7A95"/>
                </a:solidFill>
                <a:latin typeface="Calibri" pitchFamily="34" charset="0"/>
                <a:ea typeface="Calibri" pitchFamily="34" charset="-122"/>
                <a:cs typeface="Calibri" pitchFamily="34" charset="-120"/>
              </a:rPr>
              <a:t>Countries</a:t>
            </a:r>
            <a:endParaRPr lang="en-US" sz="1000" dirty="0"/>
          </a:p>
        </p:txBody>
      </p:sp>
      <p:sp>
        <p:nvSpPr>
          <p:cNvPr id="23" name="Shape 21"/>
          <p:cNvSpPr/>
          <p:nvPr/>
        </p:nvSpPr>
        <p:spPr>
          <a:xfrm>
            <a:off x="9811512" y="1234440"/>
            <a:ext cx="2240280" cy="141732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24" name="Shape 22"/>
          <p:cNvSpPr/>
          <p:nvPr/>
        </p:nvSpPr>
        <p:spPr>
          <a:xfrm>
            <a:off x="9811512" y="1234440"/>
            <a:ext cx="2240280" cy="64008"/>
          </a:xfrm>
          <a:prstGeom prst="rect">
            <a:avLst/>
          </a:prstGeom>
          <a:solidFill>
            <a:srgbClr val="2E7D32"/>
          </a:solidFill>
          <a:ln w="12700">
            <a:solidFill>
              <a:srgbClr val="2E7D32"/>
            </a:solidFill>
            <a:prstDash val="solid"/>
          </a:ln>
        </p:spPr>
        <p:txBody>
          <a:bodyPr/>
          <a:lstStyle/>
          <a:p>
            <a:endParaRPr lang="en-KE"/>
          </a:p>
        </p:txBody>
      </p:sp>
      <p:sp>
        <p:nvSpPr>
          <p:cNvPr id="25" name="Text 23"/>
          <p:cNvSpPr/>
          <p:nvPr/>
        </p:nvSpPr>
        <p:spPr>
          <a:xfrm>
            <a:off x="9902952" y="1399032"/>
            <a:ext cx="2057400" cy="640080"/>
          </a:xfrm>
          <a:prstGeom prst="rect">
            <a:avLst/>
          </a:prstGeom>
          <a:noFill/>
          <a:ln/>
        </p:spPr>
        <p:txBody>
          <a:bodyPr wrap="square" lIns="0" tIns="0" rIns="0" bIns="0" rtlCol="0" anchor="ctr"/>
          <a:lstStyle/>
          <a:p>
            <a:pPr marL="0" indent="0" algn="ctr">
              <a:buNone/>
            </a:pPr>
            <a:r>
              <a:rPr lang="en-US" sz="3200" b="1" dirty="0">
                <a:solidFill>
                  <a:srgbClr val="2E7D32"/>
                </a:solidFill>
                <a:latin typeface="Calibri" pitchFamily="34" charset="0"/>
                <a:ea typeface="Calibri" pitchFamily="34" charset="-122"/>
                <a:cs typeface="Calibri" pitchFamily="34" charset="-120"/>
              </a:rPr>
              <a:t>16→34</a:t>
            </a:r>
            <a:endParaRPr lang="en-US" sz="3200" dirty="0"/>
          </a:p>
        </p:txBody>
      </p:sp>
      <p:sp>
        <p:nvSpPr>
          <p:cNvPr id="26" name="Text 24"/>
          <p:cNvSpPr/>
          <p:nvPr/>
        </p:nvSpPr>
        <p:spPr>
          <a:xfrm>
            <a:off x="9902952" y="2011680"/>
            <a:ext cx="2057400" cy="320040"/>
          </a:xfrm>
          <a:prstGeom prst="rect">
            <a:avLst/>
          </a:prstGeom>
          <a:noFill/>
          <a:ln/>
        </p:spPr>
        <p:txBody>
          <a:bodyPr wrap="square" lIns="0" tIns="0" rIns="0" bIns="0" rtlCol="0" anchor="ctr"/>
          <a:lstStyle/>
          <a:p>
            <a:pPr marL="0" indent="0" algn="ctr">
              <a:buNone/>
            </a:pPr>
            <a:r>
              <a:rPr lang="en-US" sz="1000" dirty="0">
                <a:solidFill>
                  <a:srgbClr val="5A7A95"/>
                </a:solidFill>
                <a:latin typeface="Calibri" pitchFamily="34" charset="0"/>
                <a:ea typeface="Calibri" pitchFamily="34" charset="-122"/>
                <a:cs typeface="Calibri" pitchFamily="34" charset="-120"/>
              </a:rPr>
              <a:t>Columns Built</a:t>
            </a:r>
            <a:endParaRPr lang="en-US" sz="1000" dirty="0"/>
          </a:p>
        </p:txBody>
      </p:sp>
      <p:sp>
        <p:nvSpPr>
          <p:cNvPr id="27" name="Shape 25"/>
          <p:cNvSpPr/>
          <p:nvPr/>
        </p:nvSpPr>
        <p:spPr>
          <a:xfrm>
            <a:off x="228600" y="2834640"/>
            <a:ext cx="5303520" cy="361188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dirty="0"/>
          </a:p>
        </p:txBody>
      </p:sp>
      <p:sp>
        <p:nvSpPr>
          <p:cNvPr id="28" name="Shape 26"/>
          <p:cNvSpPr/>
          <p:nvPr/>
        </p:nvSpPr>
        <p:spPr>
          <a:xfrm>
            <a:off x="228600" y="2834640"/>
            <a:ext cx="64008" cy="3611880"/>
          </a:xfrm>
          <a:prstGeom prst="rect">
            <a:avLst/>
          </a:prstGeom>
          <a:solidFill>
            <a:srgbClr val="0B2545"/>
          </a:solidFill>
          <a:ln w="12700">
            <a:solidFill>
              <a:srgbClr val="0B2545"/>
            </a:solidFill>
            <a:prstDash val="solid"/>
          </a:ln>
        </p:spPr>
        <p:txBody>
          <a:bodyPr/>
          <a:lstStyle/>
          <a:p>
            <a:endParaRPr lang="en-KE"/>
          </a:p>
        </p:txBody>
      </p:sp>
      <p:sp>
        <p:nvSpPr>
          <p:cNvPr id="29" name="Text 27"/>
          <p:cNvSpPr/>
          <p:nvPr/>
        </p:nvSpPr>
        <p:spPr>
          <a:xfrm>
            <a:off x="438912" y="2944368"/>
            <a:ext cx="484632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Applications by Category</a:t>
            </a:r>
            <a:endParaRPr lang="en-US" sz="1300" dirty="0"/>
          </a:p>
        </p:txBody>
      </p:sp>
      <p:sp>
        <p:nvSpPr>
          <p:cNvPr id="30" name="Text 28"/>
          <p:cNvSpPr/>
          <p:nvPr/>
        </p:nvSpPr>
        <p:spPr>
          <a:xfrm>
            <a:off x="411480" y="3401568"/>
            <a:ext cx="137160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Internship</a:t>
            </a:r>
            <a:endParaRPr lang="en-US" sz="1050" dirty="0"/>
          </a:p>
        </p:txBody>
      </p:sp>
      <p:sp>
        <p:nvSpPr>
          <p:cNvPr id="31" name="Shape 29"/>
          <p:cNvSpPr/>
          <p:nvPr/>
        </p:nvSpPr>
        <p:spPr>
          <a:xfrm>
            <a:off x="1874520" y="3447288"/>
            <a:ext cx="2926080" cy="228600"/>
          </a:xfrm>
          <a:prstGeom prst="rect">
            <a:avLst/>
          </a:prstGeom>
          <a:solidFill>
            <a:srgbClr val="F0F4F8"/>
          </a:solidFill>
          <a:ln w="12700">
            <a:solidFill>
              <a:srgbClr val="CBD5E0"/>
            </a:solidFill>
            <a:prstDash val="solid"/>
          </a:ln>
        </p:spPr>
        <p:txBody>
          <a:bodyPr/>
          <a:lstStyle/>
          <a:p>
            <a:endParaRPr lang="en-KE"/>
          </a:p>
        </p:txBody>
      </p:sp>
      <p:sp>
        <p:nvSpPr>
          <p:cNvPr id="32" name="Shape 30"/>
          <p:cNvSpPr/>
          <p:nvPr/>
        </p:nvSpPr>
        <p:spPr>
          <a:xfrm>
            <a:off x="1874520" y="3447288"/>
            <a:ext cx="1855135" cy="228600"/>
          </a:xfrm>
          <a:prstGeom prst="rect">
            <a:avLst/>
          </a:prstGeom>
          <a:solidFill>
            <a:srgbClr val="0B2545"/>
          </a:solidFill>
          <a:ln w="12700">
            <a:solidFill>
              <a:srgbClr val="0B2545"/>
            </a:solidFill>
            <a:prstDash val="solid"/>
          </a:ln>
        </p:spPr>
        <p:txBody>
          <a:bodyPr/>
          <a:lstStyle/>
          <a:p>
            <a:endParaRPr lang="en-KE"/>
          </a:p>
        </p:txBody>
      </p:sp>
      <p:sp>
        <p:nvSpPr>
          <p:cNvPr id="33" name="Text 31"/>
          <p:cNvSpPr/>
          <p:nvPr/>
        </p:nvSpPr>
        <p:spPr>
          <a:xfrm>
            <a:off x="3316288" y="3429000"/>
            <a:ext cx="595820" cy="256032"/>
          </a:xfrm>
          <a:prstGeom prst="rect">
            <a:avLst/>
          </a:prstGeom>
          <a:noFill/>
          <a:ln/>
        </p:spPr>
        <p:txBody>
          <a:bodyPr wrap="square" lIns="0" tIns="0" rIns="0" bIns="0" rtlCol="0" anchor="ctr"/>
          <a:lstStyle/>
          <a:p>
            <a:pPr marL="0" indent="0">
              <a:buNone/>
            </a:pPr>
            <a:r>
              <a:rPr lang="en-US" sz="1000" b="1" dirty="0">
                <a:solidFill>
                  <a:schemeClr val="bg1"/>
                </a:solidFill>
                <a:latin typeface="Calibri" pitchFamily="34" charset="0"/>
                <a:ea typeface="Calibri" pitchFamily="34" charset="-122"/>
                <a:cs typeface="Calibri" pitchFamily="34" charset="-120"/>
              </a:rPr>
              <a:t>63.78%</a:t>
            </a:r>
            <a:endParaRPr lang="en-US" sz="1000" dirty="0">
              <a:solidFill>
                <a:schemeClr val="bg1"/>
              </a:solidFill>
            </a:endParaRPr>
          </a:p>
        </p:txBody>
      </p:sp>
      <p:sp>
        <p:nvSpPr>
          <p:cNvPr id="34" name="Text 32"/>
          <p:cNvSpPr/>
          <p:nvPr/>
        </p:nvSpPr>
        <p:spPr>
          <a:xfrm>
            <a:off x="4114800" y="3429000"/>
            <a:ext cx="1234440" cy="256032"/>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5,421 (63.4%)</a:t>
            </a:r>
            <a:endParaRPr lang="en-US" sz="1000" dirty="0"/>
          </a:p>
        </p:txBody>
      </p:sp>
      <p:sp>
        <p:nvSpPr>
          <p:cNvPr id="35" name="Text 33"/>
          <p:cNvSpPr/>
          <p:nvPr/>
        </p:nvSpPr>
        <p:spPr>
          <a:xfrm>
            <a:off x="411480" y="3922776"/>
            <a:ext cx="137160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Course</a:t>
            </a:r>
            <a:endParaRPr lang="en-US" sz="1050" dirty="0"/>
          </a:p>
        </p:txBody>
      </p:sp>
      <p:sp>
        <p:nvSpPr>
          <p:cNvPr id="36" name="Shape 34"/>
          <p:cNvSpPr/>
          <p:nvPr/>
        </p:nvSpPr>
        <p:spPr>
          <a:xfrm>
            <a:off x="1874520" y="3968496"/>
            <a:ext cx="2926080" cy="228600"/>
          </a:xfrm>
          <a:prstGeom prst="rect">
            <a:avLst/>
          </a:prstGeom>
          <a:solidFill>
            <a:srgbClr val="F0F4F8"/>
          </a:solidFill>
          <a:ln w="12700">
            <a:solidFill>
              <a:srgbClr val="CBD5E0"/>
            </a:solidFill>
            <a:prstDash val="solid"/>
          </a:ln>
        </p:spPr>
        <p:txBody>
          <a:bodyPr/>
          <a:lstStyle/>
          <a:p>
            <a:endParaRPr lang="en-KE"/>
          </a:p>
        </p:txBody>
      </p:sp>
      <p:sp>
        <p:nvSpPr>
          <p:cNvPr id="37" name="Shape 35"/>
          <p:cNvSpPr/>
          <p:nvPr/>
        </p:nvSpPr>
        <p:spPr>
          <a:xfrm>
            <a:off x="1874520" y="3968496"/>
            <a:ext cx="696407" cy="228600"/>
          </a:xfrm>
          <a:prstGeom prst="rect">
            <a:avLst/>
          </a:prstGeom>
          <a:solidFill>
            <a:srgbClr val="1565C0"/>
          </a:solidFill>
          <a:ln w="12700">
            <a:solidFill>
              <a:srgbClr val="1565C0"/>
            </a:solidFill>
            <a:prstDash val="solid"/>
          </a:ln>
        </p:spPr>
        <p:txBody>
          <a:bodyPr/>
          <a:lstStyle/>
          <a:p>
            <a:endParaRPr lang="en-KE"/>
          </a:p>
        </p:txBody>
      </p:sp>
      <p:sp>
        <p:nvSpPr>
          <p:cNvPr id="38" name="Text 36"/>
          <p:cNvSpPr/>
          <p:nvPr/>
        </p:nvSpPr>
        <p:spPr>
          <a:xfrm>
            <a:off x="2625791" y="3959352"/>
            <a:ext cx="548640" cy="256032"/>
          </a:xfrm>
          <a:prstGeom prst="rect">
            <a:avLst/>
          </a:prstGeom>
          <a:noFill/>
          <a:ln/>
        </p:spPr>
        <p:txBody>
          <a:bodyPr wrap="square" lIns="0" tIns="0" rIns="0" bIns="0"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23.97%</a:t>
            </a:r>
            <a:endParaRPr lang="en-US" sz="1000" dirty="0"/>
          </a:p>
        </p:txBody>
      </p:sp>
      <p:sp>
        <p:nvSpPr>
          <p:cNvPr id="39" name="Text 37"/>
          <p:cNvSpPr/>
          <p:nvPr/>
        </p:nvSpPr>
        <p:spPr>
          <a:xfrm>
            <a:off x="4114800" y="3950208"/>
            <a:ext cx="1234440" cy="256032"/>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2,037 (23.8%)</a:t>
            </a:r>
            <a:endParaRPr lang="en-US" sz="1000" dirty="0"/>
          </a:p>
        </p:txBody>
      </p:sp>
      <p:sp>
        <p:nvSpPr>
          <p:cNvPr id="40" name="Text 38"/>
          <p:cNvSpPr/>
          <p:nvPr/>
        </p:nvSpPr>
        <p:spPr>
          <a:xfrm>
            <a:off x="411480" y="4443984"/>
            <a:ext cx="137160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Event</a:t>
            </a:r>
            <a:endParaRPr lang="en-US" sz="1050" dirty="0"/>
          </a:p>
        </p:txBody>
      </p:sp>
      <p:sp>
        <p:nvSpPr>
          <p:cNvPr id="41" name="Shape 39"/>
          <p:cNvSpPr/>
          <p:nvPr/>
        </p:nvSpPr>
        <p:spPr>
          <a:xfrm>
            <a:off x="1874520" y="4489704"/>
            <a:ext cx="2926080" cy="228600"/>
          </a:xfrm>
          <a:prstGeom prst="rect">
            <a:avLst/>
          </a:prstGeom>
          <a:solidFill>
            <a:srgbClr val="F0F4F8"/>
          </a:solidFill>
          <a:ln w="12700">
            <a:solidFill>
              <a:srgbClr val="CBD5E0"/>
            </a:solidFill>
            <a:prstDash val="solid"/>
          </a:ln>
        </p:spPr>
        <p:txBody>
          <a:bodyPr/>
          <a:lstStyle/>
          <a:p>
            <a:endParaRPr lang="en-KE"/>
          </a:p>
        </p:txBody>
      </p:sp>
      <p:sp>
        <p:nvSpPr>
          <p:cNvPr id="42" name="Shape 40"/>
          <p:cNvSpPr/>
          <p:nvPr/>
        </p:nvSpPr>
        <p:spPr>
          <a:xfrm>
            <a:off x="1874520" y="4489704"/>
            <a:ext cx="187269" cy="228600"/>
          </a:xfrm>
          <a:prstGeom prst="rect">
            <a:avLst/>
          </a:prstGeom>
          <a:solidFill>
            <a:srgbClr val="00897B"/>
          </a:solidFill>
          <a:ln w="12700">
            <a:solidFill>
              <a:srgbClr val="00897B"/>
            </a:solidFill>
            <a:prstDash val="solid"/>
          </a:ln>
        </p:spPr>
        <p:txBody>
          <a:bodyPr/>
          <a:lstStyle/>
          <a:p>
            <a:endParaRPr lang="en-KE"/>
          </a:p>
        </p:txBody>
      </p:sp>
      <p:sp>
        <p:nvSpPr>
          <p:cNvPr id="43" name="Text 41"/>
          <p:cNvSpPr/>
          <p:nvPr/>
        </p:nvSpPr>
        <p:spPr>
          <a:xfrm>
            <a:off x="2116653" y="4480560"/>
            <a:ext cx="548640" cy="256032"/>
          </a:xfrm>
          <a:prstGeom prst="rect">
            <a:avLst/>
          </a:prstGeom>
          <a:noFill/>
          <a:ln/>
        </p:spPr>
        <p:txBody>
          <a:bodyPr wrap="square" lIns="0" tIns="0" rIns="0" bIns="0" rtlCol="0" anchor="ctr"/>
          <a:lstStyle/>
          <a:p>
            <a:pPr marL="0" indent="0">
              <a:buNone/>
            </a:pPr>
            <a:r>
              <a:rPr lang="en-US" sz="1000" b="1" dirty="0">
                <a:solidFill>
                  <a:srgbClr val="00897B"/>
                </a:solidFill>
                <a:latin typeface="Calibri" pitchFamily="34" charset="0"/>
                <a:ea typeface="Calibri" pitchFamily="34" charset="-122"/>
                <a:cs typeface="Calibri" pitchFamily="34" charset="-120"/>
              </a:rPr>
              <a:t>6.4%</a:t>
            </a:r>
            <a:endParaRPr lang="en-US" sz="1000" dirty="0"/>
          </a:p>
        </p:txBody>
      </p:sp>
      <p:sp>
        <p:nvSpPr>
          <p:cNvPr id="44" name="Text 42"/>
          <p:cNvSpPr/>
          <p:nvPr/>
        </p:nvSpPr>
        <p:spPr>
          <a:xfrm>
            <a:off x="4114800" y="4471416"/>
            <a:ext cx="1234440" cy="256032"/>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  545 (6.4%)</a:t>
            </a:r>
            <a:endParaRPr lang="en-US" sz="1000" dirty="0"/>
          </a:p>
        </p:txBody>
      </p:sp>
      <p:sp>
        <p:nvSpPr>
          <p:cNvPr id="45" name="Text 43"/>
          <p:cNvSpPr/>
          <p:nvPr/>
        </p:nvSpPr>
        <p:spPr>
          <a:xfrm>
            <a:off x="411480" y="4965192"/>
            <a:ext cx="137160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Competition</a:t>
            </a:r>
            <a:endParaRPr lang="en-US" sz="1050" dirty="0"/>
          </a:p>
        </p:txBody>
      </p:sp>
      <p:sp>
        <p:nvSpPr>
          <p:cNvPr id="46" name="Shape 44"/>
          <p:cNvSpPr/>
          <p:nvPr/>
        </p:nvSpPr>
        <p:spPr>
          <a:xfrm>
            <a:off x="1874520" y="5010912"/>
            <a:ext cx="2926080" cy="228600"/>
          </a:xfrm>
          <a:prstGeom prst="rect">
            <a:avLst/>
          </a:prstGeom>
          <a:solidFill>
            <a:srgbClr val="F0F4F8"/>
          </a:solidFill>
          <a:ln w="12700">
            <a:solidFill>
              <a:srgbClr val="CBD5E0"/>
            </a:solidFill>
            <a:prstDash val="solid"/>
          </a:ln>
        </p:spPr>
        <p:txBody>
          <a:bodyPr/>
          <a:lstStyle/>
          <a:p>
            <a:endParaRPr lang="en-KE"/>
          </a:p>
        </p:txBody>
      </p:sp>
      <p:sp>
        <p:nvSpPr>
          <p:cNvPr id="47" name="Shape 45"/>
          <p:cNvSpPr/>
          <p:nvPr/>
        </p:nvSpPr>
        <p:spPr>
          <a:xfrm>
            <a:off x="1874520" y="5010912"/>
            <a:ext cx="146304" cy="228600"/>
          </a:xfrm>
          <a:prstGeom prst="rect">
            <a:avLst/>
          </a:prstGeom>
          <a:solidFill>
            <a:srgbClr val="E65100"/>
          </a:solidFill>
          <a:ln w="12700">
            <a:solidFill>
              <a:srgbClr val="E65100"/>
            </a:solidFill>
            <a:prstDash val="solid"/>
          </a:ln>
        </p:spPr>
        <p:txBody>
          <a:bodyPr/>
          <a:lstStyle/>
          <a:p>
            <a:endParaRPr lang="en-KE"/>
          </a:p>
        </p:txBody>
      </p:sp>
      <p:sp>
        <p:nvSpPr>
          <p:cNvPr id="48" name="Text 46"/>
          <p:cNvSpPr/>
          <p:nvPr/>
        </p:nvSpPr>
        <p:spPr>
          <a:xfrm>
            <a:off x="2075688" y="5001768"/>
            <a:ext cx="548640" cy="256032"/>
          </a:xfrm>
          <a:prstGeom prst="rect">
            <a:avLst/>
          </a:prstGeom>
          <a:noFill/>
          <a:ln/>
        </p:spPr>
        <p:txBody>
          <a:bodyPr wrap="square" lIns="0" tIns="0" rIns="0" bIns="0" rtlCol="0" anchor="ctr"/>
          <a:lstStyle/>
          <a:p>
            <a:pPr marL="0" indent="0">
              <a:buNone/>
            </a:pPr>
            <a:r>
              <a:rPr lang="en-US" sz="1000" b="1" dirty="0">
                <a:solidFill>
                  <a:srgbClr val="E65100"/>
                </a:solidFill>
                <a:latin typeface="Calibri" pitchFamily="34" charset="0"/>
                <a:ea typeface="Calibri" pitchFamily="34" charset="-122"/>
                <a:cs typeface="Calibri" pitchFamily="34" charset="-120"/>
              </a:rPr>
              <a:t>4.3%</a:t>
            </a:r>
            <a:endParaRPr lang="en-US" sz="1000" dirty="0"/>
          </a:p>
        </p:txBody>
      </p:sp>
      <p:sp>
        <p:nvSpPr>
          <p:cNvPr id="49" name="Text 47"/>
          <p:cNvSpPr/>
          <p:nvPr/>
        </p:nvSpPr>
        <p:spPr>
          <a:xfrm>
            <a:off x="4114800" y="4992624"/>
            <a:ext cx="1234440" cy="256032"/>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  366 (4.3%)</a:t>
            </a:r>
            <a:endParaRPr lang="en-US" sz="1000" dirty="0"/>
          </a:p>
        </p:txBody>
      </p:sp>
      <p:sp>
        <p:nvSpPr>
          <p:cNvPr id="50" name="Text 48"/>
          <p:cNvSpPr/>
          <p:nvPr/>
        </p:nvSpPr>
        <p:spPr>
          <a:xfrm>
            <a:off x="411480" y="5486400"/>
            <a:ext cx="137160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Engagement</a:t>
            </a:r>
            <a:endParaRPr lang="en-US" sz="1050" dirty="0"/>
          </a:p>
        </p:txBody>
      </p:sp>
      <p:sp>
        <p:nvSpPr>
          <p:cNvPr id="51" name="Shape 49"/>
          <p:cNvSpPr/>
          <p:nvPr/>
        </p:nvSpPr>
        <p:spPr>
          <a:xfrm>
            <a:off x="1874520" y="5532120"/>
            <a:ext cx="2926080" cy="228600"/>
          </a:xfrm>
          <a:prstGeom prst="rect">
            <a:avLst/>
          </a:prstGeom>
          <a:solidFill>
            <a:srgbClr val="F0F4F8"/>
          </a:solidFill>
          <a:ln w="12700">
            <a:solidFill>
              <a:srgbClr val="CBD5E0"/>
            </a:solidFill>
            <a:prstDash val="solid"/>
          </a:ln>
        </p:spPr>
        <p:txBody>
          <a:bodyPr/>
          <a:lstStyle/>
          <a:p>
            <a:endParaRPr lang="en-KE"/>
          </a:p>
        </p:txBody>
      </p:sp>
      <p:sp>
        <p:nvSpPr>
          <p:cNvPr id="52" name="Shape 50"/>
          <p:cNvSpPr/>
          <p:nvPr/>
        </p:nvSpPr>
        <p:spPr>
          <a:xfrm>
            <a:off x="1874520" y="5532120"/>
            <a:ext cx="45720" cy="228600"/>
          </a:xfrm>
          <a:prstGeom prst="rect">
            <a:avLst/>
          </a:prstGeom>
          <a:solidFill>
            <a:srgbClr val="2E7D32"/>
          </a:solidFill>
          <a:ln w="12700">
            <a:solidFill>
              <a:srgbClr val="2E7D32"/>
            </a:solidFill>
            <a:prstDash val="solid"/>
          </a:ln>
        </p:spPr>
        <p:txBody>
          <a:bodyPr/>
          <a:lstStyle/>
          <a:p>
            <a:endParaRPr lang="en-KE"/>
          </a:p>
        </p:txBody>
      </p:sp>
      <p:sp>
        <p:nvSpPr>
          <p:cNvPr id="53" name="Text 51"/>
          <p:cNvSpPr/>
          <p:nvPr/>
        </p:nvSpPr>
        <p:spPr>
          <a:xfrm>
            <a:off x="1975104" y="5522976"/>
            <a:ext cx="548640" cy="256032"/>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1.5%</a:t>
            </a:r>
            <a:endParaRPr lang="en-US" sz="1000" dirty="0"/>
          </a:p>
        </p:txBody>
      </p:sp>
      <p:sp>
        <p:nvSpPr>
          <p:cNvPr id="54" name="Text 52"/>
          <p:cNvSpPr/>
          <p:nvPr/>
        </p:nvSpPr>
        <p:spPr>
          <a:xfrm>
            <a:off x="4114800" y="5513832"/>
            <a:ext cx="1234440" cy="256032"/>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  130 (1.5%)</a:t>
            </a:r>
            <a:endParaRPr lang="en-US" sz="1000" dirty="0"/>
          </a:p>
        </p:txBody>
      </p:sp>
      <p:sp>
        <p:nvSpPr>
          <p:cNvPr id="55" name="Shape 53"/>
          <p:cNvSpPr/>
          <p:nvPr/>
        </p:nvSpPr>
        <p:spPr>
          <a:xfrm>
            <a:off x="5760720" y="2834640"/>
            <a:ext cx="6172200" cy="361188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56" name="Shape 54"/>
          <p:cNvSpPr/>
          <p:nvPr/>
        </p:nvSpPr>
        <p:spPr>
          <a:xfrm>
            <a:off x="5760720" y="2834640"/>
            <a:ext cx="64008" cy="3611880"/>
          </a:xfrm>
          <a:prstGeom prst="rect">
            <a:avLst/>
          </a:prstGeom>
          <a:solidFill>
            <a:srgbClr val="00897B"/>
          </a:solidFill>
          <a:ln w="12700">
            <a:solidFill>
              <a:srgbClr val="00897B"/>
            </a:solidFill>
            <a:prstDash val="solid"/>
          </a:ln>
        </p:spPr>
        <p:txBody>
          <a:bodyPr/>
          <a:lstStyle/>
          <a:p>
            <a:endParaRPr lang="en-KE"/>
          </a:p>
        </p:txBody>
      </p:sp>
      <p:sp>
        <p:nvSpPr>
          <p:cNvPr id="57" name="Text 55"/>
          <p:cNvSpPr/>
          <p:nvPr/>
        </p:nvSpPr>
        <p:spPr>
          <a:xfrm>
            <a:off x="5961888" y="2944368"/>
            <a:ext cx="576072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Application Outcomes &amp; Status Flow</a:t>
            </a:r>
            <a:endParaRPr lang="en-US" sz="1300" dirty="0"/>
          </a:p>
        </p:txBody>
      </p:sp>
      <p:sp>
        <p:nvSpPr>
          <p:cNvPr id="58" name="Text 56"/>
          <p:cNvSpPr/>
          <p:nvPr/>
        </p:nvSpPr>
        <p:spPr>
          <a:xfrm>
            <a:off x="5943600" y="3438144"/>
            <a:ext cx="1645920" cy="256032"/>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Rejected</a:t>
            </a:r>
            <a:endParaRPr lang="en-US" sz="1050" dirty="0"/>
          </a:p>
        </p:txBody>
      </p:sp>
      <p:sp>
        <p:nvSpPr>
          <p:cNvPr id="59" name="Shape 57"/>
          <p:cNvSpPr/>
          <p:nvPr/>
        </p:nvSpPr>
        <p:spPr>
          <a:xfrm>
            <a:off x="7680960" y="3456432"/>
            <a:ext cx="3474720" cy="201168"/>
          </a:xfrm>
          <a:prstGeom prst="rect">
            <a:avLst/>
          </a:prstGeom>
          <a:solidFill>
            <a:srgbClr val="F0F4F8"/>
          </a:solidFill>
          <a:ln w="12700">
            <a:solidFill>
              <a:srgbClr val="CBD5E0"/>
            </a:solidFill>
            <a:prstDash val="solid"/>
          </a:ln>
        </p:spPr>
        <p:txBody>
          <a:bodyPr/>
          <a:lstStyle/>
          <a:p>
            <a:endParaRPr lang="en-KE"/>
          </a:p>
        </p:txBody>
      </p:sp>
      <p:sp>
        <p:nvSpPr>
          <p:cNvPr id="60" name="Shape 58"/>
          <p:cNvSpPr/>
          <p:nvPr/>
        </p:nvSpPr>
        <p:spPr>
          <a:xfrm>
            <a:off x="7680960" y="3456432"/>
            <a:ext cx="4160520" cy="192024"/>
          </a:xfrm>
          <a:prstGeom prst="rect">
            <a:avLst/>
          </a:prstGeom>
          <a:solidFill>
            <a:srgbClr val="B71C1C"/>
          </a:solidFill>
          <a:ln w="12700">
            <a:solidFill>
              <a:srgbClr val="B71C1C"/>
            </a:solidFill>
            <a:prstDash val="solid"/>
          </a:ln>
        </p:spPr>
        <p:txBody>
          <a:bodyPr/>
          <a:lstStyle/>
          <a:p>
            <a:endParaRPr lang="en-KE"/>
          </a:p>
        </p:txBody>
      </p:sp>
      <p:sp>
        <p:nvSpPr>
          <p:cNvPr id="61" name="Text 59"/>
          <p:cNvSpPr/>
          <p:nvPr/>
        </p:nvSpPr>
        <p:spPr>
          <a:xfrm>
            <a:off x="11026140" y="3483864"/>
            <a:ext cx="944880" cy="182880"/>
          </a:xfrm>
          <a:prstGeom prst="rect">
            <a:avLst/>
          </a:prstGeom>
          <a:noFill/>
          <a:ln/>
        </p:spPr>
        <p:txBody>
          <a:bodyPr wrap="square" lIns="0" tIns="0" rIns="0" bIns="0"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3,569  (42.0%)</a:t>
            </a:r>
            <a:endParaRPr lang="en-US" sz="950" dirty="0">
              <a:solidFill>
                <a:schemeClr val="bg1"/>
              </a:solidFill>
            </a:endParaRPr>
          </a:p>
        </p:txBody>
      </p:sp>
      <p:sp>
        <p:nvSpPr>
          <p:cNvPr id="62" name="Text 60"/>
          <p:cNvSpPr/>
          <p:nvPr/>
        </p:nvSpPr>
        <p:spPr>
          <a:xfrm>
            <a:off x="5943600" y="3959352"/>
            <a:ext cx="1645920" cy="256032"/>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Team Allocated</a:t>
            </a:r>
            <a:endParaRPr lang="en-US" sz="1050" dirty="0"/>
          </a:p>
        </p:txBody>
      </p:sp>
      <p:sp>
        <p:nvSpPr>
          <p:cNvPr id="63" name="Shape 61"/>
          <p:cNvSpPr/>
          <p:nvPr/>
        </p:nvSpPr>
        <p:spPr>
          <a:xfrm>
            <a:off x="7680960" y="3977640"/>
            <a:ext cx="3474720" cy="201168"/>
          </a:xfrm>
          <a:prstGeom prst="rect">
            <a:avLst/>
          </a:prstGeom>
          <a:solidFill>
            <a:srgbClr val="F0F4F8"/>
          </a:solidFill>
          <a:ln w="12700">
            <a:solidFill>
              <a:srgbClr val="CBD5E0"/>
            </a:solidFill>
            <a:prstDash val="solid"/>
          </a:ln>
        </p:spPr>
        <p:txBody>
          <a:bodyPr/>
          <a:lstStyle/>
          <a:p>
            <a:endParaRPr lang="en-KE"/>
          </a:p>
        </p:txBody>
      </p:sp>
      <p:sp>
        <p:nvSpPr>
          <p:cNvPr id="64" name="Shape 62"/>
          <p:cNvSpPr/>
          <p:nvPr/>
        </p:nvSpPr>
        <p:spPr>
          <a:xfrm>
            <a:off x="7680960" y="3977640"/>
            <a:ext cx="3269488" cy="192024"/>
          </a:xfrm>
          <a:prstGeom prst="rect">
            <a:avLst/>
          </a:prstGeom>
          <a:solidFill>
            <a:srgbClr val="2E7D32"/>
          </a:solidFill>
          <a:ln w="12700">
            <a:solidFill>
              <a:srgbClr val="2E7D32"/>
            </a:solidFill>
            <a:prstDash val="solid"/>
          </a:ln>
        </p:spPr>
        <p:txBody>
          <a:bodyPr/>
          <a:lstStyle/>
          <a:p>
            <a:endParaRPr lang="en-KE"/>
          </a:p>
        </p:txBody>
      </p:sp>
      <p:sp>
        <p:nvSpPr>
          <p:cNvPr id="65" name="Text 63"/>
          <p:cNvSpPr/>
          <p:nvPr/>
        </p:nvSpPr>
        <p:spPr>
          <a:xfrm>
            <a:off x="11080496" y="3895344"/>
            <a:ext cx="1028192" cy="372872"/>
          </a:xfrm>
          <a:prstGeom prst="rect">
            <a:avLst/>
          </a:prstGeom>
          <a:noFill/>
          <a:ln/>
        </p:spPr>
        <p:txBody>
          <a:bodyPr wrap="square" lIns="0" tIns="0" rIns="0" bIns="0" rtlCol="0" anchor="ctr"/>
          <a:lstStyle/>
          <a:p>
            <a:pPr marL="0" indent="0">
              <a:buNone/>
            </a:pPr>
            <a:r>
              <a:rPr lang="en-US" sz="950" b="1" dirty="0">
                <a:solidFill>
                  <a:schemeClr val="accent6">
                    <a:lumMod val="50000"/>
                  </a:schemeClr>
                </a:solidFill>
                <a:latin typeface="Calibri" pitchFamily="34" charset="0"/>
                <a:ea typeface="Calibri" pitchFamily="34" charset="-122"/>
                <a:cs typeface="Calibri" pitchFamily="34" charset="-120"/>
              </a:rPr>
              <a:t>3,276  (38.5%)</a:t>
            </a:r>
            <a:endParaRPr lang="en-US" sz="950" dirty="0">
              <a:solidFill>
                <a:schemeClr val="accent6">
                  <a:lumMod val="50000"/>
                </a:schemeClr>
              </a:solidFill>
            </a:endParaRPr>
          </a:p>
        </p:txBody>
      </p:sp>
      <p:sp>
        <p:nvSpPr>
          <p:cNvPr id="66" name="Text 64"/>
          <p:cNvSpPr/>
          <p:nvPr/>
        </p:nvSpPr>
        <p:spPr>
          <a:xfrm>
            <a:off x="5943600" y="4480560"/>
            <a:ext cx="1645920" cy="256032"/>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Started</a:t>
            </a:r>
            <a:endParaRPr lang="en-US" sz="1050" dirty="0"/>
          </a:p>
        </p:txBody>
      </p:sp>
      <p:sp>
        <p:nvSpPr>
          <p:cNvPr id="67" name="Shape 65"/>
          <p:cNvSpPr/>
          <p:nvPr/>
        </p:nvSpPr>
        <p:spPr>
          <a:xfrm>
            <a:off x="7680960" y="4498848"/>
            <a:ext cx="3474720" cy="201168"/>
          </a:xfrm>
          <a:prstGeom prst="rect">
            <a:avLst/>
          </a:prstGeom>
          <a:solidFill>
            <a:srgbClr val="F0F4F8"/>
          </a:solidFill>
          <a:ln w="12700">
            <a:solidFill>
              <a:srgbClr val="CBD5E0"/>
            </a:solidFill>
            <a:prstDash val="solid"/>
          </a:ln>
        </p:spPr>
        <p:txBody>
          <a:bodyPr/>
          <a:lstStyle/>
          <a:p>
            <a:endParaRPr lang="en-KE"/>
          </a:p>
        </p:txBody>
      </p:sp>
      <p:sp>
        <p:nvSpPr>
          <p:cNvPr id="68" name="Shape 66"/>
          <p:cNvSpPr/>
          <p:nvPr/>
        </p:nvSpPr>
        <p:spPr>
          <a:xfrm>
            <a:off x="7680960" y="4498848"/>
            <a:ext cx="2560320" cy="201168"/>
          </a:xfrm>
          <a:prstGeom prst="rect">
            <a:avLst/>
          </a:prstGeom>
          <a:solidFill>
            <a:srgbClr val="1565C0"/>
          </a:solidFill>
          <a:ln w="12700">
            <a:solidFill>
              <a:srgbClr val="1565C0"/>
            </a:solidFill>
            <a:prstDash val="solid"/>
          </a:ln>
        </p:spPr>
        <p:txBody>
          <a:bodyPr/>
          <a:lstStyle/>
          <a:p>
            <a:endParaRPr lang="en-KE"/>
          </a:p>
        </p:txBody>
      </p:sp>
      <p:sp>
        <p:nvSpPr>
          <p:cNvPr id="69" name="Text 67"/>
          <p:cNvSpPr/>
          <p:nvPr/>
        </p:nvSpPr>
        <p:spPr>
          <a:xfrm>
            <a:off x="11247120" y="4480560"/>
            <a:ext cx="594360" cy="256032"/>
          </a:xfrm>
          <a:prstGeom prst="rect">
            <a:avLst/>
          </a:prstGeom>
          <a:noFill/>
          <a:ln/>
        </p:spPr>
        <p:txBody>
          <a:bodyPr wrap="square" lIns="0" tIns="0" rIns="0" bIns="0" rtlCol="0" anchor="ctr"/>
          <a:lstStyle/>
          <a:p>
            <a:pPr marL="0" indent="0">
              <a:buNone/>
            </a:pPr>
            <a:r>
              <a:rPr lang="en-US" sz="950" b="1" dirty="0">
                <a:solidFill>
                  <a:srgbClr val="1565C0"/>
                </a:solidFill>
                <a:latin typeface="Calibri" pitchFamily="34" charset="0"/>
                <a:ea typeface="Calibri" pitchFamily="34" charset="-122"/>
                <a:cs typeface="Calibri" pitchFamily="34" charset="-120"/>
              </a:rPr>
              <a:t>767  (9.0%)</a:t>
            </a:r>
            <a:endParaRPr lang="en-US" sz="950" dirty="0"/>
          </a:p>
        </p:txBody>
      </p:sp>
      <p:sp>
        <p:nvSpPr>
          <p:cNvPr id="70" name="Text 68"/>
          <p:cNvSpPr/>
          <p:nvPr/>
        </p:nvSpPr>
        <p:spPr>
          <a:xfrm>
            <a:off x="5943600" y="5001768"/>
            <a:ext cx="1645920" cy="256032"/>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Dropped Out</a:t>
            </a:r>
            <a:endParaRPr lang="en-US" sz="1050" dirty="0"/>
          </a:p>
        </p:txBody>
      </p:sp>
      <p:sp>
        <p:nvSpPr>
          <p:cNvPr id="71" name="Shape 69"/>
          <p:cNvSpPr/>
          <p:nvPr/>
        </p:nvSpPr>
        <p:spPr>
          <a:xfrm>
            <a:off x="7680960" y="5020056"/>
            <a:ext cx="3474720" cy="201168"/>
          </a:xfrm>
          <a:prstGeom prst="rect">
            <a:avLst/>
          </a:prstGeom>
          <a:solidFill>
            <a:srgbClr val="F0F4F8"/>
          </a:solidFill>
          <a:ln w="12700">
            <a:solidFill>
              <a:srgbClr val="CBD5E0"/>
            </a:solidFill>
            <a:prstDash val="solid"/>
          </a:ln>
        </p:spPr>
        <p:txBody>
          <a:bodyPr/>
          <a:lstStyle/>
          <a:p>
            <a:endParaRPr lang="en-KE"/>
          </a:p>
        </p:txBody>
      </p:sp>
      <p:sp>
        <p:nvSpPr>
          <p:cNvPr id="72" name="Shape 70"/>
          <p:cNvSpPr/>
          <p:nvPr/>
        </p:nvSpPr>
        <p:spPr>
          <a:xfrm>
            <a:off x="7680960" y="5020056"/>
            <a:ext cx="2194560" cy="201168"/>
          </a:xfrm>
          <a:prstGeom prst="rect">
            <a:avLst/>
          </a:prstGeom>
          <a:solidFill>
            <a:srgbClr val="E65100"/>
          </a:solidFill>
          <a:ln w="12700">
            <a:solidFill>
              <a:srgbClr val="E65100"/>
            </a:solidFill>
            <a:prstDash val="solid"/>
          </a:ln>
        </p:spPr>
        <p:txBody>
          <a:bodyPr/>
          <a:lstStyle/>
          <a:p>
            <a:endParaRPr lang="en-KE"/>
          </a:p>
        </p:txBody>
      </p:sp>
      <p:sp>
        <p:nvSpPr>
          <p:cNvPr id="73" name="Text 71"/>
          <p:cNvSpPr/>
          <p:nvPr/>
        </p:nvSpPr>
        <p:spPr>
          <a:xfrm>
            <a:off x="11247120" y="5001768"/>
            <a:ext cx="594360" cy="256032"/>
          </a:xfrm>
          <a:prstGeom prst="rect">
            <a:avLst/>
          </a:prstGeom>
          <a:noFill/>
          <a:ln/>
        </p:spPr>
        <p:txBody>
          <a:bodyPr wrap="square" lIns="0" tIns="0" rIns="0" bIns="0" rtlCol="0" anchor="ctr"/>
          <a:lstStyle/>
          <a:p>
            <a:pPr marL="0" indent="0">
              <a:buNone/>
            </a:pPr>
            <a:r>
              <a:rPr lang="en-US" sz="950" b="1" dirty="0">
                <a:solidFill>
                  <a:srgbClr val="E65100"/>
                </a:solidFill>
                <a:latin typeface="Calibri" pitchFamily="34" charset="0"/>
                <a:ea typeface="Calibri" pitchFamily="34" charset="-122"/>
                <a:cs typeface="Calibri" pitchFamily="34" charset="-120"/>
              </a:rPr>
              <a:t>613  (7.2%)</a:t>
            </a:r>
            <a:endParaRPr lang="en-US" sz="950" dirty="0"/>
          </a:p>
        </p:txBody>
      </p:sp>
      <p:sp>
        <p:nvSpPr>
          <p:cNvPr id="74" name="Text 72"/>
          <p:cNvSpPr/>
          <p:nvPr/>
        </p:nvSpPr>
        <p:spPr>
          <a:xfrm>
            <a:off x="5943600" y="5522976"/>
            <a:ext cx="1645920" cy="256032"/>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Other</a:t>
            </a:r>
            <a:endParaRPr lang="en-US" sz="1050" dirty="0"/>
          </a:p>
        </p:txBody>
      </p:sp>
      <p:sp>
        <p:nvSpPr>
          <p:cNvPr id="75" name="Shape 73"/>
          <p:cNvSpPr/>
          <p:nvPr/>
        </p:nvSpPr>
        <p:spPr>
          <a:xfrm>
            <a:off x="7680960" y="5541264"/>
            <a:ext cx="3474720" cy="201168"/>
          </a:xfrm>
          <a:prstGeom prst="rect">
            <a:avLst/>
          </a:prstGeom>
          <a:solidFill>
            <a:srgbClr val="F0F4F8"/>
          </a:solidFill>
          <a:ln w="12700">
            <a:solidFill>
              <a:srgbClr val="CBD5E0"/>
            </a:solidFill>
            <a:prstDash val="solid"/>
          </a:ln>
        </p:spPr>
        <p:txBody>
          <a:bodyPr/>
          <a:lstStyle/>
          <a:p>
            <a:endParaRPr lang="en-KE"/>
          </a:p>
        </p:txBody>
      </p:sp>
      <p:sp>
        <p:nvSpPr>
          <p:cNvPr id="76" name="Shape 74"/>
          <p:cNvSpPr/>
          <p:nvPr/>
        </p:nvSpPr>
        <p:spPr>
          <a:xfrm>
            <a:off x="7680960" y="5541264"/>
            <a:ext cx="1097280" cy="201168"/>
          </a:xfrm>
          <a:prstGeom prst="rect">
            <a:avLst/>
          </a:prstGeom>
          <a:solidFill>
            <a:srgbClr val="5A7A95"/>
          </a:solidFill>
          <a:ln w="12700">
            <a:solidFill>
              <a:srgbClr val="5A7A95"/>
            </a:solidFill>
            <a:prstDash val="solid"/>
          </a:ln>
        </p:spPr>
        <p:txBody>
          <a:bodyPr/>
          <a:lstStyle/>
          <a:p>
            <a:endParaRPr lang="en-KE"/>
          </a:p>
        </p:txBody>
      </p:sp>
      <p:sp>
        <p:nvSpPr>
          <p:cNvPr id="77" name="Text 75"/>
          <p:cNvSpPr/>
          <p:nvPr/>
        </p:nvSpPr>
        <p:spPr>
          <a:xfrm>
            <a:off x="11247120" y="5522976"/>
            <a:ext cx="594360" cy="256032"/>
          </a:xfrm>
          <a:prstGeom prst="rect">
            <a:avLst/>
          </a:prstGeom>
          <a:noFill/>
          <a:ln/>
        </p:spPr>
        <p:txBody>
          <a:bodyPr wrap="square" lIns="0" tIns="0" rIns="0" bIns="0" rtlCol="0" anchor="ctr"/>
          <a:lstStyle/>
          <a:p>
            <a:pPr marL="0" indent="0">
              <a:buNone/>
            </a:pPr>
            <a:r>
              <a:rPr lang="en-US" sz="950" b="1" dirty="0">
                <a:solidFill>
                  <a:srgbClr val="5A7A95"/>
                </a:solidFill>
                <a:latin typeface="Calibri" pitchFamily="34" charset="0"/>
                <a:ea typeface="Calibri" pitchFamily="34" charset="-122"/>
                <a:cs typeface="Calibri" pitchFamily="34" charset="-120"/>
              </a:rPr>
              <a:t>274  (3.2%)</a:t>
            </a:r>
            <a:endParaRPr lang="en-US" sz="950" dirty="0"/>
          </a:p>
        </p:txBody>
      </p:sp>
      <p:sp>
        <p:nvSpPr>
          <p:cNvPr id="78" name="Text 76"/>
          <p:cNvSpPr/>
          <p:nvPr/>
        </p:nvSpPr>
        <p:spPr>
          <a:xfrm>
            <a:off x="5961888" y="6035040"/>
            <a:ext cx="1280160" cy="256032"/>
          </a:xfrm>
          <a:prstGeom prst="rect">
            <a:avLst/>
          </a:prstGeom>
          <a:noFill/>
          <a:ln/>
        </p:spPr>
        <p:txBody>
          <a:bodyPr wrap="square" lIns="0" tIns="0" rIns="0" bIns="0" rtlCol="0" anchor="ctr"/>
          <a:lstStyle/>
          <a:p>
            <a:pPr marL="0" indent="0">
              <a:buNone/>
            </a:pPr>
            <a:r>
              <a:rPr lang="en-US" sz="900" b="1" dirty="0">
                <a:solidFill>
                  <a:srgbClr val="00897B"/>
                </a:solidFill>
                <a:latin typeface="Calibri" pitchFamily="34" charset="0"/>
                <a:ea typeface="Calibri" pitchFamily="34" charset="-122"/>
                <a:cs typeface="Calibri" pitchFamily="34" charset="-120"/>
              </a:rPr>
              <a:t>KEY INSIGHT</a:t>
            </a:r>
            <a:endParaRPr lang="en-US" sz="900" dirty="0"/>
          </a:p>
        </p:txBody>
      </p:sp>
      <p:sp>
        <p:nvSpPr>
          <p:cNvPr id="79" name="Text 77"/>
          <p:cNvSpPr/>
          <p:nvPr/>
        </p:nvSpPr>
        <p:spPr>
          <a:xfrm>
            <a:off x="7315200" y="6016752"/>
            <a:ext cx="3840480" cy="292608"/>
          </a:xfrm>
          <a:prstGeom prst="rect">
            <a:avLst/>
          </a:prstGeom>
          <a:noFill/>
          <a:ln/>
        </p:spPr>
        <p:txBody>
          <a:bodyPr wrap="square" lIns="0" tIns="0" rIns="0" bIns="0" rtlCol="0" anchor="ctr"/>
          <a:lstStyle/>
          <a:p>
            <a:pPr marL="0" indent="0">
              <a:buNone/>
            </a:pPr>
            <a:r>
              <a:rPr lang="en-US" sz="1000" i="1" dirty="0">
                <a:solidFill>
                  <a:srgbClr val="1A2B3C"/>
                </a:solidFill>
                <a:latin typeface="Calibri" pitchFamily="34" charset="0"/>
                <a:ea typeface="Calibri" pitchFamily="34" charset="-122"/>
                <a:cs typeface="Calibri" pitchFamily="34" charset="-120"/>
              </a:rPr>
              <a:t>80% of all records land in just two statuses: Rejected or Team Allocated — creating a near-binary outcome for modelling.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600" y="73152"/>
            <a:ext cx="4514850" cy="237744"/>
          </a:xfrm>
          <a:prstGeom prst="rect">
            <a:avLst/>
          </a:prstGeom>
          <a:noFill/>
          <a:ln/>
        </p:spPr>
        <p:txBody>
          <a:bodyPr wrap="square" lIns="0" tIns="0" rIns="0" bIns="0" rtlCol="0" anchor="ctr"/>
          <a:lstStyle/>
          <a:p>
            <a:pPr marL="0" indent="0">
              <a:buNone/>
            </a:pPr>
            <a:r>
              <a:rPr lang="en-US" sz="900" b="1" kern="0" spc="400" dirty="0">
                <a:solidFill>
                  <a:srgbClr val="4DB6AC"/>
                </a:solidFill>
                <a:latin typeface="Calibri" pitchFamily="34" charset="0"/>
                <a:ea typeface="Calibri" pitchFamily="34" charset="-122"/>
                <a:cs typeface="Calibri" pitchFamily="34" charset="-120"/>
              </a:rPr>
              <a:t>WEEK 2  ·  EXPLORATORY DATA ANALYSIS</a:t>
            </a:r>
            <a:endParaRPr lang="en-US" sz="9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Trends Discovered</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Seasonal patterns, geographic shifts &amp; the Jan–Feb 2024 demand super-spike</a:t>
            </a:r>
            <a:endParaRPr lang="en-US" sz="1100" dirty="0"/>
          </a:p>
        </p:txBody>
      </p:sp>
      <p:sp>
        <p:nvSpPr>
          <p:cNvPr id="7" name="Shape 5"/>
          <p:cNvSpPr/>
          <p:nvPr/>
        </p:nvSpPr>
        <p:spPr>
          <a:xfrm>
            <a:off x="228600" y="1207008"/>
            <a:ext cx="7406640" cy="347472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8" name="Shape 6"/>
          <p:cNvSpPr/>
          <p:nvPr/>
        </p:nvSpPr>
        <p:spPr>
          <a:xfrm>
            <a:off x="228600" y="1207008"/>
            <a:ext cx="64008" cy="3474720"/>
          </a:xfrm>
          <a:prstGeom prst="rect">
            <a:avLst/>
          </a:prstGeom>
          <a:solidFill>
            <a:srgbClr val="1565C0"/>
          </a:solidFill>
          <a:ln w="12700">
            <a:solidFill>
              <a:srgbClr val="1565C0"/>
            </a:solidFill>
            <a:prstDash val="solid"/>
          </a:ln>
        </p:spPr>
        <p:txBody>
          <a:bodyPr/>
          <a:lstStyle/>
          <a:p>
            <a:endParaRPr lang="en-KE"/>
          </a:p>
        </p:txBody>
      </p:sp>
      <p:sp>
        <p:nvSpPr>
          <p:cNvPr id="9" name="Text 7"/>
          <p:cNvSpPr/>
          <p:nvPr/>
        </p:nvSpPr>
        <p:spPr>
          <a:xfrm>
            <a:off x="438912" y="1325880"/>
            <a:ext cx="6949440" cy="347472"/>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Monthly Application Volume — Jan 2023 to Dec 2024</a:t>
            </a:r>
            <a:endParaRPr lang="en-US" sz="1250" dirty="0"/>
          </a:p>
        </p:txBody>
      </p:sp>
      <p:sp>
        <p:nvSpPr>
          <p:cNvPr id="10" name="Text 8"/>
          <p:cNvSpPr/>
          <p:nvPr/>
        </p:nvSpPr>
        <p:spPr>
          <a:xfrm>
            <a:off x="438912" y="1691640"/>
            <a:ext cx="6400800" cy="256032"/>
          </a:xfrm>
          <a:prstGeom prst="rect">
            <a:avLst/>
          </a:prstGeom>
          <a:noFill/>
          <a:ln/>
        </p:spPr>
        <p:txBody>
          <a:bodyPr wrap="square" lIns="0" tIns="0" rIns="0" bIns="0" rtlCol="0" anchor="ctr"/>
          <a:lstStyle/>
          <a:p>
            <a:pPr marL="0" indent="0">
              <a:buNone/>
            </a:pPr>
            <a:r>
              <a:rPr lang="en-US" sz="1000" i="1" dirty="0">
                <a:solidFill>
                  <a:srgbClr val="5A7A95"/>
                </a:solidFill>
                <a:latin typeface="Calibri" pitchFamily="34" charset="0"/>
                <a:ea typeface="Calibri" pitchFamily="34" charset="-122"/>
                <a:cs typeface="Calibri" pitchFamily="34" charset="-120"/>
              </a:rPr>
              <a:t>Three recurring peaks: Jan/Feb · Aug · Dec</a:t>
            </a:r>
            <a:endParaRPr lang="en-US" sz="1000" dirty="0"/>
          </a:p>
        </p:txBody>
      </p:sp>
      <p:sp>
        <p:nvSpPr>
          <p:cNvPr id="11" name="Shape 9"/>
          <p:cNvSpPr/>
          <p:nvPr/>
        </p:nvSpPr>
        <p:spPr>
          <a:xfrm>
            <a:off x="411480" y="3595219"/>
            <a:ext cx="230886" cy="108101"/>
          </a:xfrm>
          <a:prstGeom prst="rect">
            <a:avLst/>
          </a:prstGeom>
          <a:solidFill>
            <a:srgbClr val="2E86DE"/>
          </a:solidFill>
          <a:ln w="12700">
            <a:solidFill>
              <a:srgbClr val="2E86DE"/>
            </a:solidFill>
            <a:prstDash val="solid"/>
          </a:ln>
        </p:spPr>
        <p:txBody>
          <a:bodyPr/>
          <a:lstStyle/>
          <a:p>
            <a:endParaRPr lang="en-KE"/>
          </a:p>
        </p:txBody>
      </p:sp>
      <p:sp>
        <p:nvSpPr>
          <p:cNvPr id="12" name="Shape 10"/>
          <p:cNvSpPr/>
          <p:nvPr/>
        </p:nvSpPr>
        <p:spPr>
          <a:xfrm>
            <a:off x="697230" y="3564998"/>
            <a:ext cx="230886" cy="138322"/>
          </a:xfrm>
          <a:prstGeom prst="rect">
            <a:avLst/>
          </a:prstGeom>
          <a:solidFill>
            <a:srgbClr val="2E86DE"/>
          </a:solidFill>
          <a:ln w="12700">
            <a:solidFill>
              <a:srgbClr val="2E86DE"/>
            </a:solidFill>
            <a:prstDash val="solid"/>
          </a:ln>
        </p:spPr>
        <p:txBody>
          <a:bodyPr/>
          <a:lstStyle/>
          <a:p>
            <a:endParaRPr lang="en-KE"/>
          </a:p>
        </p:txBody>
      </p:sp>
      <p:sp>
        <p:nvSpPr>
          <p:cNvPr id="13" name="Shape 11"/>
          <p:cNvSpPr/>
          <p:nvPr/>
        </p:nvSpPr>
        <p:spPr>
          <a:xfrm>
            <a:off x="982980" y="3504554"/>
            <a:ext cx="230886" cy="198766"/>
          </a:xfrm>
          <a:prstGeom prst="rect">
            <a:avLst/>
          </a:prstGeom>
          <a:solidFill>
            <a:srgbClr val="2E86DE"/>
          </a:solidFill>
          <a:ln w="12700">
            <a:solidFill>
              <a:srgbClr val="2E86DE"/>
            </a:solidFill>
            <a:prstDash val="solid"/>
          </a:ln>
        </p:spPr>
        <p:txBody>
          <a:bodyPr/>
          <a:lstStyle/>
          <a:p>
            <a:endParaRPr lang="en-KE"/>
          </a:p>
        </p:txBody>
      </p:sp>
      <p:sp>
        <p:nvSpPr>
          <p:cNvPr id="14" name="Shape 12"/>
          <p:cNvSpPr/>
          <p:nvPr/>
        </p:nvSpPr>
        <p:spPr>
          <a:xfrm>
            <a:off x="1268730" y="3568485"/>
            <a:ext cx="230886" cy="134835"/>
          </a:xfrm>
          <a:prstGeom prst="rect">
            <a:avLst/>
          </a:prstGeom>
          <a:solidFill>
            <a:srgbClr val="2E86DE"/>
          </a:solidFill>
          <a:ln w="12700">
            <a:solidFill>
              <a:srgbClr val="2E86DE"/>
            </a:solidFill>
            <a:prstDash val="solid"/>
          </a:ln>
        </p:spPr>
        <p:txBody>
          <a:bodyPr/>
          <a:lstStyle/>
          <a:p>
            <a:endParaRPr lang="en-KE"/>
          </a:p>
        </p:txBody>
      </p:sp>
      <p:sp>
        <p:nvSpPr>
          <p:cNvPr id="15" name="Shape 13"/>
          <p:cNvSpPr/>
          <p:nvPr/>
        </p:nvSpPr>
        <p:spPr>
          <a:xfrm>
            <a:off x="1554480" y="3515016"/>
            <a:ext cx="230886" cy="188304"/>
          </a:xfrm>
          <a:prstGeom prst="rect">
            <a:avLst/>
          </a:prstGeom>
          <a:solidFill>
            <a:srgbClr val="2E86DE"/>
          </a:solidFill>
          <a:ln w="12700">
            <a:solidFill>
              <a:srgbClr val="2E86DE"/>
            </a:solidFill>
            <a:prstDash val="solid"/>
          </a:ln>
        </p:spPr>
        <p:txBody>
          <a:bodyPr/>
          <a:lstStyle/>
          <a:p>
            <a:endParaRPr lang="en-KE"/>
          </a:p>
        </p:txBody>
      </p:sp>
      <p:sp>
        <p:nvSpPr>
          <p:cNvPr id="16" name="Shape 14"/>
          <p:cNvSpPr/>
          <p:nvPr/>
        </p:nvSpPr>
        <p:spPr>
          <a:xfrm>
            <a:off x="1840230" y="3231397"/>
            <a:ext cx="230886" cy="471923"/>
          </a:xfrm>
          <a:prstGeom prst="rect">
            <a:avLst/>
          </a:prstGeom>
          <a:solidFill>
            <a:srgbClr val="E65100"/>
          </a:solidFill>
          <a:ln w="12700">
            <a:solidFill>
              <a:srgbClr val="E65100"/>
            </a:solidFill>
            <a:prstDash val="solid"/>
          </a:ln>
        </p:spPr>
        <p:txBody>
          <a:bodyPr/>
          <a:lstStyle/>
          <a:p>
            <a:endParaRPr lang="en-KE"/>
          </a:p>
        </p:txBody>
      </p:sp>
      <p:sp>
        <p:nvSpPr>
          <p:cNvPr id="17" name="Shape 15"/>
          <p:cNvSpPr/>
          <p:nvPr/>
        </p:nvSpPr>
        <p:spPr>
          <a:xfrm>
            <a:off x="2125980" y="3392966"/>
            <a:ext cx="230886" cy="310354"/>
          </a:xfrm>
          <a:prstGeom prst="rect">
            <a:avLst/>
          </a:prstGeom>
          <a:solidFill>
            <a:srgbClr val="2E86DE"/>
          </a:solidFill>
          <a:ln w="12700">
            <a:solidFill>
              <a:srgbClr val="2E86DE"/>
            </a:solidFill>
            <a:prstDash val="solid"/>
          </a:ln>
        </p:spPr>
        <p:txBody>
          <a:bodyPr/>
          <a:lstStyle/>
          <a:p>
            <a:endParaRPr lang="en-KE"/>
          </a:p>
        </p:txBody>
      </p:sp>
      <p:sp>
        <p:nvSpPr>
          <p:cNvPr id="18" name="Shape 16"/>
          <p:cNvSpPr/>
          <p:nvPr/>
        </p:nvSpPr>
        <p:spPr>
          <a:xfrm>
            <a:off x="2411730" y="2896633"/>
            <a:ext cx="230886" cy="806687"/>
          </a:xfrm>
          <a:prstGeom prst="rect">
            <a:avLst/>
          </a:prstGeom>
          <a:solidFill>
            <a:srgbClr val="E65100"/>
          </a:solidFill>
          <a:ln w="12700">
            <a:solidFill>
              <a:srgbClr val="E65100"/>
            </a:solidFill>
            <a:prstDash val="solid"/>
          </a:ln>
        </p:spPr>
        <p:txBody>
          <a:bodyPr/>
          <a:lstStyle/>
          <a:p>
            <a:endParaRPr lang="en-KE"/>
          </a:p>
        </p:txBody>
      </p:sp>
      <p:sp>
        <p:nvSpPr>
          <p:cNvPr id="19" name="Shape 17"/>
          <p:cNvSpPr/>
          <p:nvPr/>
        </p:nvSpPr>
        <p:spPr>
          <a:xfrm>
            <a:off x="2697480" y="3165141"/>
            <a:ext cx="230886" cy="538179"/>
          </a:xfrm>
          <a:prstGeom prst="rect">
            <a:avLst/>
          </a:prstGeom>
          <a:solidFill>
            <a:srgbClr val="2E86DE"/>
          </a:solidFill>
          <a:ln w="12700">
            <a:solidFill>
              <a:srgbClr val="2E86DE"/>
            </a:solidFill>
            <a:prstDash val="solid"/>
          </a:ln>
        </p:spPr>
        <p:txBody>
          <a:bodyPr/>
          <a:lstStyle/>
          <a:p>
            <a:endParaRPr lang="en-KE"/>
          </a:p>
        </p:txBody>
      </p:sp>
      <p:sp>
        <p:nvSpPr>
          <p:cNvPr id="20" name="Shape 18"/>
          <p:cNvSpPr/>
          <p:nvPr/>
        </p:nvSpPr>
        <p:spPr>
          <a:xfrm>
            <a:off x="2983230" y="3425513"/>
            <a:ext cx="230886" cy="277807"/>
          </a:xfrm>
          <a:prstGeom prst="rect">
            <a:avLst/>
          </a:prstGeom>
          <a:solidFill>
            <a:srgbClr val="2E86DE"/>
          </a:solidFill>
          <a:ln w="12700">
            <a:solidFill>
              <a:srgbClr val="2E86DE"/>
            </a:solidFill>
            <a:prstDash val="solid"/>
          </a:ln>
        </p:spPr>
        <p:txBody>
          <a:bodyPr/>
          <a:lstStyle/>
          <a:p>
            <a:endParaRPr lang="en-KE"/>
          </a:p>
        </p:txBody>
      </p:sp>
      <p:sp>
        <p:nvSpPr>
          <p:cNvPr id="21" name="Shape 19"/>
          <p:cNvSpPr/>
          <p:nvPr/>
        </p:nvSpPr>
        <p:spPr>
          <a:xfrm>
            <a:off x="3268980" y="3461546"/>
            <a:ext cx="230886" cy="241774"/>
          </a:xfrm>
          <a:prstGeom prst="rect">
            <a:avLst/>
          </a:prstGeom>
          <a:solidFill>
            <a:srgbClr val="2E86DE"/>
          </a:solidFill>
          <a:ln w="12700">
            <a:solidFill>
              <a:srgbClr val="2E86DE"/>
            </a:solidFill>
            <a:prstDash val="solid"/>
          </a:ln>
        </p:spPr>
        <p:txBody>
          <a:bodyPr/>
          <a:lstStyle/>
          <a:p>
            <a:endParaRPr lang="en-KE"/>
          </a:p>
        </p:txBody>
      </p:sp>
      <p:sp>
        <p:nvSpPr>
          <p:cNvPr id="22" name="Shape 20"/>
          <p:cNvSpPr/>
          <p:nvPr/>
        </p:nvSpPr>
        <p:spPr>
          <a:xfrm>
            <a:off x="3554730" y="2977999"/>
            <a:ext cx="230886" cy="725321"/>
          </a:xfrm>
          <a:prstGeom prst="rect">
            <a:avLst/>
          </a:prstGeom>
          <a:solidFill>
            <a:srgbClr val="E65100"/>
          </a:solidFill>
          <a:ln w="12700">
            <a:solidFill>
              <a:srgbClr val="E65100"/>
            </a:solidFill>
            <a:prstDash val="solid"/>
          </a:ln>
        </p:spPr>
        <p:txBody>
          <a:bodyPr/>
          <a:lstStyle/>
          <a:p>
            <a:endParaRPr lang="en-KE"/>
          </a:p>
        </p:txBody>
      </p:sp>
      <p:sp>
        <p:nvSpPr>
          <p:cNvPr id="23" name="Shape 21"/>
          <p:cNvSpPr/>
          <p:nvPr/>
        </p:nvSpPr>
        <p:spPr>
          <a:xfrm>
            <a:off x="3840480" y="2057400"/>
            <a:ext cx="230886" cy="1645920"/>
          </a:xfrm>
          <a:prstGeom prst="rect">
            <a:avLst/>
          </a:prstGeom>
          <a:solidFill>
            <a:srgbClr val="B71C1C"/>
          </a:solidFill>
          <a:ln w="12700">
            <a:solidFill>
              <a:srgbClr val="B71C1C"/>
            </a:solidFill>
            <a:prstDash val="solid"/>
          </a:ln>
        </p:spPr>
        <p:txBody>
          <a:bodyPr/>
          <a:lstStyle/>
          <a:p>
            <a:endParaRPr lang="en-KE"/>
          </a:p>
        </p:txBody>
      </p:sp>
      <p:sp>
        <p:nvSpPr>
          <p:cNvPr id="24" name="Shape 22"/>
          <p:cNvSpPr/>
          <p:nvPr/>
        </p:nvSpPr>
        <p:spPr>
          <a:xfrm>
            <a:off x="4126230" y="2252679"/>
            <a:ext cx="230886" cy="1450641"/>
          </a:xfrm>
          <a:prstGeom prst="rect">
            <a:avLst/>
          </a:prstGeom>
          <a:solidFill>
            <a:srgbClr val="B71C1C"/>
          </a:solidFill>
          <a:ln w="12700">
            <a:solidFill>
              <a:srgbClr val="B71C1C"/>
            </a:solidFill>
            <a:prstDash val="solid"/>
          </a:ln>
        </p:spPr>
        <p:txBody>
          <a:bodyPr/>
          <a:lstStyle/>
          <a:p>
            <a:endParaRPr lang="en-KE"/>
          </a:p>
        </p:txBody>
      </p:sp>
      <p:sp>
        <p:nvSpPr>
          <p:cNvPr id="25" name="Shape 23"/>
          <p:cNvSpPr/>
          <p:nvPr/>
        </p:nvSpPr>
        <p:spPr>
          <a:xfrm>
            <a:off x="4411980" y="3515016"/>
            <a:ext cx="230886" cy="188304"/>
          </a:xfrm>
          <a:prstGeom prst="rect">
            <a:avLst/>
          </a:prstGeom>
          <a:solidFill>
            <a:srgbClr val="2E86DE"/>
          </a:solidFill>
          <a:ln w="12700">
            <a:solidFill>
              <a:srgbClr val="2E86DE"/>
            </a:solidFill>
            <a:prstDash val="solid"/>
          </a:ln>
        </p:spPr>
        <p:txBody>
          <a:bodyPr/>
          <a:lstStyle/>
          <a:p>
            <a:endParaRPr lang="en-KE"/>
          </a:p>
        </p:txBody>
      </p:sp>
      <p:sp>
        <p:nvSpPr>
          <p:cNvPr id="26" name="Shape 24"/>
          <p:cNvSpPr/>
          <p:nvPr/>
        </p:nvSpPr>
        <p:spPr>
          <a:xfrm>
            <a:off x="4697730" y="3454572"/>
            <a:ext cx="230886" cy="248748"/>
          </a:xfrm>
          <a:prstGeom prst="rect">
            <a:avLst/>
          </a:prstGeom>
          <a:solidFill>
            <a:srgbClr val="2E86DE"/>
          </a:solidFill>
          <a:ln w="12700">
            <a:solidFill>
              <a:srgbClr val="2E86DE"/>
            </a:solidFill>
            <a:prstDash val="solid"/>
          </a:ln>
        </p:spPr>
        <p:txBody>
          <a:bodyPr/>
          <a:lstStyle/>
          <a:p>
            <a:endParaRPr lang="en-KE"/>
          </a:p>
        </p:txBody>
      </p:sp>
      <p:sp>
        <p:nvSpPr>
          <p:cNvPr id="27" name="Shape 25"/>
          <p:cNvSpPr/>
          <p:nvPr/>
        </p:nvSpPr>
        <p:spPr>
          <a:xfrm>
            <a:off x="4983480" y="3411564"/>
            <a:ext cx="230886" cy="291756"/>
          </a:xfrm>
          <a:prstGeom prst="rect">
            <a:avLst/>
          </a:prstGeom>
          <a:solidFill>
            <a:srgbClr val="2E86DE"/>
          </a:solidFill>
          <a:ln w="12700">
            <a:solidFill>
              <a:srgbClr val="2E86DE"/>
            </a:solidFill>
            <a:prstDash val="solid"/>
          </a:ln>
        </p:spPr>
        <p:txBody>
          <a:bodyPr/>
          <a:lstStyle/>
          <a:p>
            <a:endParaRPr lang="en-KE"/>
          </a:p>
        </p:txBody>
      </p:sp>
      <p:sp>
        <p:nvSpPr>
          <p:cNvPr id="28" name="Shape 26"/>
          <p:cNvSpPr/>
          <p:nvPr/>
        </p:nvSpPr>
        <p:spPr>
          <a:xfrm>
            <a:off x="5269230" y="3508041"/>
            <a:ext cx="230886" cy="195279"/>
          </a:xfrm>
          <a:prstGeom prst="rect">
            <a:avLst/>
          </a:prstGeom>
          <a:solidFill>
            <a:srgbClr val="2E86DE"/>
          </a:solidFill>
          <a:ln w="12700">
            <a:solidFill>
              <a:srgbClr val="2E86DE"/>
            </a:solidFill>
            <a:prstDash val="solid"/>
          </a:ln>
        </p:spPr>
        <p:txBody>
          <a:bodyPr/>
          <a:lstStyle/>
          <a:p>
            <a:endParaRPr lang="en-KE"/>
          </a:p>
        </p:txBody>
      </p:sp>
      <p:sp>
        <p:nvSpPr>
          <p:cNvPr id="29" name="Shape 27"/>
          <p:cNvSpPr/>
          <p:nvPr/>
        </p:nvSpPr>
        <p:spPr>
          <a:xfrm>
            <a:off x="5554980" y="3501067"/>
            <a:ext cx="230886" cy="202253"/>
          </a:xfrm>
          <a:prstGeom prst="rect">
            <a:avLst/>
          </a:prstGeom>
          <a:solidFill>
            <a:srgbClr val="2E86DE"/>
          </a:solidFill>
          <a:ln w="12700">
            <a:solidFill>
              <a:srgbClr val="2E86DE"/>
            </a:solidFill>
            <a:prstDash val="solid"/>
          </a:ln>
        </p:spPr>
        <p:txBody>
          <a:bodyPr/>
          <a:lstStyle/>
          <a:p>
            <a:endParaRPr lang="en-KE"/>
          </a:p>
        </p:txBody>
      </p:sp>
      <p:sp>
        <p:nvSpPr>
          <p:cNvPr id="30" name="Shape 28"/>
          <p:cNvSpPr/>
          <p:nvPr/>
        </p:nvSpPr>
        <p:spPr>
          <a:xfrm>
            <a:off x="5840730" y="3399941"/>
            <a:ext cx="230886" cy="303379"/>
          </a:xfrm>
          <a:prstGeom prst="rect">
            <a:avLst/>
          </a:prstGeom>
          <a:solidFill>
            <a:srgbClr val="2E86DE"/>
          </a:solidFill>
          <a:ln w="12700">
            <a:solidFill>
              <a:srgbClr val="2E86DE"/>
            </a:solidFill>
            <a:prstDash val="solid"/>
          </a:ln>
        </p:spPr>
        <p:txBody>
          <a:bodyPr/>
          <a:lstStyle/>
          <a:p>
            <a:endParaRPr lang="en-KE"/>
          </a:p>
        </p:txBody>
      </p:sp>
      <p:sp>
        <p:nvSpPr>
          <p:cNvPr id="31" name="Shape 29"/>
          <p:cNvSpPr/>
          <p:nvPr/>
        </p:nvSpPr>
        <p:spPr>
          <a:xfrm>
            <a:off x="6126480" y="3495255"/>
            <a:ext cx="230886" cy="208065"/>
          </a:xfrm>
          <a:prstGeom prst="rect">
            <a:avLst/>
          </a:prstGeom>
          <a:solidFill>
            <a:srgbClr val="2E86DE"/>
          </a:solidFill>
          <a:ln w="12700">
            <a:solidFill>
              <a:srgbClr val="2E86DE"/>
            </a:solidFill>
            <a:prstDash val="solid"/>
          </a:ln>
        </p:spPr>
        <p:txBody>
          <a:bodyPr/>
          <a:lstStyle/>
          <a:p>
            <a:endParaRPr lang="en-KE"/>
          </a:p>
        </p:txBody>
      </p:sp>
      <p:sp>
        <p:nvSpPr>
          <p:cNvPr id="32" name="Shape 30"/>
          <p:cNvSpPr/>
          <p:nvPr/>
        </p:nvSpPr>
        <p:spPr>
          <a:xfrm>
            <a:off x="6412230" y="3549887"/>
            <a:ext cx="230886" cy="153433"/>
          </a:xfrm>
          <a:prstGeom prst="rect">
            <a:avLst/>
          </a:prstGeom>
          <a:solidFill>
            <a:srgbClr val="2E86DE"/>
          </a:solidFill>
          <a:ln w="12700">
            <a:solidFill>
              <a:srgbClr val="2E86DE"/>
            </a:solidFill>
            <a:prstDash val="solid"/>
          </a:ln>
        </p:spPr>
        <p:txBody>
          <a:bodyPr/>
          <a:lstStyle/>
          <a:p>
            <a:endParaRPr lang="en-KE"/>
          </a:p>
        </p:txBody>
      </p:sp>
      <p:sp>
        <p:nvSpPr>
          <p:cNvPr id="33" name="Shape 31"/>
          <p:cNvSpPr/>
          <p:nvPr/>
        </p:nvSpPr>
        <p:spPr>
          <a:xfrm>
            <a:off x="6697980" y="3524315"/>
            <a:ext cx="230886" cy="179005"/>
          </a:xfrm>
          <a:prstGeom prst="rect">
            <a:avLst/>
          </a:prstGeom>
          <a:solidFill>
            <a:srgbClr val="2E86DE"/>
          </a:solidFill>
          <a:ln w="12700">
            <a:solidFill>
              <a:srgbClr val="2E86DE"/>
            </a:solidFill>
            <a:prstDash val="solid"/>
          </a:ln>
        </p:spPr>
        <p:txBody>
          <a:bodyPr/>
          <a:lstStyle/>
          <a:p>
            <a:endParaRPr lang="en-KE"/>
          </a:p>
        </p:txBody>
      </p:sp>
      <p:sp>
        <p:nvSpPr>
          <p:cNvPr id="34" name="Shape 32"/>
          <p:cNvSpPr/>
          <p:nvPr/>
        </p:nvSpPr>
        <p:spPr>
          <a:xfrm>
            <a:off x="6983730" y="3494093"/>
            <a:ext cx="230886" cy="209227"/>
          </a:xfrm>
          <a:prstGeom prst="rect">
            <a:avLst/>
          </a:prstGeom>
          <a:solidFill>
            <a:srgbClr val="2E86DE"/>
          </a:solidFill>
          <a:ln w="12700">
            <a:solidFill>
              <a:srgbClr val="2E86DE"/>
            </a:solidFill>
            <a:prstDash val="solid"/>
          </a:ln>
        </p:spPr>
        <p:txBody>
          <a:bodyPr/>
          <a:lstStyle/>
          <a:p>
            <a:endParaRPr lang="en-KE"/>
          </a:p>
        </p:txBody>
      </p:sp>
      <p:sp>
        <p:nvSpPr>
          <p:cNvPr id="35" name="Text 33"/>
          <p:cNvSpPr/>
          <p:nvPr/>
        </p:nvSpPr>
        <p:spPr>
          <a:xfrm>
            <a:off x="4114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J23</a:t>
            </a:r>
            <a:endParaRPr lang="en-US" sz="800" dirty="0"/>
          </a:p>
        </p:txBody>
      </p:sp>
      <p:sp>
        <p:nvSpPr>
          <p:cNvPr id="36" name="Text 34"/>
          <p:cNvSpPr/>
          <p:nvPr/>
        </p:nvSpPr>
        <p:spPr>
          <a:xfrm>
            <a:off x="6972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F</a:t>
            </a:r>
            <a:endParaRPr lang="en-US" sz="800" dirty="0"/>
          </a:p>
        </p:txBody>
      </p:sp>
      <p:sp>
        <p:nvSpPr>
          <p:cNvPr id="37" name="Text 35"/>
          <p:cNvSpPr/>
          <p:nvPr/>
        </p:nvSpPr>
        <p:spPr>
          <a:xfrm>
            <a:off x="9829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M</a:t>
            </a:r>
            <a:endParaRPr lang="en-US" sz="800" dirty="0"/>
          </a:p>
        </p:txBody>
      </p:sp>
      <p:sp>
        <p:nvSpPr>
          <p:cNvPr id="38" name="Text 36"/>
          <p:cNvSpPr/>
          <p:nvPr/>
        </p:nvSpPr>
        <p:spPr>
          <a:xfrm>
            <a:off x="12687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A</a:t>
            </a:r>
            <a:endParaRPr lang="en-US" sz="800" dirty="0"/>
          </a:p>
        </p:txBody>
      </p:sp>
      <p:sp>
        <p:nvSpPr>
          <p:cNvPr id="39" name="Text 37"/>
          <p:cNvSpPr/>
          <p:nvPr/>
        </p:nvSpPr>
        <p:spPr>
          <a:xfrm>
            <a:off x="15544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M</a:t>
            </a:r>
            <a:endParaRPr lang="en-US" sz="800" dirty="0"/>
          </a:p>
        </p:txBody>
      </p:sp>
      <p:sp>
        <p:nvSpPr>
          <p:cNvPr id="40" name="Text 38"/>
          <p:cNvSpPr/>
          <p:nvPr/>
        </p:nvSpPr>
        <p:spPr>
          <a:xfrm>
            <a:off x="18402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J</a:t>
            </a:r>
            <a:endParaRPr lang="en-US" sz="800" dirty="0"/>
          </a:p>
        </p:txBody>
      </p:sp>
      <p:sp>
        <p:nvSpPr>
          <p:cNvPr id="41" name="Text 39"/>
          <p:cNvSpPr/>
          <p:nvPr/>
        </p:nvSpPr>
        <p:spPr>
          <a:xfrm>
            <a:off x="21259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J</a:t>
            </a:r>
            <a:endParaRPr lang="en-US" sz="800" dirty="0"/>
          </a:p>
        </p:txBody>
      </p:sp>
      <p:sp>
        <p:nvSpPr>
          <p:cNvPr id="42" name="Text 40"/>
          <p:cNvSpPr/>
          <p:nvPr/>
        </p:nvSpPr>
        <p:spPr>
          <a:xfrm>
            <a:off x="24117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A</a:t>
            </a:r>
            <a:endParaRPr lang="en-US" sz="800" dirty="0"/>
          </a:p>
        </p:txBody>
      </p:sp>
      <p:sp>
        <p:nvSpPr>
          <p:cNvPr id="43" name="Text 41"/>
          <p:cNvSpPr/>
          <p:nvPr/>
        </p:nvSpPr>
        <p:spPr>
          <a:xfrm>
            <a:off x="26974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S</a:t>
            </a:r>
            <a:endParaRPr lang="en-US" sz="800" dirty="0"/>
          </a:p>
        </p:txBody>
      </p:sp>
      <p:sp>
        <p:nvSpPr>
          <p:cNvPr id="44" name="Text 42"/>
          <p:cNvSpPr/>
          <p:nvPr/>
        </p:nvSpPr>
        <p:spPr>
          <a:xfrm>
            <a:off x="29832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O</a:t>
            </a:r>
            <a:endParaRPr lang="en-US" sz="800" dirty="0"/>
          </a:p>
        </p:txBody>
      </p:sp>
      <p:sp>
        <p:nvSpPr>
          <p:cNvPr id="45" name="Text 43"/>
          <p:cNvSpPr/>
          <p:nvPr/>
        </p:nvSpPr>
        <p:spPr>
          <a:xfrm>
            <a:off x="32689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N</a:t>
            </a:r>
            <a:endParaRPr lang="en-US" sz="800" dirty="0"/>
          </a:p>
        </p:txBody>
      </p:sp>
      <p:sp>
        <p:nvSpPr>
          <p:cNvPr id="46" name="Text 44"/>
          <p:cNvSpPr/>
          <p:nvPr/>
        </p:nvSpPr>
        <p:spPr>
          <a:xfrm>
            <a:off x="35547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D</a:t>
            </a:r>
            <a:endParaRPr lang="en-US" sz="800" dirty="0"/>
          </a:p>
        </p:txBody>
      </p:sp>
      <p:sp>
        <p:nvSpPr>
          <p:cNvPr id="47" name="Text 45"/>
          <p:cNvSpPr/>
          <p:nvPr/>
        </p:nvSpPr>
        <p:spPr>
          <a:xfrm>
            <a:off x="38404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J24</a:t>
            </a:r>
            <a:endParaRPr lang="en-US" sz="800" dirty="0"/>
          </a:p>
        </p:txBody>
      </p:sp>
      <p:sp>
        <p:nvSpPr>
          <p:cNvPr id="48" name="Text 46"/>
          <p:cNvSpPr/>
          <p:nvPr/>
        </p:nvSpPr>
        <p:spPr>
          <a:xfrm>
            <a:off x="41262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F</a:t>
            </a:r>
            <a:endParaRPr lang="en-US" sz="800" dirty="0"/>
          </a:p>
        </p:txBody>
      </p:sp>
      <p:sp>
        <p:nvSpPr>
          <p:cNvPr id="49" name="Text 47"/>
          <p:cNvSpPr/>
          <p:nvPr/>
        </p:nvSpPr>
        <p:spPr>
          <a:xfrm>
            <a:off x="44119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M</a:t>
            </a:r>
            <a:endParaRPr lang="en-US" sz="800" dirty="0"/>
          </a:p>
        </p:txBody>
      </p:sp>
      <p:sp>
        <p:nvSpPr>
          <p:cNvPr id="50" name="Text 48"/>
          <p:cNvSpPr/>
          <p:nvPr/>
        </p:nvSpPr>
        <p:spPr>
          <a:xfrm>
            <a:off x="46977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A</a:t>
            </a:r>
            <a:endParaRPr lang="en-US" sz="800" dirty="0"/>
          </a:p>
        </p:txBody>
      </p:sp>
      <p:sp>
        <p:nvSpPr>
          <p:cNvPr id="51" name="Text 49"/>
          <p:cNvSpPr/>
          <p:nvPr/>
        </p:nvSpPr>
        <p:spPr>
          <a:xfrm>
            <a:off x="49834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M</a:t>
            </a:r>
            <a:endParaRPr lang="en-US" sz="800" dirty="0"/>
          </a:p>
        </p:txBody>
      </p:sp>
      <p:sp>
        <p:nvSpPr>
          <p:cNvPr id="52" name="Text 50"/>
          <p:cNvSpPr/>
          <p:nvPr/>
        </p:nvSpPr>
        <p:spPr>
          <a:xfrm>
            <a:off x="52692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J</a:t>
            </a:r>
            <a:endParaRPr lang="en-US" sz="800" dirty="0"/>
          </a:p>
        </p:txBody>
      </p:sp>
      <p:sp>
        <p:nvSpPr>
          <p:cNvPr id="53" name="Text 51"/>
          <p:cNvSpPr/>
          <p:nvPr/>
        </p:nvSpPr>
        <p:spPr>
          <a:xfrm>
            <a:off x="55549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J</a:t>
            </a:r>
            <a:endParaRPr lang="en-US" sz="800" dirty="0"/>
          </a:p>
        </p:txBody>
      </p:sp>
      <p:sp>
        <p:nvSpPr>
          <p:cNvPr id="54" name="Text 52"/>
          <p:cNvSpPr/>
          <p:nvPr/>
        </p:nvSpPr>
        <p:spPr>
          <a:xfrm>
            <a:off x="58407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A</a:t>
            </a:r>
            <a:endParaRPr lang="en-US" sz="800" dirty="0"/>
          </a:p>
        </p:txBody>
      </p:sp>
      <p:sp>
        <p:nvSpPr>
          <p:cNvPr id="55" name="Text 53"/>
          <p:cNvSpPr/>
          <p:nvPr/>
        </p:nvSpPr>
        <p:spPr>
          <a:xfrm>
            <a:off x="61264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S</a:t>
            </a:r>
            <a:endParaRPr lang="en-US" sz="800" dirty="0"/>
          </a:p>
        </p:txBody>
      </p:sp>
      <p:sp>
        <p:nvSpPr>
          <p:cNvPr id="56" name="Text 54"/>
          <p:cNvSpPr/>
          <p:nvPr/>
        </p:nvSpPr>
        <p:spPr>
          <a:xfrm>
            <a:off x="64122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O</a:t>
            </a:r>
            <a:endParaRPr lang="en-US" sz="800" dirty="0"/>
          </a:p>
        </p:txBody>
      </p:sp>
      <p:sp>
        <p:nvSpPr>
          <p:cNvPr id="57" name="Text 55"/>
          <p:cNvSpPr/>
          <p:nvPr/>
        </p:nvSpPr>
        <p:spPr>
          <a:xfrm>
            <a:off x="669798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N</a:t>
            </a:r>
            <a:endParaRPr lang="en-US" sz="800" dirty="0"/>
          </a:p>
        </p:txBody>
      </p:sp>
      <p:sp>
        <p:nvSpPr>
          <p:cNvPr id="58" name="Text 56"/>
          <p:cNvSpPr/>
          <p:nvPr/>
        </p:nvSpPr>
        <p:spPr>
          <a:xfrm>
            <a:off x="6983730" y="3758184"/>
            <a:ext cx="331470" cy="201168"/>
          </a:xfrm>
          <a:prstGeom prst="rect">
            <a:avLst/>
          </a:prstGeom>
          <a:noFill/>
          <a:ln/>
        </p:spPr>
        <p:txBody>
          <a:bodyPr wrap="square" lIns="0" tIns="0" rIns="0" bIns="0" rtlCol="0" anchor="ctr"/>
          <a:lstStyle/>
          <a:p>
            <a:pPr marL="0" indent="0" algn="ctr">
              <a:buNone/>
            </a:pPr>
            <a:r>
              <a:rPr lang="en-US" sz="800" dirty="0">
                <a:solidFill>
                  <a:srgbClr val="5A7A95"/>
                </a:solidFill>
                <a:latin typeface="Calibri" pitchFamily="34" charset="0"/>
                <a:ea typeface="Calibri" pitchFamily="34" charset="-122"/>
                <a:cs typeface="Calibri" pitchFamily="34" charset="-120"/>
              </a:rPr>
              <a:t>D</a:t>
            </a:r>
            <a:endParaRPr lang="en-US" sz="800" dirty="0"/>
          </a:p>
        </p:txBody>
      </p:sp>
      <p:sp>
        <p:nvSpPr>
          <p:cNvPr id="59" name="Shape 57"/>
          <p:cNvSpPr/>
          <p:nvPr/>
        </p:nvSpPr>
        <p:spPr>
          <a:xfrm>
            <a:off x="8229600" y="2029968"/>
            <a:ext cx="1371600" cy="292608"/>
          </a:xfrm>
          <a:prstGeom prst="rect">
            <a:avLst/>
          </a:prstGeom>
          <a:solidFill>
            <a:srgbClr val="FFEBEE"/>
          </a:solidFill>
          <a:ln w="12700">
            <a:solidFill>
              <a:srgbClr val="B71C1C"/>
            </a:solidFill>
            <a:prstDash val="solid"/>
          </a:ln>
        </p:spPr>
        <p:txBody>
          <a:bodyPr/>
          <a:lstStyle/>
          <a:p>
            <a:endParaRPr lang="en-KE"/>
          </a:p>
        </p:txBody>
      </p:sp>
      <p:sp>
        <p:nvSpPr>
          <p:cNvPr id="60" name="Text 58"/>
          <p:cNvSpPr/>
          <p:nvPr/>
        </p:nvSpPr>
        <p:spPr>
          <a:xfrm>
            <a:off x="8229600" y="2029968"/>
            <a:ext cx="1371600" cy="292608"/>
          </a:xfrm>
          <a:prstGeom prst="rect">
            <a:avLst/>
          </a:prstGeom>
          <a:noFill/>
          <a:ln/>
        </p:spPr>
        <p:txBody>
          <a:bodyPr wrap="square" lIns="25400" tIns="25400" rIns="25400" bIns="25400" rtlCol="0" anchor="ctr"/>
          <a:lstStyle/>
          <a:p>
            <a:pPr marL="0" indent="0" algn="ctr">
              <a:buNone/>
            </a:pPr>
            <a:r>
              <a:rPr lang="en-US" sz="850" b="1" dirty="0">
                <a:solidFill>
                  <a:srgbClr val="B71C1C"/>
                </a:solidFill>
                <a:latin typeface="Calibri" pitchFamily="34" charset="0"/>
                <a:ea typeface="Calibri" pitchFamily="34" charset="-122"/>
                <a:cs typeface="Calibri" pitchFamily="34" charset="-120"/>
              </a:rPr>
              <a:t>Jan 1,416</a:t>
            </a:r>
            <a:endParaRPr lang="en-US" sz="850" dirty="0"/>
          </a:p>
        </p:txBody>
      </p:sp>
      <p:sp>
        <p:nvSpPr>
          <p:cNvPr id="61" name="Shape 59"/>
          <p:cNvSpPr/>
          <p:nvPr/>
        </p:nvSpPr>
        <p:spPr>
          <a:xfrm>
            <a:off x="5257800" y="2029968"/>
            <a:ext cx="1234440" cy="292608"/>
          </a:xfrm>
          <a:prstGeom prst="rect">
            <a:avLst/>
          </a:prstGeom>
          <a:solidFill>
            <a:srgbClr val="FFF3E0"/>
          </a:solidFill>
          <a:ln w="12700">
            <a:solidFill>
              <a:srgbClr val="E65100"/>
            </a:solidFill>
            <a:prstDash val="solid"/>
          </a:ln>
        </p:spPr>
        <p:txBody>
          <a:bodyPr/>
          <a:lstStyle/>
          <a:p>
            <a:endParaRPr lang="en-KE"/>
          </a:p>
        </p:txBody>
      </p:sp>
      <p:sp>
        <p:nvSpPr>
          <p:cNvPr id="62" name="Text 60"/>
          <p:cNvSpPr/>
          <p:nvPr/>
        </p:nvSpPr>
        <p:spPr>
          <a:xfrm>
            <a:off x="5257800" y="2029968"/>
            <a:ext cx="1234440" cy="292608"/>
          </a:xfrm>
          <a:prstGeom prst="rect">
            <a:avLst/>
          </a:prstGeom>
          <a:noFill/>
          <a:ln/>
        </p:spPr>
        <p:txBody>
          <a:bodyPr wrap="square" lIns="25400" tIns="25400" rIns="25400" bIns="25400" rtlCol="0" anchor="ctr"/>
          <a:lstStyle/>
          <a:p>
            <a:pPr marL="0" indent="0" algn="ctr">
              <a:buNone/>
            </a:pPr>
            <a:r>
              <a:rPr lang="en-US" sz="850" b="1" dirty="0">
                <a:solidFill>
                  <a:srgbClr val="E65100"/>
                </a:solidFill>
                <a:latin typeface="Calibri" pitchFamily="34" charset="0"/>
                <a:ea typeface="Calibri" pitchFamily="34" charset="-122"/>
                <a:cs typeface="Calibri" pitchFamily="34" charset="-120"/>
              </a:rPr>
              <a:t>Aug 694</a:t>
            </a:r>
            <a:endParaRPr lang="en-US" sz="850" dirty="0"/>
          </a:p>
        </p:txBody>
      </p:sp>
      <p:sp>
        <p:nvSpPr>
          <p:cNvPr id="63" name="Text 61"/>
          <p:cNvSpPr/>
          <p:nvPr/>
        </p:nvSpPr>
        <p:spPr>
          <a:xfrm>
            <a:off x="438912" y="4315968"/>
            <a:ext cx="6949440" cy="256032"/>
          </a:xfrm>
          <a:prstGeom prst="rect">
            <a:avLst/>
          </a:prstGeom>
          <a:noFill/>
          <a:ln/>
        </p:spPr>
        <p:txBody>
          <a:bodyPr wrap="square" lIns="0" tIns="0" rIns="0" bIns="0" rtlCol="0" anchor="ctr"/>
          <a:lstStyle/>
          <a:p>
            <a:pPr marL="0" indent="0">
              <a:buNone/>
            </a:pPr>
            <a:r>
              <a:rPr lang="en-US" sz="1000" b="1" dirty="0">
                <a:solidFill>
                  <a:srgbClr val="B71C1C"/>
                </a:solidFill>
                <a:latin typeface="Calibri" pitchFamily="34" charset="0"/>
                <a:ea typeface="Calibri" pitchFamily="34" charset="-122"/>
                <a:cs typeface="Calibri" pitchFamily="34" charset="-120"/>
              </a:rPr>
              <a:t>Super-spike: Jan–Feb 2024 = 638% above prior year Q1</a:t>
            </a:r>
            <a:endParaRPr lang="en-US" sz="1000" dirty="0"/>
          </a:p>
        </p:txBody>
      </p:sp>
      <p:sp>
        <p:nvSpPr>
          <p:cNvPr id="64" name="Shape 62"/>
          <p:cNvSpPr/>
          <p:nvPr/>
        </p:nvSpPr>
        <p:spPr>
          <a:xfrm>
            <a:off x="7818120" y="1207008"/>
            <a:ext cx="4114800" cy="175564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65" name="Shape 63"/>
          <p:cNvSpPr/>
          <p:nvPr/>
        </p:nvSpPr>
        <p:spPr>
          <a:xfrm>
            <a:off x="7818120" y="1207008"/>
            <a:ext cx="4114800" cy="64008"/>
          </a:xfrm>
          <a:prstGeom prst="rect">
            <a:avLst/>
          </a:prstGeom>
          <a:solidFill>
            <a:srgbClr val="00897B"/>
          </a:solidFill>
          <a:ln w="12700">
            <a:solidFill>
              <a:srgbClr val="00897B"/>
            </a:solidFill>
            <a:prstDash val="solid"/>
          </a:ln>
        </p:spPr>
        <p:txBody>
          <a:bodyPr/>
          <a:lstStyle/>
          <a:p>
            <a:endParaRPr lang="en-KE"/>
          </a:p>
        </p:txBody>
      </p:sp>
      <p:sp>
        <p:nvSpPr>
          <p:cNvPr id="66" name="Text 64"/>
          <p:cNvSpPr/>
          <p:nvPr/>
        </p:nvSpPr>
        <p:spPr>
          <a:xfrm>
            <a:off x="7955280" y="1371600"/>
            <a:ext cx="457200" cy="411480"/>
          </a:xfrm>
          <a:prstGeom prst="rect">
            <a:avLst/>
          </a:prstGeom>
          <a:noFill/>
          <a:ln/>
        </p:spPr>
        <p:txBody>
          <a:bodyPr wrap="square" lIns="0" tIns="0" rIns="0" bIns="0" rtlCol="0" anchor="ctr"/>
          <a:lstStyle/>
          <a:p>
            <a:pPr marL="0" indent="0">
              <a:buNone/>
            </a:pPr>
            <a:r>
              <a:rPr lang="en-US" sz="1800" dirty="0">
                <a:solidFill>
                  <a:srgbClr val="00897B"/>
                </a:solidFill>
                <a:latin typeface="Calibri" pitchFamily="34" charset="0"/>
                <a:ea typeface="Calibri" pitchFamily="34" charset="-122"/>
                <a:cs typeface="Calibri" pitchFamily="34" charset="-120"/>
              </a:rPr>
              <a:t>📅</a:t>
            </a:r>
            <a:endParaRPr lang="en-US" sz="1800" dirty="0"/>
          </a:p>
        </p:txBody>
      </p:sp>
      <p:sp>
        <p:nvSpPr>
          <p:cNvPr id="67" name="Text 65"/>
          <p:cNvSpPr/>
          <p:nvPr/>
        </p:nvSpPr>
        <p:spPr>
          <a:xfrm>
            <a:off x="8476488" y="1362456"/>
            <a:ext cx="3319272" cy="36576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3 Seasonal Peaks Repeat Every Year</a:t>
            </a:r>
            <a:endParaRPr lang="en-US" sz="1200" dirty="0"/>
          </a:p>
        </p:txBody>
      </p:sp>
      <p:sp>
        <p:nvSpPr>
          <p:cNvPr id="68" name="Text 66"/>
          <p:cNvSpPr/>
          <p:nvPr/>
        </p:nvSpPr>
        <p:spPr>
          <a:xfrm>
            <a:off x="7955280" y="1819656"/>
            <a:ext cx="3840480" cy="1005840"/>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Jan/Feb (semester start), Aug (back-to-school), Dec (year-end prep) — account for 50%+ of annual volume. Highly predictable for capacity planning.</a:t>
            </a:r>
            <a:endParaRPr lang="en-US" sz="1050" dirty="0"/>
          </a:p>
        </p:txBody>
      </p:sp>
      <p:sp>
        <p:nvSpPr>
          <p:cNvPr id="69" name="Shape 67"/>
          <p:cNvSpPr/>
          <p:nvPr/>
        </p:nvSpPr>
        <p:spPr>
          <a:xfrm>
            <a:off x="7818120" y="3108960"/>
            <a:ext cx="4114800" cy="175564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70" name="Shape 68"/>
          <p:cNvSpPr/>
          <p:nvPr/>
        </p:nvSpPr>
        <p:spPr>
          <a:xfrm>
            <a:off x="7818120" y="3108960"/>
            <a:ext cx="4114800" cy="64008"/>
          </a:xfrm>
          <a:prstGeom prst="rect">
            <a:avLst/>
          </a:prstGeom>
          <a:solidFill>
            <a:srgbClr val="1565C0"/>
          </a:solidFill>
          <a:ln w="12700">
            <a:solidFill>
              <a:srgbClr val="1565C0"/>
            </a:solidFill>
            <a:prstDash val="solid"/>
          </a:ln>
        </p:spPr>
        <p:txBody>
          <a:bodyPr/>
          <a:lstStyle/>
          <a:p>
            <a:endParaRPr lang="en-KE"/>
          </a:p>
        </p:txBody>
      </p:sp>
      <p:sp>
        <p:nvSpPr>
          <p:cNvPr id="71" name="Text 69"/>
          <p:cNvSpPr/>
          <p:nvPr/>
        </p:nvSpPr>
        <p:spPr>
          <a:xfrm>
            <a:off x="7955280" y="3273552"/>
            <a:ext cx="457200" cy="411480"/>
          </a:xfrm>
          <a:prstGeom prst="rect">
            <a:avLst/>
          </a:prstGeom>
          <a:noFill/>
          <a:ln/>
        </p:spPr>
        <p:txBody>
          <a:bodyPr wrap="square" lIns="0" tIns="0" rIns="0" bIns="0" rtlCol="0" anchor="ctr"/>
          <a:lstStyle/>
          <a:p>
            <a:pPr marL="0" indent="0">
              <a:buNone/>
            </a:pPr>
            <a:r>
              <a:rPr lang="en-US" sz="1800" dirty="0">
                <a:solidFill>
                  <a:srgbClr val="1565C0"/>
                </a:solidFill>
                <a:latin typeface="Calibri" pitchFamily="34" charset="0"/>
                <a:ea typeface="Calibri" pitchFamily="34" charset="-122"/>
                <a:cs typeface="Calibri" pitchFamily="34" charset="-120"/>
              </a:rPr>
              <a:t>📊</a:t>
            </a:r>
            <a:endParaRPr lang="en-US" sz="1800" dirty="0"/>
          </a:p>
        </p:txBody>
      </p:sp>
      <p:sp>
        <p:nvSpPr>
          <p:cNvPr id="72" name="Text 70"/>
          <p:cNvSpPr/>
          <p:nvPr/>
        </p:nvSpPr>
        <p:spPr>
          <a:xfrm>
            <a:off x="8476488" y="3264408"/>
            <a:ext cx="3319272" cy="36576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Competition +507% · Courses −61%</a:t>
            </a:r>
            <a:endParaRPr lang="en-US" sz="1200" dirty="0"/>
          </a:p>
        </p:txBody>
      </p:sp>
      <p:sp>
        <p:nvSpPr>
          <p:cNvPr id="73" name="Text 71"/>
          <p:cNvSpPr/>
          <p:nvPr/>
        </p:nvSpPr>
        <p:spPr>
          <a:xfrm>
            <a:off x="7955280" y="3721608"/>
            <a:ext cx="3840480" cy="1005840"/>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Learners shifting from passive courses to active project-based experiences. Competitions grew from 59 to 358 apps YoY. Biggest structural shift in the data.</a:t>
            </a:r>
            <a:endParaRPr lang="en-US" sz="1050" dirty="0"/>
          </a:p>
        </p:txBody>
      </p:sp>
      <p:sp>
        <p:nvSpPr>
          <p:cNvPr id="74" name="Shape 72"/>
          <p:cNvSpPr/>
          <p:nvPr/>
        </p:nvSpPr>
        <p:spPr>
          <a:xfrm>
            <a:off x="7818120" y="5010912"/>
            <a:ext cx="4114800" cy="175564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75" name="Shape 73"/>
          <p:cNvSpPr/>
          <p:nvPr/>
        </p:nvSpPr>
        <p:spPr>
          <a:xfrm>
            <a:off x="7818120" y="5010912"/>
            <a:ext cx="4114800" cy="64008"/>
          </a:xfrm>
          <a:prstGeom prst="rect">
            <a:avLst/>
          </a:prstGeom>
          <a:solidFill>
            <a:srgbClr val="E65100"/>
          </a:solidFill>
          <a:ln w="12700">
            <a:solidFill>
              <a:srgbClr val="E65100"/>
            </a:solidFill>
            <a:prstDash val="solid"/>
          </a:ln>
        </p:spPr>
        <p:txBody>
          <a:bodyPr/>
          <a:lstStyle/>
          <a:p>
            <a:endParaRPr lang="en-KE"/>
          </a:p>
        </p:txBody>
      </p:sp>
      <p:sp>
        <p:nvSpPr>
          <p:cNvPr id="76" name="Text 74"/>
          <p:cNvSpPr/>
          <p:nvPr/>
        </p:nvSpPr>
        <p:spPr>
          <a:xfrm>
            <a:off x="7955280" y="5175504"/>
            <a:ext cx="457200" cy="411480"/>
          </a:xfrm>
          <a:prstGeom prst="rect">
            <a:avLst/>
          </a:prstGeom>
          <a:noFill/>
          <a:ln/>
        </p:spPr>
        <p:txBody>
          <a:bodyPr wrap="square" lIns="0" tIns="0" rIns="0" bIns="0" rtlCol="0" anchor="ctr"/>
          <a:lstStyle/>
          <a:p>
            <a:pPr marL="0" indent="0">
              <a:buNone/>
            </a:pPr>
            <a:r>
              <a:rPr lang="en-US" sz="1800" dirty="0">
                <a:solidFill>
                  <a:srgbClr val="E65100"/>
                </a:solidFill>
                <a:latin typeface="Calibri" pitchFamily="34" charset="0"/>
                <a:ea typeface="Calibri" pitchFamily="34" charset="-122"/>
                <a:cs typeface="Calibri" pitchFamily="34" charset="-120"/>
              </a:rPr>
              <a:t>🌍</a:t>
            </a:r>
            <a:endParaRPr lang="en-US" sz="1800" dirty="0"/>
          </a:p>
        </p:txBody>
      </p:sp>
      <p:sp>
        <p:nvSpPr>
          <p:cNvPr id="77" name="Text 75"/>
          <p:cNvSpPr/>
          <p:nvPr/>
        </p:nvSpPr>
        <p:spPr>
          <a:xfrm>
            <a:off x="8476488" y="5166360"/>
            <a:ext cx="3319272" cy="36576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US Doubled · India Plateaued · Nigeria −23%</a:t>
            </a:r>
            <a:endParaRPr lang="en-US" sz="1200" dirty="0"/>
          </a:p>
        </p:txBody>
      </p:sp>
      <p:sp>
        <p:nvSpPr>
          <p:cNvPr id="78" name="Text 76"/>
          <p:cNvSpPr/>
          <p:nvPr/>
        </p:nvSpPr>
        <p:spPr>
          <a:xfrm>
            <a:off x="7955280" y="5623560"/>
            <a:ext cx="3840480" cy="1005840"/>
          </a:xfrm>
          <a:prstGeom prst="rect">
            <a:avLst/>
          </a:prstGeom>
          <a:noFill/>
          <a:ln/>
        </p:spPr>
        <p:txBody>
          <a:bodyPr wrap="square" lIns="0" tIns="0" rIns="0" bIns="0" rtlCol="0" anchor="ctr"/>
          <a:lstStyle/>
          <a:p>
            <a:pPr marL="0" indent="0">
              <a:buNone/>
            </a:pPr>
            <a:r>
              <a:rPr lang="en-US" sz="1050" dirty="0">
                <a:solidFill>
                  <a:srgbClr val="1A2B3C"/>
                </a:solidFill>
                <a:latin typeface="Calibri" pitchFamily="34" charset="0"/>
                <a:ea typeface="Calibri" pitchFamily="34" charset="-122"/>
                <a:cs typeface="Calibri" pitchFamily="34" charset="-120"/>
              </a:rPr>
              <a:t>US learners grew 106% (1,217→2,506). India stagnated (+3.5%). Nigeria declined 23%. The platform is becoming progressively more US-centric.</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600" y="73152"/>
            <a:ext cx="2743200" cy="256032"/>
          </a:xfrm>
          <a:prstGeom prst="rect">
            <a:avLst/>
          </a:prstGeom>
          <a:noFill/>
          <a:ln/>
        </p:spPr>
        <p:txBody>
          <a:bodyPr wrap="square" lIns="0" tIns="0" rIns="0" bIns="0" rtlCol="0" anchor="ctr"/>
          <a:lstStyle/>
          <a:p>
            <a:pPr marL="0" indent="0">
              <a:buNone/>
            </a:pPr>
            <a:r>
              <a:rPr lang="en-US" sz="900" b="1" kern="0" spc="400" dirty="0">
                <a:solidFill>
                  <a:srgbClr val="4DB6AC"/>
                </a:solidFill>
                <a:latin typeface="Calibri" pitchFamily="34" charset="0"/>
                <a:ea typeface="Calibri" pitchFamily="34" charset="-122"/>
                <a:cs typeface="Calibri" pitchFamily="34" charset="-120"/>
              </a:rPr>
              <a:t>WEEK 3  ·  CHURN ANALYSIS</a:t>
            </a:r>
            <a:endParaRPr lang="en-US" sz="9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Churn Problem</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14.65% of engaged learners drop out — but the reality is far more concentrated than it appears</a:t>
            </a:r>
            <a:endParaRPr lang="en-US" sz="1100" dirty="0"/>
          </a:p>
        </p:txBody>
      </p:sp>
      <p:sp>
        <p:nvSpPr>
          <p:cNvPr id="7" name="Shape 5"/>
          <p:cNvSpPr/>
          <p:nvPr/>
        </p:nvSpPr>
        <p:spPr>
          <a:xfrm>
            <a:off x="228600" y="1207008"/>
            <a:ext cx="3749040" cy="5349240"/>
          </a:xfrm>
          <a:prstGeom prst="rect">
            <a:avLst/>
          </a:prstGeom>
          <a:solidFill>
            <a:srgbClr val="0B2545"/>
          </a:solidFill>
          <a:ln w="12700">
            <a:solidFill>
              <a:srgbClr val="0B2545"/>
            </a:solidFill>
            <a:prstDash val="solid"/>
          </a:ln>
          <a:effectLst>
            <a:outerShdw blurRad="127000" dist="50800" dir="8100000" algn="bl" rotWithShape="0">
              <a:srgbClr val="000000">
                <a:alpha val="15000"/>
              </a:srgbClr>
            </a:outerShdw>
          </a:effectLst>
        </p:spPr>
        <p:txBody>
          <a:bodyPr/>
          <a:lstStyle/>
          <a:p>
            <a:endParaRPr lang="en-KE"/>
          </a:p>
        </p:txBody>
      </p:sp>
      <p:sp>
        <p:nvSpPr>
          <p:cNvPr id="8" name="Text 6"/>
          <p:cNvSpPr/>
          <p:nvPr/>
        </p:nvSpPr>
        <p:spPr>
          <a:xfrm>
            <a:off x="320040" y="1508760"/>
            <a:ext cx="3566160" cy="128016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14.65%</a:t>
            </a:r>
            <a:endParaRPr lang="en-US" sz="7200" dirty="0"/>
          </a:p>
        </p:txBody>
      </p:sp>
      <p:sp>
        <p:nvSpPr>
          <p:cNvPr id="9" name="Text 7"/>
          <p:cNvSpPr/>
          <p:nvPr/>
        </p:nvSpPr>
        <p:spPr>
          <a:xfrm>
            <a:off x="320040" y="2651760"/>
            <a:ext cx="3566160" cy="411480"/>
          </a:xfrm>
          <a:prstGeom prst="rect">
            <a:avLst/>
          </a:prstGeom>
          <a:noFill/>
          <a:ln/>
        </p:spPr>
        <p:txBody>
          <a:bodyPr wrap="square" lIns="0" tIns="0" rIns="0" bIns="0" rtlCol="0" anchor="ctr"/>
          <a:lstStyle/>
          <a:p>
            <a:pPr marL="0" indent="0" algn="ctr">
              <a:buNone/>
            </a:pPr>
            <a:r>
              <a:rPr lang="en-US" sz="1400" dirty="0">
                <a:solidFill>
                  <a:srgbClr val="4DB6AC"/>
                </a:solidFill>
                <a:latin typeface="Calibri" pitchFamily="34" charset="0"/>
                <a:ea typeface="Calibri" pitchFamily="34" charset="-122"/>
                <a:cs typeface="Calibri" pitchFamily="34" charset="-120"/>
              </a:rPr>
              <a:t>Overall Churn Rate</a:t>
            </a:r>
            <a:endParaRPr lang="en-US" sz="1400" dirty="0"/>
          </a:p>
        </p:txBody>
      </p:sp>
      <p:sp>
        <p:nvSpPr>
          <p:cNvPr id="10" name="Shape 8"/>
          <p:cNvSpPr/>
          <p:nvPr/>
        </p:nvSpPr>
        <p:spPr>
          <a:xfrm>
            <a:off x="502920" y="3218688"/>
            <a:ext cx="3200400" cy="0"/>
          </a:xfrm>
          <a:prstGeom prst="line">
            <a:avLst/>
          </a:prstGeom>
          <a:noFill/>
          <a:ln w="12700">
            <a:solidFill>
              <a:srgbClr val="1E3A5F"/>
            </a:solidFill>
            <a:prstDash val="solid"/>
          </a:ln>
        </p:spPr>
        <p:txBody>
          <a:bodyPr/>
          <a:lstStyle/>
          <a:p>
            <a:endParaRPr lang="en-KE"/>
          </a:p>
        </p:txBody>
      </p:sp>
      <p:sp>
        <p:nvSpPr>
          <p:cNvPr id="11" name="Text 9"/>
          <p:cNvSpPr/>
          <p:nvPr/>
        </p:nvSpPr>
        <p:spPr>
          <a:xfrm>
            <a:off x="320040" y="3401568"/>
            <a:ext cx="3566160" cy="402336"/>
          </a:xfrm>
          <a:prstGeom prst="rect">
            <a:avLst/>
          </a:prstGeom>
          <a:noFill/>
          <a:ln/>
        </p:spPr>
        <p:txBody>
          <a:bodyPr wrap="square" lIns="0" tIns="0" rIns="0" bIns="0" rtlCol="0" anchor="ctr"/>
          <a:lstStyle/>
          <a:p>
            <a:pPr marL="0" indent="0" algn="ctr">
              <a:buNone/>
            </a:pPr>
            <a:r>
              <a:rPr lang="en-US" sz="2600" b="1" dirty="0">
                <a:solidFill>
                  <a:srgbClr val="B71C1C"/>
                </a:solidFill>
                <a:latin typeface="Calibri" pitchFamily="34" charset="0"/>
                <a:ea typeface="Calibri" pitchFamily="34" charset="-122"/>
                <a:cs typeface="Calibri" pitchFamily="34" charset="-120"/>
              </a:rPr>
              <a:t>699</a:t>
            </a:r>
            <a:endParaRPr lang="en-US" sz="2600" dirty="0"/>
          </a:p>
        </p:txBody>
      </p:sp>
      <p:sp>
        <p:nvSpPr>
          <p:cNvPr id="12" name="Text 10"/>
          <p:cNvSpPr/>
          <p:nvPr/>
        </p:nvSpPr>
        <p:spPr>
          <a:xfrm>
            <a:off x="320040" y="3785616"/>
            <a:ext cx="3566160" cy="256032"/>
          </a:xfrm>
          <a:prstGeom prst="rect">
            <a:avLst/>
          </a:prstGeom>
          <a:noFill/>
          <a:ln/>
        </p:spPr>
        <p:txBody>
          <a:bodyPr wrap="square" lIns="0" tIns="0" rIns="0" bIns="0" rtlCol="0" anchor="ctr"/>
          <a:lstStyle/>
          <a:p>
            <a:pPr marL="0" indent="0" algn="ctr">
              <a:buNone/>
            </a:pPr>
            <a:r>
              <a:rPr lang="en-US" sz="1000" dirty="0">
                <a:solidFill>
                  <a:srgbClr val="8CAABF"/>
                </a:solidFill>
                <a:latin typeface="Calibri" pitchFamily="34" charset="0"/>
                <a:ea typeface="Calibri" pitchFamily="34" charset="-122"/>
                <a:cs typeface="Calibri" pitchFamily="34" charset="-120"/>
              </a:rPr>
              <a:t>Learners Lost</a:t>
            </a:r>
            <a:endParaRPr lang="en-US" sz="1000" dirty="0"/>
          </a:p>
        </p:txBody>
      </p:sp>
      <p:sp>
        <p:nvSpPr>
          <p:cNvPr id="13" name="Text 11"/>
          <p:cNvSpPr/>
          <p:nvPr/>
        </p:nvSpPr>
        <p:spPr>
          <a:xfrm>
            <a:off x="320040" y="4151376"/>
            <a:ext cx="3566160" cy="402336"/>
          </a:xfrm>
          <a:prstGeom prst="rect">
            <a:avLst/>
          </a:prstGeom>
          <a:noFill/>
          <a:ln/>
        </p:spPr>
        <p:txBody>
          <a:bodyPr wrap="square" lIns="0" tIns="0" rIns="0" bIns="0" rtlCol="0" anchor="ctr"/>
          <a:lstStyle/>
          <a:p>
            <a:pPr marL="0" indent="0" algn="ctr">
              <a:buNone/>
            </a:pPr>
            <a:r>
              <a:rPr lang="en-US" sz="2600" b="1" dirty="0">
                <a:solidFill>
                  <a:srgbClr val="00897B"/>
                </a:solidFill>
                <a:latin typeface="Calibri" pitchFamily="34" charset="0"/>
                <a:ea typeface="Calibri" pitchFamily="34" charset="-122"/>
                <a:cs typeface="Calibri" pitchFamily="34" charset="-120"/>
              </a:rPr>
              <a:t>4,742</a:t>
            </a:r>
            <a:endParaRPr lang="en-US" sz="2600" dirty="0"/>
          </a:p>
        </p:txBody>
      </p:sp>
      <p:sp>
        <p:nvSpPr>
          <p:cNvPr id="14" name="Text 12"/>
          <p:cNvSpPr/>
          <p:nvPr/>
        </p:nvSpPr>
        <p:spPr>
          <a:xfrm>
            <a:off x="320040" y="4535424"/>
            <a:ext cx="3566160" cy="256032"/>
          </a:xfrm>
          <a:prstGeom prst="rect">
            <a:avLst/>
          </a:prstGeom>
          <a:noFill/>
          <a:ln/>
        </p:spPr>
        <p:txBody>
          <a:bodyPr wrap="square" lIns="0" tIns="0" rIns="0" bIns="0" rtlCol="0" anchor="ctr"/>
          <a:lstStyle/>
          <a:p>
            <a:pPr marL="0" indent="0" algn="ctr">
              <a:buNone/>
            </a:pPr>
            <a:r>
              <a:rPr lang="en-US" sz="1000" dirty="0">
                <a:solidFill>
                  <a:srgbClr val="8CAABF"/>
                </a:solidFill>
                <a:latin typeface="Calibri" pitchFamily="34" charset="0"/>
                <a:ea typeface="Calibri" pitchFamily="34" charset="-122"/>
                <a:cs typeface="Calibri" pitchFamily="34" charset="-120"/>
              </a:rPr>
              <a:t>Engaged Total</a:t>
            </a:r>
            <a:endParaRPr lang="en-US" sz="1000" dirty="0"/>
          </a:p>
        </p:txBody>
      </p:sp>
      <p:sp>
        <p:nvSpPr>
          <p:cNvPr id="15" name="Text 13"/>
          <p:cNvSpPr/>
          <p:nvPr/>
        </p:nvSpPr>
        <p:spPr>
          <a:xfrm>
            <a:off x="320040" y="4901184"/>
            <a:ext cx="3566160" cy="402336"/>
          </a:xfrm>
          <a:prstGeom prst="rect">
            <a:avLst/>
          </a:prstGeom>
          <a:noFill/>
          <a:ln/>
        </p:spPr>
        <p:txBody>
          <a:bodyPr wrap="square" lIns="0" tIns="0" rIns="0" bIns="0" rtlCol="0" anchor="ctr"/>
          <a:lstStyle/>
          <a:p>
            <a:pPr marL="0" indent="0" algn="ctr">
              <a:buNone/>
            </a:pPr>
            <a:r>
              <a:rPr lang="en-US" sz="2600" b="1" dirty="0">
                <a:solidFill>
                  <a:srgbClr val="2E7D32"/>
                </a:solidFill>
                <a:latin typeface="Calibri" pitchFamily="34" charset="0"/>
                <a:ea typeface="Calibri" pitchFamily="34" charset="-122"/>
                <a:cs typeface="Calibri" pitchFamily="34" charset="-120"/>
              </a:rPr>
              <a:t>85.3%</a:t>
            </a:r>
            <a:endParaRPr lang="en-US" sz="2600" dirty="0"/>
          </a:p>
        </p:txBody>
      </p:sp>
      <p:sp>
        <p:nvSpPr>
          <p:cNvPr id="16" name="Text 14"/>
          <p:cNvSpPr/>
          <p:nvPr/>
        </p:nvSpPr>
        <p:spPr>
          <a:xfrm>
            <a:off x="320040" y="5285232"/>
            <a:ext cx="3566160" cy="256032"/>
          </a:xfrm>
          <a:prstGeom prst="rect">
            <a:avLst/>
          </a:prstGeom>
          <a:noFill/>
          <a:ln/>
        </p:spPr>
        <p:txBody>
          <a:bodyPr wrap="square" lIns="0" tIns="0" rIns="0" bIns="0" rtlCol="0" anchor="ctr"/>
          <a:lstStyle/>
          <a:p>
            <a:pPr marL="0" indent="0" algn="ctr">
              <a:buNone/>
            </a:pPr>
            <a:r>
              <a:rPr lang="en-US" sz="1000" dirty="0">
                <a:solidFill>
                  <a:srgbClr val="8CAABF"/>
                </a:solidFill>
                <a:latin typeface="Calibri" pitchFamily="34" charset="0"/>
                <a:ea typeface="Calibri" pitchFamily="34" charset="-122"/>
                <a:cs typeface="Calibri" pitchFamily="34" charset="-120"/>
              </a:rPr>
              <a:t>Retention Rate</a:t>
            </a:r>
            <a:endParaRPr lang="en-US" sz="1000" dirty="0"/>
          </a:p>
        </p:txBody>
      </p:sp>
      <p:sp>
        <p:nvSpPr>
          <p:cNvPr id="17" name="Shape 15"/>
          <p:cNvSpPr/>
          <p:nvPr/>
        </p:nvSpPr>
        <p:spPr>
          <a:xfrm>
            <a:off x="4206240" y="1207008"/>
            <a:ext cx="4023360" cy="534924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18" name="Shape 16"/>
          <p:cNvSpPr/>
          <p:nvPr/>
        </p:nvSpPr>
        <p:spPr>
          <a:xfrm>
            <a:off x="4206240" y="1207008"/>
            <a:ext cx="64008" cy="5349240"/>
          </a:xfrm>
          <a:prstGeom prst="rect">
            <a:avLst/>
          </a:prstGeom>
          <a:solidFill>
            <a:srgbClr val="B71C1C"/>
          </a:solidFill>
          <a:ln w="12700">
            <a:solidFill>
              <a:srgbClr val="B71C1C"/>
            </a:solidFill>
            <a:prstDash val="solid"/>
          </a:ln>
        </p:spPr>
        <p:txBody>
          <a:bodyPr/>
          <a:lstStyle/>
          <a:p>
            <a:endParaRPr lang="en-KE"/>
          </a:p>
        </p:txBody>
      </p:sp>
      <p:sp>
        <p:nvSpPr>
          <p:cNvPr id="19" name="Text 17"/>
          <p:cNvSpPr/>
          <p:nvPr/>
        </p:nvSpPr>
        <p:spPr>
          <a:xfrm>
            <a:off x="4407408" y="1325880"/>
            <a:ext cx="3657600" cy="347472"/>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Churn Rate by Category</a:t>
            </a:r>
            <a:endParaRPr lang="en-US" sz="1250" dirty="0"/>
          </a:p>
        </p:txBody>
      </p:sp>
      <p:sp>
        <p:nvSpPr>
          <p:cNvPr id="20" name="Text 18"/>
          <p:cNvSpPr/>
          <p:nvPr/>
        </p:nvSpPr>
        <p:spPr>
          <a:xfrm>
            <a:off x="4407408" y="1691640"/>
            <a:ext cx="3657600" cy="256032"/>
          </a:xfrm>
          <a:prstGeom prst="rect">
            <a:avLst/>
          </a:prstGeom>
          <a:noFill/>
          <a:ln/>
        </p:spPr>
        <p:txBody>
          <a:bodyPr wrap="square" lIns="0" tIns="0" rIns="0" bIns="0" rtlCol="0" anchor="ctr"/>
          <a:lstStyle/>
          <a:p>
            <a:pPr marL="0" indent="0">
              <a:buNone/>
            </a:pPr>
            <a:r>
              <a:rPr lang="en-US" sz="1000" b="1" dirty="0">
                <a:solidFill>
                  <a:srgbClr val="B71C1C"/>
                </a:solidFill>
                <a:latin typeface="Calibri" pitchFamily="34" charset="0"/>
                <a:ea typeface="Calibri" pitchFamily="34" charset="-122"/>
                <a:cs typeface="Calibri" pitchFamily="34" charset="-120"/>
              </a:rPr>
              <a:t>95.5% of all churn comes from ONE category</a:t>
            </a:r>
            <a:endParaRPr lang="en-US" sz="1000" dirty="0"/>
          </a:p>
        </p:txBody>
      </p:sp>
      <p:sp>
        <p:nvSpPr>
          <p:cNvPr id="21" name="Text 19"/>
          <p:cNvSpPr/>
          <p:nvPr/>
        </p:nvSpPr>
        <p:spPr>
          <a:xfrm>
            <a:off x="4407408" y="2148840"/>
            <a:ext cx="132588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Internship</a:t>
            </a:r>
            <a:endParaRPr lang="en-US" sz="1050" dirty="0"/>
          </a:p>
        </p:txBody>
      </p:sp>
      <p:sp>
        <p:nvSpPr>
          <p:cNvPr id="22" name="Shape 20"/>
          <p:cNvSpPr/>
          <p:nvPr/>
        </p:nvSpPr>
        <p:spPr>
          <a:xfrm>
            <a:off x="5824728" y="2194560"/>
            <a:ext cx="2404872" cy="201168"/>
          </a:xfrm>
          <a:prstGeom prst="rect">
            <a:avLst/>
          </a:prstGeom>
          <a:solidFill>
            <a:srgbClr val="F0F4F8"/>
          </a:solidFill>
          <a:ln w="12700">
            <a:solidFill>
              <a:srgbClr val="CBD5E0"/>
            </a:solidFill>
            <a:prstDash val="solid"/>
          </a:ln>
        </p:spPr>
        <p:txBody>
          <a:bodyPr/>
          <a:lstStyle/>
          <a:p>
            <a:endParaRPr lang="en-KE"/>
          </a:p>
        </p:txBody>
      </p:sp>
      <p:sp>
        <p:nvSpPr>
          <p:cNvPr id="23" name="Shape 21"/>
          <p:cNvSpPr/>
          <p:nvPr/>
        </p:nvSpPr>
        <p:spPr>
          <a:xfrm>
            <a:off x="5824728" y="2194560"/>
            <a:ext cx="1037478" cy="228600"/>
          </a:xfrm>
          <a:prstGeom prst="rect">
            <a:avLst/>
          </a:prstGeom>
          <a:solidFill>
            <a:srgbClr val="B71C1C"/>
          </a:solidFill>
          <a:ln w="12700">
            <a:solidFill>
              <a:srgbClr val="B71C1C"/>
            </a:solidFill>
            <a:prstDash val="solid"/>
          </a:ln>
        </p:spPr>
        <p:txBody>
          <a:bodyPr/>
          <a:lstStyle/>
          <a:p>
            <a:endParaRPr lang="en-KE"/>
          </a:p>
        </p:txBody>
      </p:sp>
      <p:sp>
        <p:nvSpPr>
          <p:cNvPr id="24" name="Text 22"/>
          <p:cNvSpPr/>
          <p:nvPr/>
        </p:nvSpPr>
        <p:spPr>
          <a:xfrm>
            <a:off x="6917070" y="2185416"/>
            <a:ext cx="548640" cy="256032"/>
          </a:xfrm>
          <a:prstGeom prst="rect">
            <a:avLst/>
          </a:prstGeom>
          <a:noFill/>
          <a:ln/>
        </p:spPr>
        <p:txBody>
          <a:bodyPr wrap="square" lIns="0" tIns="0" rIns="0" bIns="0" rtlCol="0" anchor="ctr"/>
          <a:lstStyle/>
          <a:p>
            <a:pPr marL="0" indent="0">
              <a:buNone/>
            </a:pPr>
            <a:r>
              <a:rPr lang="en-US" sz="1000" b="1" dirty="0">
                <a:solidFill>
                  <a:srgbClr val="B71C1C"/>
                </a:solidFill>
                <a:latin typeface="Calibri" pitchFamily="34" charset="0"/>
                <a:ea typeface="Calibri" pitchFamily="34" charset="-122"/>
                <a:cs typeface="Calibri" pitchFamily="34" charset="-120"/>
              </a:rPr>
              <a:t>36.6%</a:t>
            </a:r>
            <a:endParaRPr lang="en-US" sz="1000" dirty="0"/>
          </a:p>
        </p:txBody>
      </p:sp>
      <p:sp>
        <p:nvSpPr>
          <p:cNvPr id="25" name="Text 23"/>
          <p:cNvSpPr/>
          <p:nvPr/>
        </p:nvSpPr>
        <p:spPr>
          <a:xfrm>
            <a:off x="4407408" y="2880360"/>
            <a:ext cx="132588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Competition</a:t>
            </a:r>
            <a:endParaRPr lang="en-US" sz="1050" dirty="0"/>
          </a:p>
        </p:txBody>
      </p:sp>
      <p:sp>
        <p:nvSpPr>
          <p:cNvPr id="26" name="Shape 24"/>
          <p:cNvSpPr/>
          <p:nvPr/>
        </p:nvSpPr>
        <p:spPr>
          <a:xfrm>
            <a:off x="5824728" y="2926080"/>
            <a:ext cx="2404872" cy="219456"/>
          </a:xfrm>
          <a:prstGeom prst="rect">
            <a:avLst/>
          </a:prstGeom>
          <a:solidFill>
            <a:srgbClr val="F0F4F8"/>
          </a:solidFill>
          <a:ln w="12700">
            <a:solidFill>
              <a:srgbClr val="CBD5E0"/>
            </a:solidFill>
            <a:prstDash val="solid"/>
          </a:ln>
        </p:spPr>
        <p:txBody>
          <a:bodyPr/>
          <a:lstStyle/>
          <a:p>
            <a:endParaRPr lang="en-KE"/>
          </a:p>
        </p:txBody>
      </p:sp>
      <p:sp>
        <p:nvSpPr>
          <p:cNvPr id="27" name="Shape 25"/>
          <p:cNvSpPr/>
          <p:nvPr/>
        </p:nvSpPr>
        <p:spPr>
          <a:xfrm>
            <a:off x="5824728" y="2926080"/>
            <a:ext cx="45720" cy="228600"/>
          </a:xfrm>
          <a:prstGeom prst="rect">
            <a:avLst/>
          </a:prstGeom>
          <a:solidFill>
            <a:srgbClr val="1565C0"/>
          </a:solidFill>
          <a:ln w="12700">
            <a:solidFill>
              <a:srgbClr val="1565C0"/>
            </a:solidFill>
            <a:prstDash val="solid"/>
          </a:ln>
        </p:spPr>
        <p:txBody>
          <a:bodyPr/>
          <a:lstStyle/>
          <a:p>
            <a:endParaRPr lang="en-KE"/>
          </a:p>
        </p:txBody>
      </p:sp>
      <p:sp>
        <p:nvSpPr>
          <p:cNvPr id="28" name="Text 26"/>
          <p:cNvSpPr/>
          <p:nvPr/>
        </p:nvSpPr>
        <p:spPr>
          <a:xfrm>
            <a:off x="5925312" y="2916936"/>
            <a:ext cx="548640" cy="256032"/>
          </a:xfrm>
          <a:prstGeom prst="rect">
            <a:avLst/>
          </a:prstGeom>
          <a:noFill/>
          <a:ln/>
        </p:spPr>
        <p:txBody>
          <a:bodyPr wrap="square" lIns="0" tIns="0" rIns="0" bIns="0"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1.4%</a:t>
            </a:r>
            <a:endParaRPr lang="en-US" sz="1000" dirty="0"/>
          </a:p>
        </p:txBody>
      </p:sp>
      <p:sp>
        <p:nvSpPr>
          <p:cNvPr id="29" name="Text 27"/>
          <p:cNvSpPr/>
          <p:nvPr/>
        </p:nvSpPr>
        <p:spPr>
          <a:xfrm>
            <a:off x="4407408" y="3611880"/>
            <a:ext cx="132588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Course</a:t>
            </a:r>
            <a:endParaRPr lang="en-US" sz="1050" dirty="0"/>
          </a:p>
        </p:txBody>
      </p:sp>
      <p:sp>
        <p:nvSpPr>
          <p:cNvPr id="30" name="Shape 28"/>
          <p:cNvSpPr/>
          <p:nvPr/>
        </p:nvSpPr>
        <p:spPr>
          <a:xfrm>
            <a:off x="5824728" y="3657600"/>
            <a:ext cx="2404872" cy="228600"/>
          </a:xfrm>
          <a:prstGeom prst="rect">
            <a:avLst/>
          </a:prstGeom>
          <a:solidFill>
            <a:srgbClr val="F0F4F8"/>
          </a:solidFill>
          <a:ln w="12700">
            <a:solidFill>
              <a:srgbClr val="CBD5E0"/>
            </a:solidFill>
            <a:prstDash val="solid"/>
          </a:ln>
        </p:spPr>
        <p:txBody>
          <a:bodyPr/>
          <a:lstStyle/>
          <a:p>
            <a:endParaRPr lang="en-KE"/>
          </a:p>
        </p:txBody>
      </p:sp>
      <p:sp>
        <p:nvSpPr>
          <p:cNvPr id="31" name="Shape 29"/>
          <p:cNvSpPr/>
          <p:nvPr/>
        </p:nvSpPr>
        <p:spPr>
          <a:xfrm>
            <a:off x="5824728" y="3657600"/>
            <a:ext cx="45720" cy="228600"/>
          </a:xfrm>
          <a:prstGeom prst="rect">
            <a:avLst/>
          </a:prstGeom>
          <a:solidFill>
            <a:srgbClr val="1565C0"/>
          </a:solidFill>
          <a:ln w="12700">
            <a:solidFill>
              <a:srgbClr val="1565C0"/>
            </a:solidFill>
            <a:prstDash val="solid"/>
          </a:ln>
        </p:spPr>
        <p:txBody>
          <a:bodyPr/>
          <a:lstStyle/>
          <a:p>
            <a:endParaRPr lang="en-KE"/>
          </a:p>
        </p:txBody>
      </p:sp>
      <p:sp>
        <p:nvSpPr>
          <p:cNvPr id="32" name="Text 30"/>
          <p:cNvSpPr/>
          <p:nvPr/>
        </p:nvSpPr>
        <p:spPr>
          <a:xfrm>
            <a:off x="5925312" y="3648456"/>
            <a:ext cx="548640" cy="256032"/>
          </a:xfrm>
          <a:prstGeom prst="rect">
            <a:avLst/>
          </a:prstGeom>
          <a:noFill/>
          <a:ln/>
        </p:spPr>
        <p:txBody>
          <a:bodyPr wrap="square" lIns="0" tIns="0" rIns="0" bIns="0"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1.3%</a:t>
            </a:r>
            <a:endParaRPr lang="en-US" sz="1000" dirty="0"/>
          </a:p>
        </p:txBody>
      </p:sp>
      <p:sp>
        <p:nvSpPr>
          <p:cNvPr id="33" name="Text 31"/>
          <p:cNvSpPr/>
          <p:nvPr/>
        </p:nvSpPr>
        <p:spPr>
          <a:xfrm>
            <a:off x="4407408" y="4343400"/>
            <a:ext cx="132588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Event</a:t>
            </a:r>
            <a:endParaRPr lang="en-US" sz="1050" dirty="0"/>
          </a:p>
        </p:txBody>
      </p:sp>
      <p:sp>
        <p:nvSpPr>
          <p:cNvPr id="34" name="Shape 32"/>
          <p:cNvSpPr/>
          <p:nvPr/>
        </p:nvSpPr>
        <p:spPr>
          <a:xfrm>
            <a:off x="5824728" y="4389120"/>
            <a:ext cx="2359152" cy="201168"/>
          </a:xfrm>
          <a:prstGeom prst="rect">
            <a:avLst/>
          </a:prstGeom>
          <a:solidFill>
            <a:srgbClr val="F0F4F8"/>
          </a:solidFill>
          <a:ln w="12700">
            <a:solidFill>
              <a:srgbClr val="CBD5E0"/>
            </a:solidFill>
            <a:prstDash val="solid"/>
          </a:ln>
        </p:spPr>
        <p:txBody>
          <a:bodyPr/>
          <a:lstStyle/>
          <a:p>
            <a:endParaRPr lang="en-KE"/>
          </a:p>
        </p:txBody>
      </p:sp>
      <p:sp>
        <p:nvSpPr>
          <p:cNvPr id="35" name="Shape 33"/>
          <p:cNvSpPr/>
          <p:nvPr/>
        </p:nvSpPr>
        <p:spPr>
          <a:xfrm>
            <a:off x="5824728" y="4389120"/>
            <a:ext cx="45720" cy="228600"/>
          </a:xfrm>
          <a:prstGeom prst="rect">
            <a:avLst/>
          </a:prstGeom>
          <a:solidFill>
            <a:srgbClr val="2E7D32"/>
          </a:solidFill>
          <a:ln w="12700">
            <a:solidFill>
              <a:srgbClr val="2E7D32"/>
            </a:solidFill>
            <a:prstDash val="solid"/>
          </a:ln>
        </p:spPr>
        <p:txBody>
          <a:bodyPr/>
          <a:lstStyle/>
          <a:p>
            <a:endParaRPr lang="en-KE"/>
          </a:p>
        </p:txBody>
      </p:sp>
      <p:sp>
        <p:nvSpPr>
          <p:cNvPr id="36" name="Text 34"/>
          <p:cNvSpPr/>
          <p:nvPr/>
        </p:nvSpPr>
        <p:spPr>
          <a:xfrm>
            <a:off x="5925312" y="4379976"/>
            <a:ext cx="548640" cy="256032"/>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0.4%</a:t>
            </a:r>
            <a:endParaRPr lang="en-US" sz="1000" dirty="0"/>
          </a:p>
        </p:txBody>
      </p:sp>
      <p:sp>
        <p:nvSpPr>
          <p:cNvPr id="37" name="Text 35"/>
          <p:cNvSpPr/>
          <p:nvPr/>
        </p:nvSpPr>
        <p:spPr>
          <a:xfrm>
            <a:off x="4407408" y="5074920"/>
            <a:ext cx="1325880" cy="310896"/>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Engagement</a:t>
            </a:r>
            <a:endParaRPr lang="en-US" sz="1050" dirty="0"/>
          </a:p>
        </p:txBody>
      </p:sp>
      <p:sp>
        <p:nvSpPr>
          <p:cNvPr id="38" name="Shape 36"/>
          <p:cNvSpPr/>
          <p:nvPr/>
        </p:nvSpPr>
        <p:spPr>
          <a:xfrm>
            <a:off x="5824728" y="5120640"/>
            <a:ext cx="2359152" cy="246888"/>
          </a:xfrm>
          <a:prstGeom prst="rect">
            <a:avLst/>
          </a:prstGeom>
          <a:solidFill>
            <a:srgbClr val="F0F4F8"/>
          </a:solidFill>
          <a:ln w="12700">
            <a:solidFill>
              <a:srgbClr val="CBD5E0"/>
            </a:solidFill>
            <a:prstDash val="solid"/>
          </a:ln>
        </p:spPr>
        <p:txBody>
          <a:bodyPr/>
          <a:lstStyle/>
          <a:p>
            <a:endParaRPr lang="en-KE"/>
          </a:p>
        </p:txBody>
      </p:sp>
      <p:sp>
        <p:nvSpPr>
          <p:cNvPr id="39" name="Shape 37"/>
          <p:cNvSpPr/>
          <p:nvPr/>
        </p:nvSpPr>
        <p:spPr>
          <a:xfrm>
            <a:off x="5824728" y="5120640"/>
            <a:ext cx="45720" cy="228600"/>
          </a:xfrm>
          <a:prstGeom prst="rect">
            <a:avLst/>
          </a:prstGeom>
          <a:solidFill>
            <a:srgbClr val="2E7D32"/>
          </a:solidFill>
          <a:ln w="12700">
            <a:solidFill>
              <a:srgbClr val="2E7D32"/>
            </a:solidFill>
            <a:prstDash val="solid"/>
          </a:ln>
        </p:spPr>
        <p:txBody>
          <a:bodyPr/>
          <a:lstStyle/>
          <a:p>
            <a:endParaRPr lang="en-KE"/>
          </a:p>
        </p:txBody>
      </p:sp>
      <p:sp>
        <p:nvSpPr>
          <p:cNvPr id="40" name="Text 38"/>
          <p:cNvSpPr/>
          <p:nvPr/>
        </p:nvSpPr>
        <p:spPr>
          <a:xfrm>
            <a:off x="5925312" y="5111496"/>
            <a:ext cx="548640" cy="256032"/>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0%</a:t>
            </a:r>
            <a:endParaRPr lang="en-US" sz="1000" dirty="0"/>
          </a:p>
        </p:txBody>
      </p:sp>
      <p:sp>
        <p:nvSpPr>
          <p:cNvPr id="41" name="Shape 39"/>
          <p:cNvSpPr/>
          <p:nvPr/>
        </p:nvSpPr>
        <p:spPr>
          <a:xfrm>
            <a:off x="4407408" y="5989320"/>
            <a:ext cx="3657600" cy="438912"/>
          </a:xfrm>
          <a:prstGeom prst="rect">
            <a:avLst/>
          </a:prstGeom>
          <a:solidFill>
            <a:srgbClr val="FFEBEE"/>
          </a:solidFill>
          <a:ln w="12700">
            <a:solidFill>
              <a:srgbClr val="B71C1C"/>
            </a:solidFill>
            <a:prstDash val="solid"/>
          </a:ln>
        </p:spPr>
        <p:txBody>
          <a:bodyPr/>
          <a:lstStyle/>
          <a:p>
            <a:endParaRPr lang="en-KE"/>
          </a:p>
        </p:txBody>
      </p:sp>
      <p:sp>
        <p:nvSpPr>
          <p:cNvPr id="42" name="Text 40"/>
          <p:cNvSpPr/>
          <p:nvPr/>
        </p:nvSpPr>
        <p:spPr>
          <a:xfrm>
            <a:off x="4526280" y="6035040"/>
            <a:ext cx="3474720" cy="347472"/>
          </a:xfrm>
          <a:prstGeom prst="rect">
            <a:avLst/>
          </a:prstGeom>
          <a:noFill/>
          <a:ln/>
        </p:spPr>
        <p:txBody>
          <a:bodyPr wrap="square" lIns="0" tIns="0" rIns="0" bIns="0" rtlCol="0" anchor="ctr"/>
          <a:lstStyle/>
          <a:p>
            <a:pPr marL="0" indent="0">
              <a:buNone/>
            </a:pPr>
            <a:r>
              <a:rPr lang="en-US" sz="1050" b="1" dirty="0">
                <a:solidFill>
                  <a:srgbClr val="B71C1C"/>
                </a:solidFill>
                <a:latin typeface="Calibri" pitchFamily="34" charset="0"/>
                <a:ea typeface="Calibri" pitchFamily="34" charset="-122"/>
                <a:cs typeface="Calibri" pitchFamily="34" charset="-120"/>
              </a:rPr>
              <a:t>Internships: 36.6% churn vs &lt;1.5% for ALL other categories</a:t>
            </a:r>
            <a:endParaRPr lang="en-US" sz="1050" dirty="0"/>
          </a:p>
        </p:txBody>
      </p:sp>
      <p:sp>
        <p:nvSpPr>
          <p:cNvPr id="43" name="Shape 41"/>
          <p:cNvSpPr/>
          <p:nvPr/>
        </p:nvSpPr>
        <p:spPr>
          <a:xfrm>
            <a:off x="8275320" y="1214708"/>
            <a:ext cx="3474720" cy="534924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44" name="Shape 42"/>
          <p:cNvSpPr/>
          <p:nvPr/>
        </p:nvSpPr>
        <p:spPr>
          <a:xfrm>
            <a:off x="8255203" y="1214708"/>
            <a:ext cx="64008" cy="5349240"/>
          </a:xfrm>
          <a:prstGeom prst="rect">
            <a:avLst/>
          </a:prstGeom>
          <a:solidFill>
            <a:srgbClr val="E65100"/>
          </a:solidFill>
          <a:ln w="12700">
            <a:solidFill>
              <a:srgbClr val="E65100"/>
            </a:solidFill>
            <a:prstDash val="solid"/>
          </a:ln>
        </p:spPr>
        <p:txBody>
          <a:bodyPr/>
          <a:lstStyle/>
          <a:p>
            <a:endParaRPr lang="en-KE"/>
          </a:p>
        </p:txBody>
      </p:sp>
      <p:sp>
        <p:nvSpPr>
          <p:cNvPr id="45" name="Text 43"/>
          <p:cNvSpPr/>
          <p:nvPr/>
        </p:nvSpPr>
        <p:spPr>
          <a:xfrm>
            <a:off x="8641080" y="1325880"/>
            <a:ext cx="3200400" cy="347472"/>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Churn Rate by Sign-up Month / 2023</a:t>
            </a:r>
            <a:endParaRPr lang="en-US" sz="1200" dirty="0"/>
          </a:p>
        </p:txBody>
      </p:sp>
      <p:sp>
        <p:nvSpPr>
          <p:cNvPr id="46" name="Text 44"/>
          <p:cNvSpPr/>
          <p:nvPr/>
        </p:nvSpPr>
        <p:spPr>
          <a:xfrm>
            <a:off x="8641080" y="1874520"/>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Jan</a:t>
            </a:r>
            <a:endParaRPr lang="en-US" sz="950" dirty="0"/>
          </a:p>
        </p:txBody>
      </p:sp>
      <p:sp>
        <p:nvSpPr>
          <p:cNvPr id="47" name="Shape 45"/>
          <p:cNvSpPr/>
          <p:nvPr/>
        </p:nvSpPr>
        <p:spPr>
          <a:xfrm>
            <a:off x="9144000" y="1938528"/>
            <a:ext cx="3017520" cy="201168"/>
          </a:xfrm>
          <a:prstGeom prst="rect">
            <a:avLst/>
          </a:prstGeom>
          <a:solidFill>
            <a:srgbClr val="F0F4F8"/>
          </a:solidFill>
          <a:ln w="12700">
            <a:solidFill>
              <a:srgbClr val="CBD5E0"/>
            </a:solidFill>
            <a:prstDash val="solid"/>
          </a:ln>
        </p:spPr>
        <p:txBody>
          <a:bodyPr/>
          <a:lstStyle/>
          <a:p>
            <a:endParaRPr lang="en-KE"/>
          </a:p>
        </p:txBody>
      </p:sp>
      <p:sp>
        <p:nvSpPr>
          <p:cNvPr id="48" name="Shape 46"/>
          <p:cNvSpPr/>
          <p:nvPr/>
        </p:nvSpPr>
        <p:spPr>
          <a:xfrm>
            <a:off x="9144001" y="1938528"/>
            <a:ext cx="548640" cy="201168"/>
          </a:xfrm>
          <a:prstGeom prst="rect">
            <a:avLst/>
          </a:prstGeom>
          <a:solidFill>
            <a:srgbClr val="2E7D32"/>
          </a:solidFill>
          <a:ln w="12700">
            <a:solidFill>
              <a:srgbClr val="2E7D32"/>
            </a:solidFill>
            <a:prstDash val="solid"/>
          </a:ln>
        </p:spPr>
        <p:txBody>
          <a:bodyPr/>
          <a:lstStyle/>
          <a:p>
            <a:endParaRPr lang="en-KE"/>
          </a:p>
        </p:txBody>
      </p:sp>
      <p:sp>
        <p:nvSpPr>
          <p:cNvPr id="49" name="Text 47"/>
          <p:cNvSpPr/>
          <p:nvPr/>
        </p:nvSpPr>
        <p:spPr>
          <a:xfrm>
            <a:off x="9742018" y="1929384"/>
            <a:ext cx="548640" cy="228600"/>
          </a:xfrm>
          <a:prstGeom prst="rect">
            <a:avLst/>
          </a:prstGeom>
          <a:noFill/>
          <a:ln/>
        </p:spPr>
        <p:txBody>
          <a:bodyPr wrap="square" lIns="0" tIns="0" rIns="0" bIns="0" rtlCol="0" anchor="ctr"/>
          <a:lstStyle/>
          <a:p>
            <a:pPr marL="0" indent="0">
              <a:buNone/>
            </a:pPr>
            <a:r>
              <a:rPr lang="en-US" sz="900" b="1" dirty="0">
                <a:solidFill>
                  <a:srgbClr val="2E7D32"/>
                </a:solidFill>
                <a:latin typeface="Calibri" pitchFamily="34" charset="0"/>
                <a:ea typeface="Calibri" pitchFamily="34" charset="-122"/>
                <a:cs typeface="Calibri" pitchFamily="34" charset="-120"/>
              </a:rPr>
              <a:t>5.95%</a:t>
            </a:r>
            <a:endParaRPr lang="en-US" sz="900" dirty="0"/>
          </a:p>
        </p:txBody>
      </p:sp>
      <p:sp>
        <p:nvSpPr>
          <p:cNvPr id="50" name="Text 48"/>
          <p:cNvSpPr/>
          <p:nvPr/>
        </p:nvSpPr>
        <p:spPr>
          <a:xfrm>
            <a:off x="8641080" y="2267712"/>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Feb</a:t>
            </a:r>
            <a:endParaRPr lang="en-US" sz="950" dirty="0"/>
          </a:p>
        </p:txBody>
      </p:sp>
      <p:sp>
        <p:nvSpPr>
          <p:cNvPr id="51" name="Shape 49"/>
          <p:cNvSpPr/>
          <p:nvPr/>
        </p:nvSpPr>
        <p:spPr>
          <a:xfrm>
            <a:off x="9144000" y="2331720"/>
            <a:ext cx="3017520" cy="201168"/>
          </a:xfrm>
          <a:prstGeom prst="rect">
            <a:avLst/>
          </a:prstGeom>
          <a:solidFill>
            <a:srgbClr val="F0F4F8"/>
          </a:solidFill>
          <a:ln w="12700">
            <a:solidFill>
              <a:srgbClr val="CBD5E0"/>
            </a:solidFill>
            <a:prstDash val="solid"/>
          </a:ln>
        </p:spPr>
        <p:txBody>
          <a:bodyPr/>
          <a:lstStyle/>
          <a:p>
            <a:endParaRPr lang="en-KE"/>
          </a:p>
        </p:txBody>
      </p:sp>
      <p:sp>
        <p:nvSpPr>
          <p:cNvPr id="52" name="Shape 50"/>
          <p:cNvSpPr/>
          <p:nvPr/>
        </p:nvSpPr>
        <p:spPr>
          <a:xfrm>
            <a:off x="9144000" y="2331720"/>
            <a:ext cx="672476" cy="201168"/>
          </a:xfrm>
          <a:prstGeom prst="rect">
            <a:avLst/>
          </a:prstGeom>
          <a:solidFill>
            <a:srgbClr val="2E7D32"/>
          </a:solidFill>
          <a:ln w="12700">
            <a:solidFill>
              <a:srgbClr val="2E7D32"/>
            </a:solidFill>
            <a:prstDash val="solid"/>
          </a:ln>
        </p:spPr>
        <p:txBody>
          <a:bodyPr/>
          <a:lstStyle/>
          <a:p>
            <a:endParaRPr lang="en-KE"/>
          </a:p>
        </p:txBody>
      </p:sp>
      <p:sp>
        <p:nvSpPr>
          <p:cNvPr id="53" name="Text 51"/>
          <p:cNvSpPr/>
          <p:nvPr/>
        </p:nvSpPr>
        <p:spPr>
          <a:xfrm>
            <a:off x="9853052" y="2313432"/>
            <a:ext cx="548640" cy="228600"/>
          </a:xfrm>
          <a:prstGeom prst="rect">
            <a:avLst/>
          </a:prstGeom>
          <a:noFill/>
          <a:ln/>
        </p:spPr>
        <p:txBody>
          <a:bodyPr wrap="square" lIns="0" tIns="0" rIns="0" bIns="0" rtlCol="0" anchor="ctr"/>
          <a:lstStyle/>
          <a:p>
            <a:pPr marL="0" indent="0">
              <a:buNone/>
            </a:pPr>
            <a:r>
              <a:rPr lang="en-US" sz="900" b="1" dirty="0">
                <a:solidFill>
                  <a:srgbClr val="2E7D32"/>
                </a:solidFill>
                <a:latin typeface="Calibri" pitchFamily="34" charset="0"/>
                <a:ea typeface="Calibri" pitchFamily="34" charset="-122"/>
                <a:cs typeface="Calibri" pitchFamily="34" charset="-120"/>
              </a:rPr>
              <a:t>6.06%</a:t>
            </a:r>
            <a:endParaRPr lang="en-US" sz="900" dirty="0"/>
          </a:p>
        </p:txBody>
      </p:sp>
      <p:sp>
        <p:nvSpPr>
          <p:cNvPr id="54" name="Text 52"/>
          <p:cNvSpPr/>
          <p:nvPr/>
        </p:nvSpPr>
        <p:spPr>
          <a:xfrm>
            <a:off x="8641080" y="2660904"/>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Mar</a:t>
            </a:r>
            <a:endParaRPr lang="en-US" sz="950" dirty="0"/>
          </a:p>
        </p:txBody>
      </p:sp>
      <p:sp>
        <p:nvSpPr>
          <p:cNvPr id="55" name="Shape 53"/>
          <p:cNvSpPr/>
          <p:nvPr/>
        </p:nvSpPr>
        <p:spPr>
          <a:xfrm>
            <a:off x="9144000" y="2724912"/>
            <a:ext cx="3017520" cy="201168"/>
          </a:xfrm>
          <a:prstGeom prst="rect">
            <a:avLst/>
          </a:prstGeom>
          <a:solidFill>
            <a:srgbClr val="F0F4F8"/>
          </a:solidFill>
          <a:ln w="12700">
            <a:solidFill>
              <a:srgbClr val="CBD5E0"/>
            </a:solidFill>
            <a:prstDash val="solid"/>
          </a:ln>
        </p:spPr>
        <p:txBody>
          <a:bodyPr/>
          <a:lstStyle/>
          <a:p>
            <a:endParaRPr lang="en-KE"/>
          </a:p>
        </p:txBody>
      </p:sp>
      <p:sp>
        <p:nvSpPr>
          <p:cNvPr id="56" name="Shape 54"/>
          <p:cNvSpPr/>
          <p:nvPr/>
        </p:nvSpPr>
        <p:spPr>
          <a:xfrm>
            <a:off x="9144000" y="2724912"/>
            <a:ext cx="243230" cy="201168"/>
          </a:xfrm>
          <a:prstGeom prst="rect">
            <a:avLst/>
          </a:prstGeom>
          <a:solidFill>
            <a:srgbClr val="2E7D32"/>
          </a:solidFill>
          <a:ln w="12700">
            <a:solidFill>
              <a:srgbClr val="2E7D32"/>
            </a:solidFill>
            <a:prstDash val="solid"/>
          </a:ln>
        </p:spPr>
        <p:txBody>
          <a:bodyPr/>
          <a:lstStyle/>
          <a:p>
            <a:endParaRPr lang="en-KE"/>
          </a:p>
        </p:txBody>
      </p:sp>
      <p:sp>
        <p:nvSpPr>
          <p:cNvPr id="57" name="Text 55"/>
          <p:cNvSpPr/>
          <p:nvPr/>
        </p:nvSpPr>
        <p:spPr>
          <a:xfrm>
            <a:off x="9500733" y="2711196"/>
            <a:ext cx="548640" cy="228600"/>
          </a:xfrm>
          <a:prstGeom prst="rect">
            <a:avLst/>
          </a:prstGeom>
          <a:noFill/>
          <a:ln/>
        </p:spPr>
        <p:txBody>
          <a:bodyPr wrap="square" lIns="0" tIns="0" rIns="0" bIns="0" rtlCol="0" anchor="ctr"/>
          <a:lstStyle/>
          <a:p>
            <a:pPr marL="0" indent="0">
              <a:buNone/>
            </a:pPr>
            <a:r>
              <a:rPr lang="en-US" sz="900" b="1" dirty="0">
                <a:solidFill>
                  <a:srgbClr val="2E7D32"/>
                </a:solidFill>
                <a:latin typeface="Calibri" pitchFamily="34" charset="0"/>
                <a:ea typeface="Calibri" pitchFamily="34" charset="-122"/>
                <a:cs typeface="Calibri" pitchFamily="34" charset="-120"/>
              </a:rPr>
              <a:t>2.52%</a:t>
            </a:r>
            <a:endParaRPr lang="en-US" sz="900" dirty="0"/>
          </a:p>
        </p:txBody>
      </p:sp>
      <p:sp>
        <p:nvSpPr>
          <p:cNvPr id="58" name="Text 56"/>
          <p:cNvSpPr/>
          <p:nvPr/>
        </p:nvSpPr>
        <p:spPr>
          <a:xfrm>
            <a:off x="8641080" y="3054096"/>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Apr</a:t>
            </a:r>
            <a:endParaRPr lang="en-US" sz="950" dirty="0"/>
          </a:p>
        </p:txBody>
      </p:sp>
      <p:sp>
        <p:nvSpPr>
          <p:cNvPr id="59" name="Shape 57"/>
          <p:cNvSpPr/>
          <p:nvPr/>
        </p:nvSpPr>
        <p:spPr>
          <a:xfrm>
            <a:off x="9144000" y="3118104"/>
            <a:ext cx="3017520" cy="201168"/>
          </a:xfrm>
          <a:prstGeom prst="rect">
            <a:avLst/>
          </a:prstGeom>
          <a:solidFill>
            <a:srgbClr val="F0F4F8"/>
          </a:solidFill>
          <a:ln w="12700">
            <a:solidFill>
              <a:srgbClr val="CBD5E0"/>
            </a:solidFill>
            <a:prstDash val="solid"/>
          </a:ln>
        </p:spPr>
        <p:txBody>
          <a:bodyPr/>
          <a:lstStyle/>
          <a:p>
            <a:endParaRPr lang="en-KE"/>
          </a:p>
        </p:txBody>
      </p:sp>
      <p:sp>
        <p:nvSpPr>
          <p:cNvPr id="60" name="Shape 58"/>
          <p:cNvSpPr/>
          <p:nvPr/>
        </p:nvSpPr>
        <p:spPr>
          <a:xfrm>
            <a:off x="9144000" y="3118104"/>
            <a:ext cx="1146658" cy="201168"/>
          </a:xfrm>
          <a:prstGeom prst="rect">
            <a:avLst/>
          </a:prstGeom>
          <a:solidFill>
            <a:srgbClr val="5A7A95"/>
          </a:solidFill>
          <a:ln w="12700">
            <a:solidFill>
              <a:srgbClr val="5A7A95"/>
            </a:solidFill>
            <a:prstDash val="solid"/>
          </a:ln>
        </p:spPr>
        <p:txBody>
          <a:bodyPr/>
          <a:lstStyle/>
          <a:p>
            <a:endParaRPr lang="en-KE"/>
          </a:p>
        </p:txBody>
      </p:sp>
      <p:sp>
        <p:nvSpPr>
          <p:cNvPr id="61" name="Text 59"/>
          <p:cNvSpPr/>
          <p:nvPr/>
        </p:nvSpPr>
        <p:spPr>
          <a:xfrm>
            <a:off x="10327234" y="3099816"/>
            <a:ext cx="548640" cy="228600"/>
          </a:xfrm>
          <a:prstGeom prst="rect">
            <a:avLst/>
          </a:prstGeom>
          <a:noFill/>
          <a:ln/>
        </p:spPr>
        <p:txBody>
          <a:bodyPr wrap="square" lIns="0" tIns="0" rIns="0" bIns="0" rtlCol="0" anchor="ctr"/>
          <a:lstStyle/>
          <a:p>
            <a:pPr marL="0" indent="0">
              <a:buNone/>
            </a:pPr>
            <a:r>
              <a:rPr lang="en-US" sz="900" b="1" dirty="0">
                <a:solidFill>
                  <a:srgbClr val="5A7A95"/>
                </a:solidFill>
                <a:latin typeface="Calibri" pitchFamily="34" charset="0"/>
                <a:ea typeface="Calibri" pitchFamily="34" charset="-122"/>
                <a:cs typeface="Calibri" pitchFamily="34" charset="-120"/>
              </a:rPr>
              <a:t>11.65%</a:t>
            </a:r>
            <a:endParaRPr lang="en-US" sz="900" dirty="0"/>
          </a:p>
        </p:txBody>
      </p:sp>
      <p:sp>
        <p:nvSpPr>
          <p:cNvPr id="62" name="Text 60"/>
          <p:cNvSpPr/>
          <p:nvPr/>
        </p:nvSpPr>
        <p:spPr>
          <a:xfrm>
            <a:off x="8641080" y="3447288"/>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May</a:t>
            </a:r>
            <a:endParaRPr lang="en-US" sz="950" dirty="0"/>
          </a:p>
        </p:txBody>
      </p:sp>
      <p:sp>
        <p:nvSpPr>
          <p:cNvPr id="63" name="Shape 61"/>
          <p:cNvSpPr/>
          <p:nvPr/>
        </p:nvSpPr>
        <p:spPr>
          <a:xfrm>
            <a:off x="9144000" y="3511296"/>
            <a:ext cx="3017520" cy="201168"/>
          </a:xfrm>
          <a:prstGeom prst="rect">
            <a:avLst/>
          </a:prstGeom>
          <a:solidFill>
            <a:srgbClr val="F0F4F8"/>
          </a:solidFill>
          <a:ln w="12700">
            <a:solidFill>
              <a:srgbClr val="CBD5E0"/>
            </a:solidFill>
            <a:prstDash val="solid"/>
          </a:ln>
        </p:spPr>
        <p:txBody>
          <a:bodyPr/>
          <a:lstStyle/>
          <a:p>
            <a:endParaRPr lang="en-KE"/>
          </a:p>
        </p:txBody>
      </p:sp>
      <p:sp>
        <p:nvSpPr>
          <p:cNvPr id="64" name="Shape 62"/>
          <p:cNvSpPr/>
          <p:nvPr/>
        </p:nvSpPr>
        <p:spPr>
          <a:xfrm>
            <a:off x="9144000" y="3511296"/>
            <a:ext cx="767312" cy="201168"/>
          </a:xfrm>
          <a:prstGeom prst="rect">
            <a:avLst/>
          </a:prstGeom>
          <a:solidFill>
            <a:srgbClr val="2E7D32"/>
          </a:solidFill>
          <a:ln w="12700">
            <a:solidFill>
              <a:srgbClr val="2E7D32"/>
            </a:solidFill>
            <a:prstDash val="solid"/>
          </a:ln>
        </p:spPr>
        <p:txBody>
          <a:bodyPr/>
          <a:lstStyle/>
          <a:p>
            <a:endParaRPr lang="en-KE"/>
          </a:p>
        </p:txBody>
      </p:sp>
      <p:sp>
        <p:nvSpPr>
          <p:cNvPr id="65" name="Text 63"/>
          <p:cNvSpPr/>
          <p:nvPr/>
        </p:nvSpPr>
        <p:spPr>
          <a:xfrm>
            <a:off x="9947888" y="3493008"/>
            <a:ext cx="548640" cy="228600"/>
          </a:xfrm>
          <a:prstGeom prst="rect">
            <a:avLst/>
          </a:prstGeom>
          <a:noFill/>
          <a:ln/>
        </p:spPr>
        <p:txBody>
          <a:bodyPr wrap="square" lIns="0" tIns="0" rIns="0" bIns="0" rtlCol="0" anchor="ctr"/>
          <a:lstStyle/>
          <a:p>
            <a:pPr marL="0" indent="0">
              <a:buNone/>
            </a:pPr>
            <a:r>
              <a:rPr lang="en-US" sz="900" b="1" dirty="0">
                <a:solidFill>
                  <a:srgbClr val="2E7D32"/>
                </a:solidFill>
                <a:latin typeface="Calibri" pitchFamily="34" charset="0"/>
                <a:ea typeface="Calibri" pitchFamily="34" charset="-122"/>
                <a:cs typeface="Calibri" pitchFamily="34" charset="-120"/>
              </a:rPr>
              <a:t>6.73%</a:t>
            </a:r>
            <a:endParaRPr lang="en-US" sz="900" dirty="0"/>
          </a:p>
        </p:txBody>
      </p:sp>
      <p:sp>
        <p:nvSpPr>
          <p:cNvPr id="66" name="Text 64"/>
          <p:cNvSpPr/>
          <p:nvPr/>
        </p:nvSpPr>
        <p:spPr>
          <a:xfrm>
            <a:off x="8641080" y="3840480"/>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Jun</a:t>
            </a:r>
            <a:endParaRPr lang="en-US" sz="950" dirty="0"/>
          </a:p>
        </p:txBody>
      </p:sp>
      <p:sp>
        <p:nvSpPr>
          <p:cNvPr id="67" name="Shape 65"/>
          <p:cNvSpPr/>
          <p:nvPr/>
        </p:nvSpPr>
        <p:spPr>
          <a:xfrm>
            <a:off x="9144000" y="3904488"/>
            <a:ext cx="3017520" cy="201168"/>
          </a:xfrm>
          <a:prstGeom prst="rect">
            <a:avLst/>
          </a:prstGeom>
          <a:solidFill>
            <a:srgbClr val="F0F4F8"/>
          </a:solidFill>
          <a:ln w="12700">
            <a:solidFill>
              <a:srgbClr val="CBD5E0"/>
            </a:solidFill>
            <a:prstDash val="solid"/>
          </a:ln>
        </p:spPr>
        <p:txBody>
          <a:bodyPr/>
          <a:lstStyle/>
          <a:p>
            <a:endParaRPr lang="en-KE"/>
          </a:p>
        </p:txBody>
      </p:sp>
      <p:sp>
        <p:nvSpPr>
          <p:cNvPr id="68" name="Shape 66"/>
          <p:cNvSpPr/>
          <p:nvPr/>
        </p:nvSpPr>
        <p:spPr>
          <a:xfrm>
            <a:off x="9144000" y="3904488"/>
            <a:ext cx="896635" cy="201168"/>
          </a:xfrm>
          <a:prstGeom prst="rect">
            <a:avLst/>
          </a:prstGeom>
          <a:ln/>
        </p:spPr>
        <p:style>
          <a:lnRef idx="1">
            <a:schemeClr val="accent6"/>
          </a:lnRef>
          <a:fillRef idx="3">
            <a:schemeClr val="accent6"/>
          </a:fillRef>
          <a:effectRef idx="2">
            <a:schemeClr val="accent6"/>
          </a:effectRef>
          <a:fontRef idx="minor">
            <a:schemeClr val="lt1"/>
          </a:fontRef>
        </p:style>
        <p:txBody>
          <a:bodyPr/>
          <a:lstStyle/>
          <a:p>
            <a:endParaRPr lang="en-KE"/>
          </a:p>
        </p:txBody>
      </p:sp>
      <p:sp>
        <p:nvSpPr>
          <p:cNvPr id="69" name="Text 67"/>
          <p:cNvSpPr/>
          <p:nvPr/>
        </p:nvSpPr>
        <p:spPr>
          <a:xfrm>
            <a:off x="10077211" y="3886200"/>
            <a:ext cx="548640" cy="228600"/>
          </a:xfrm>
          <a:prstGeom prst="rect">
            <a:avLst/>
          </a:prstGeom>
          <a:noFill/>
          <a:ln/>
        </p:spPr>
        <p:txBody>
          <a:bodyPr wrap="square" lIns="0" tIns="0" rIns="0" bIns="0" rtlCol="0" anchor="ctr"/>
          <a:lstStyle/>
          <a:p>
            <a:pPr marL="0" indent="0">
              <a:buNone/>
            </a:pPr>
            <a:r>
              <a:rPr lang="en-US" sz="900" b="1" dirty="0">
                <a:solidFill>
                  <a:srgbClr val="5A7A95"/>
                </a:solidFill>
                <a:latin typeface="Calibri" pitchFamily="34" charset="0"/>
                <a:ea typeface="Calibri" pitchFamily="34" charset="-122"/>
                <a:cs typeface="Calibri" pitchFamily="34" charset="-120"/>
              </a:rPr>
              <a:t>6.31%</a:t>
            </a:r>
            <a:endParaRPr lang="en-US" sz="900" dirty="0"/>
          </a:p>
        </p:txBody>
      </p:sp>
      <p:sp>
        <p:nvSpPr>
          <p:cNvPr id="70" name="Text 68"/>
          <p:cNvSpPr/>
          <p:nvPr/>
        </p:nvSpPr>
        <p:spPr>
          <a:xfrm>
            <a:off x="8641080" y="4233672"/>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Jul</a:t>
            </a:r>
            <a:endParaRPr lang="en-US" sz="950" dirty="0"/>
          </a:p>
        </p:txBody>
      </p:sp>
      <p:sp>
        <p:nvSpPr>
          <p:cNvPr id="71" name="Shape 69"/>
          <p:cNvSpPr/>
          <p:nvPr/>
        </p:nvSpPr>
        <p:spPr>
          <a:xfrm>
            <a:off x="9144000" y="4297680"/>
            <a:ext cx="3017520" cy="201168"/>
          </a:xfrm>
          <a:prstGeom prst="rect">
            <a:avLst/>
          </a:prstGeom>
          <a:solidFill>
            <a:srgbClr val="F0F4F8"/>
          </a:solidFill>
          <a:ln w="12700">
            <a:solidFill>
              <a:srgbClr val="CBD5E0"/>
            </a:solidFill>
            <a:prstDash val="solid"/>
          </a:ln>
        </p:spPr>
        <p:txBody>
          <a:bodyPr/>
          <a:lstStyle/>
          <a:p>
            <a:endParaRPr lang="en-KE"/>
          </a:p>
        </p:txBody>
      </p:sp>
      <p:sp>
        <p:nvSpPr>
          <p:cNvPr id="72" name="Shape 70"/>
          <p:cNvSpPr/>
          <p:nvPr/>
        </p:nvSpPr>
        <p:spPr>
          <a:xfrm>
            <a:off x="9144000" y="4297680"/>
            <a:ext cx="1004011" cy="201168"/>
          </a:xfrm>
          <a:prstGeom prst="rect">
            <a:avLst/>
          </a:prstGeom>
          <a:solidFill>
            <a:srgbClr val="5A7A95"/>
          </a:solidFill>
          <a:ln w="12700">
            <a:solidFill>
              <a:srgbClr val="5A7A95"/>
            </a:solidFill>
            <a:prstDash val="solid"/>
          </a:ln>
        </p:spPr>
        <p:txBody>
          <a:bodyPr/>
          <a:lstStyle/>
          <a:p>
            <a:endParaRPr lang="en-KE"/>
          </a:p>
        </p:txBody>
      </p:sp>
      <p:sp>
        <p:nvSpPr>
          <p:cNvPr id="73" name="Text 71"/>
          <p:cNvSpPr/>
          <p:nvPr/>
        </p:nvSpPr>
        <p:spPr>
          <a:xfrm>
            <a:off x="10204027" y="4283625"/>
            <a:ext cx="548640" cy="228600"/>
          </a:xfrm>
          <a:prstGeom prst="rect">
            <a:avLst/>
          </a:prstGeom>
          <a:noFill/>
          <a:ln/>
        </p:spPr>
        <p:txBody>
          <a:bodyPr wrap="square" lIns="0" tIns="0" rIns="0" bIns="0" rtlCol="0" anchor="ctr"/>
          <a:lstStyle/>
          <a:p>
            <a:pPr marL="0" indent="0">
              <a:buNone/>
            </a:pPr>
            <a:r>
              <a:rPr lang="en-US" sz="900" b="1" dirty="0">
                <a:solidFill>
                  <a:srgbClr val="5A7A95"/>
                </a:solidFill>
                <a:latin typeface="Calibri" pitchFamily="34" charset="0"/>
                <a:ea typeface="Calibri" pitchFamily="34" charset="-122"/>
                <a:cs typeface="Calibri" pitchFamily="34" charset="-120"/>
              </a:rPr>
              <a:t>10.55%</a:t>
            </a:r>
            <a:endParaRPr lang="en-US" sz="900" dirty="0"/>
          </a:p>
        </p:txBody>
      </p:sp>
      <p:sp>
        <p:nvSpPr>
          <p:cNvPr id="74" name="Text 72"/>
          <p:cNvSpPr/>
          <p:nvPr/>
        </p:nvSpPr>
        <p:spPr>
          <a:xfrm>
            <a:off x="8641080" y="4626864"/>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Aug</a:t>
            </a:r>
            <a:endParaRPr lang="en-US" sz="950" dirty="0"/>
          </a:p>
        </p:txBody>
      </p:sp>
      <p:sp>
        <p:nvSpPr>
          <p:cNvPr id="75" name="Shape 73"/>
          <p:cNvSpPr/>
          <p:nvPr/>
        </p:nvSpPr>
        <p:spPr>
          <a:xfrm>
            <a:off x="9144000" y="4690872"/>
            <a:ext cx="3017520" cy="201168"/>
          </a:xfrm>
          <a:prstGeom prst="rect">
            <a:avLst/>
          </a:prstGeom>
          <a:solidFill>
            <a:srgbClr val="F0F4F8"/>
          </a:solidFill>
          <a:ln w="12700">
            <a:solidFill>
              <a:srgbClr val="CBD5E0"/>
            </a:solidFill>
            <a:prstDash val="solid"/>
          </a:ln>
        </p:spPr>
        <p:txBody>
          <a:bodyPr/>
          <a:lstStyle/>
          <a:p>
            <a:endParaRPr lang="en-KE"/>
          </a:p>
        </p:txBody>
      </p:sp>
      <p:sp>
        <p:nvSpPr>
          <p:cNvPr id="76" name="Shape 74"/>
          <p:cNvSpPr/>
          <p:nvPr/>
        </p:nvSpPr>
        <p:spPr>
          <a:xfrm>
            <a:off x="9144000" y="4690872"/>
            <a:ext cx="1183234" cy="201168"/>
          </a:xfrm>
          <a:prstGeom prst="rect">
            <a:avLst/>
          </a:prstGeom>
          <a:ln/>
        </p:spPr>
        <p:style>
          <a:lnRef idx="1">
            <a:schemeClr val="accent2"/>
          </a:lnRef>
          <a:fillRef idx="3">
            <a:schemeClr val="accent2"/>
          </a:fillRef>
          <a:effectRef idx="2">
            <a:schemeClr val="accent2"/>
          </a:effectRef>
          <a:fontRef idx="minor">
            <a:schemeClr val="lt1"/>
          </a:fontRef>
        </p:style>
        <p:txBody>
          <a:bodyPr/>
          <a:lstStyle/>
          <a:p>
            <a:endParaRPr lang="en-KE"/>
          </a:p>
        </p:txBody>
      </p:sp>
      <p:sp>
        <p:nvSpPr>
          <p:cNvPr id="77" name="Text 75"/>
          <p:cNvSpPr/>
          <p:nvPr/>
        </p:nvSpPr>
        <p:spPr>
          <a:xfrm>
            <a:off x="10401692" y="4681728"/>
            <a:ext cx="548640" cy="228600"/>
          </a:xfrm>
          <a:prstGeom prst="rect">
            <a:avLst/>
          </a:prstGeom>
          <a:noFill/>
          <a:ln/>
        </p:spPr>
        <p:txBody>
          <a:bodyPr wrap="square" lIns="0" tIns="0" rIns="0" bIns="0" rtlCol="0" anchor="ctr"/>
          <a:lstStyle/>
          <a:p>
            <a:pPr marL="0" indent="0">
              <a:buNone/>
            </a:pPr>
            <a:r>
              <a:rPr lang="en-US" sz="900" b="1" dirty="0">
                <a:solidFill>
                  <a:srgbClr val="E65100"/>
                </a:solidFill>
                <a:latin typeface="Calibri" pitchFamily="34" charset="0"/>
                <a:ea typeface="Calibri" pitchFamily="34" charset="-122"/>
                <a:cs typeface="Calibri" pitchFamily="34" charset="-120"/>
              </a:rPr>
              <a:t>12.87%</a:t>
            </a:r>
            <a:endParaRPr lang="en-US" sz="900" dirty="0"/>
          </a:p>
        </p:txBody>
      </p:sp>
      <p:sp>
        <p:nvSpPr>
          <p:cNvPr id="78" name="Text 76"/>
          <p:cNvSpPr/>
          <p:nvPr/>
        </p:nvSpPr>
        <p:spPr>
          <a:xfrm>
            <a:off x="8641080" y="5020056"/>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Sep</a:t>
            </a:r>
            <a:endParaRPr lang="en-US" sz="950" dirty="0"/>
          </a:p>
        </p:txBody>
      </p:sp>
      <p:sp>
        <p:nvSpPr>
          <p:cNvPr id="79" name="Shape 77"/>
          <p:cNvSpPr/>
          <p:nvPr/>
        </p:nvSpPr>
        <p:spPr>
          <a:xfrm>
            <a:off x="9144000" y="5084064"/>
            <a:ext cx="3017520" cy="201168"/>
          </a:xfrm>
          <a:prstGeom prst="rect">
            <a:avLst/>
          </a:prstGeom>
          <a:solidFill>
            <a:srgbClr val="F0F4F8"/>
          </a:solidFill>
          <a:ln w="12700">
            <a:solidFill>
              <a:srgbClr val="CBD5E0"/>
            </a:solidFill>
            <a:prstDash val="solid"/>
          </a:ln>
        </p:spPr>
        <p:txBody>
          <a:bodyPr/>
          <a:lstStyle/>
          <a:p>
            <a:endParaRPr lang="en-KE"/>
          </a:p>
        </p:txBody>
      </p:sp>
      <p:sp>
        <p:nvSpPr>
          <p:cNvPr id="80" name="Shape 78"/>
          <p:cNvSpPr/>
          <p:nvPr/>
        </p:nvSpPr>
        <p:spPr>
          <a:xfrm>
            <a:off x="9143999" y="5084064"/>
            <a:ext cx="1314907" cy="201168"/>
          </a:xfrm>
          <a:prstGeom prst="rect">
            <a:avLst/>
          </a:prstGeom>
          <a:ln/>
        </p:spPr>
        <p:style>
          <a:lnRef idx="1">
            <a:schemeClr val="accent2"/>
          </a:lnRef>
          <a:fillRef idx="3">
            <a:schemeClr val="accent2"/>
          </a:fillRef>
          <a:effectRef idx="2">
            <a:schemeClr val="accent2"/>
          </a:effectRef>
          <a:fontRef idx="minor">
            <a:schemeClr val="lt1"/>
          </a:fontRef>
        </p:style>
        <p:txBody>
          <a:bodyPr/>
          <a:lstStyle/>
          <a:p>
            <a:endParaRPr lang="en-KE"/>
          </a:p>
        </p:txBody>
      </p:sp>
      <p:sp>
        <p:nvSpPr>
          <p:cNvPr id="81" name="Text 79"/>
          <p:cNvSpPr/>
          <p:nvPr/>
        </p:nvSpPr>
        <p:spPr>
          <a:xfrm>
            <a:off x="10537139" y="5065776"/>
            <a:ext cx="548640" cy="228600"/>
          </a:xfrm>
          <a:prstGeom prst="rect">
            <a:avLst/>
          </a:prstGeom>
          <a:noFill/>
          <a:ln/>
        </p:spPr>
        <p:txBody>
          <a:bodyPr wrap="square" lIns="0" tIns="0" rIns="0" bIns="0" rtlCol="0" anchor="ctr"/>
          <a:lstStyle/>
          <a:p>
            <a:pPr marL="0" indent="0">
              <a:buNone/>
            </a:pPr>
            <a:r>
              <a:rPr lang="en-US" sz="900" b="1" dirty="0">
                <a:solidFill>
                  <a:schemeClr val="accent2">
                    <a:lumMod val="75000"/>
                  </a:schemeClr>
                </a:solidFill>
                <a:latin typeface="Calibri" pitchFamily="34" charset="0"/>
                <a:ea typeface="Calibri" pitchFamily="34" charset="-122"/>
                <a:cs typeface="Calibri" pitchFamily="34" charset="-120"/>
              </a:rPr>
              <a:t>14.97%</a:t>
            </a:r>
            <a:endParaRPr lang="en-US" sz="900" dirty="0">
              <a:solidFill>
                <a:schemeClr val="accent2">
                  <a:lumMod val="75000"/>
                </a:schemeClr>
              </a:solidFill>
            </a:endParaRPr>
          </a:p>
        </p:txBody>
      </p:sp>
      <p:sp>
        <p:nvSpPr>
          <p:cNvPr id="82" name="Text 80"/>
          <p:cNvSpPr/>
          <p:nvPr/>
        </p:nvSpPr>
        <p:spPr>
          <a:xfrm>
            <a:off x="8641080" y="5413248"/>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Oct</a:t>
            </a:r>
            <a:endParaRPr lang="en-US" sz="950" dirty="0"/>
          </a:p>
        </p:txBody>
      </p:sp>
      <p:sp>
        <p:nvSpPr>
          <p:cNvPr id="83" name="Shape 81"/>
          <p:cNvSpPr/>
          <p:nvPr/>
        </p:nvSpPr>
        <p:spPr>
          <a:xfrm>
            <a:off x="9144000" y="5477256"/>
            <a:ext cx="3017520" cy="201168"/>
          </a:xfrm>
          <a:prstGeom prst="rect">
            <a:avLst/>
          </a:prstGeom>
          <a:solidFill>
            <a:srgbClr val="F0F4F8"/>
          </a:solidFill>
          <a:ln w="12700">
            <a:solidFill>
              <a:srgbClr val="CBD5E0"/>
            </a:solidFill>
            <a:prstDash val="solid"/>
          </a:ln>
        </p:spPr>
        <p:txBody>
          <a:bodyPr/>
          <a:lstStyle/>
          <a:p>
            <a:endParaRPr lang="en-KE"/>
          </a:p>
        </p:txBody>
      </p:sp>
      <p:sp>
        <p:nvSpPr>
          <p:cNvPr id="84" name="Shape 82"/>
          <p:cNvSpPr/>
          <p:nvPr/>
        </p:nvSpPr>
        <p:spPr>
          <a:xfrm>
            <a:off x="9144000" y="5477256"/>
            <a:ext cx="1676400" cy="201168"/>
          </a:xfrm>
          <a:prstGeom prst="rect">
            <a:avLst/>
          </a:prstGeom>
          <a:ln/>
        </p:spPr>
        <p:style>
          <a:lnRef idx="1">
            <a:schemeClr val="accent2"/>
          </a:lnRef>
          <a:fillRef idx="3">
            <a:schemeClr val="accent2"/>
          </a:fillRef>
          <a:effectRef idx="2">
            <a:schemeClr val="accent2"/>
          </a:effectRef>
          <a:fontRef idx="minor">
            <a:schemeClr val="lt1"/>
          </a:fontRef>
        </p:style>
        <p:txBody>
          <a:bodyPr/>
          <a:lstStyle/>
          <a:p>
            <a:endParaRPr lang="en-KE"/>
          </a:p>
        </p:txBody>
      </p:sp>
      <p:sp>
        <p:nvSpPr>
          <p:cNvPr id="85" name="Text 83"/>
          <p:cNvSpPr/>
          <p:nvPr/>
        </p:nvSpPr>
        <p:spPr>
          <a:xfrm>
            <a:off x="10875874" y="5458968"/>
            <a:ext cx="548640" cy="228600"/>
          </a:xfrm>
          <a:prstGeom prst="rect">
            <a:avLst/>
          </a:prstGeom>
          <a:noFill/>
          <a:ln/>
        </p:spPr>
        <p:txBody>
          <a:bodyPr wrap="square" lIns="0" tIns="0" rIns="0" bIns="0" rtlCol="0" anchor="ctr"/>
          <a:lstStyle/>
          <a:p>
            <a:pPr marL="0" indent="0">
              <a:buNone/>
            </a:pPr>
            <a:r>
              <a:rPr lang="en-US" sz="900" b="1" dirty="0">
                <a:solidFill>
                  <a:schemeClr val="accent2">
                    <a:lumMod val="75000"/>
                  </a:schemeClr>
                </a:solidFill>
                <a:latin typeface="Calibri" pitchFamily="34" charset="0"/>
                <a:ea typeface="Calibri" pitchFamily="34" charset="-122"/>
                <a:cs typeface="Calibri" pitchFamily="34" charset="-120"/>
              </a:rPr>
              <a:t>18.99%</a:t>
            </a:r>
            <a:endParaRPr lang="en-US" sz="900" dirty="0">
              <a:solidFill>
                <a:schemeClr val="accent2">
                  <a:lumMod val="75000"/>
                </a:schemeClr>
              </a:solidFill>
            </a:endParaRPr>
          </a:p>
        </p:txBody>
      </p:sp>
      <p:sp>
        <p:nvSpPr>
          <p:cNvPr id="86" name="Text 84"/>
          <p:cNvSpPr/>
          <p:nvPr/>
        </p:nvSpPr>
        <p:spPr>
          <a:xfrm>
            <a:off x="8641080" y="5806440"/>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Nov</a:t>
            </a:r>
            <a:endParaRPr lang="en-US" sz="950" dirty="0"/>
          </a:p>
        </p:txBody>
      </p:sp>
      <p:sp>
        <p:nvSpPr>
          <p:cNvPr id="87" name="Shape 85"/>
          <p:cNvSpPr/>
          <p:nvPr/>
        </p:nvSpPr>
        <p:spPr>
          <a:xfrm>
            <a:off x="9144000" y="5870448"/>
            <a:ext cx="3017520" cy="201168"/>
          </a:xfrm>
          <a:prstGeom prst="rect">
            <a:avLst/>
          </a:prstGeom>
          <a:solidFill>
            <a:srgbClr val="F0F4F8"/>
          </a:solidFill>
          <a:ln w="12700">
            <a:solidFill>
              <a:srgbClr val="CBD5E0"/>
            </a:solidFill>
            <a:prstDash val="solid"/>
          </a:ln>
        </p:spPr>
        <p:txBody>
          <a:bodyPr/>
          <a:lstStyle/>
          <a:p>
            <a:endParaRPr lang="en-KE"/>
          </a:p>
        </p:txBody>
      </p:sp>
      <p:sp>
        <p:nvSpPr>
          <p:cNvPr id="88" name="Shape 86"/>
          <p:cNvSpPr/>
          <p:nvPr/>
        </p:nvSpPr>
        <p:spPr>
          <a:xfrm>
            <a:off x="9144000" y="5870448"/>
            <a:ext cx="1922591" cy="201168"/>
          </a:xfrm>
          <a:prstGeom prst="rect">
            <a:avLst/>
          </a:prstGeom>
          <a:solidFill>
            <a:srgbClr val="B71C1C"/>
          </a:solidFill>
          <a:ln w="12700">
            <a:solidFill>
              <a:srgbClr val="B71C1C"/>
            </a:solidFill>
            <a:prstDash val="solid"/>
          </a:ln>
        </p:spPr>
        <p:txBody>
          <a:bodyPr/>
          <a:lstStyle/>
          <a:p>
            <a:endParaRPr lang="en-KE"/>
          </a:p>
        </p:txBody>
      </p:sp>
      <p:sp>
        <p:nvSpPr>
          <p:cNvPr id="89" name="Text 87"/>
          <p:cNvSpPr/>
          <p:nvPr/>
        </p:nvSpPr>
        <p:spPr>
          <a:xfrm>
            <a:off x="11103167" y="5852160"/>
            <a:ext cx="548640" cy="228600"/>
          </a:xfrm>
          <a:prstGeom prst="rect">
            <a:avLst/>
          </a:prstGeom>
          <a:noFill/>
          <a:ln/>
        </p:spPr>
        <p:txBody>
          <a:bodyPr wrap="square" lIns="0" tIns="0" rIns="0" bIns="0" rtlCol="0" anchor="ctr"/>
          <a:lstStyle/>
          <a:p>
            <a:pPr marL="0" indent="0">
              <a:buNone/>
            </a:pPr>
            <a:r>
              <a:rPr lang="en-US" sz="900" b="1" dirty="0">
                <a:solidFill>
                  <a:srgbClr val="B71C1C"/>
                </a:solidFill>
                <a:latin typeface="Calibri" pitchFamily="34" charset="0"/>
                <a:ea typeface="Calibri" pitchFamily="34" charset="-122"/>
                <a:cs typeface="Calibri" pitchFamily="34" charset="-120"/>
              </a:rPr>
              <a:t>26.27%</a:t>
            </a:r>
            <a:endParaRPr lang="en-US" sz="900" dirty="0"/>
          </a:p>
        </p:txBody>
      </p:sp>
      <p:sp>
        <p:nvSpPr>
          <p:cNvPr id="90" name="Text 88"/>
          <p:cNvSpPr/>
          <p:nvPr/>
        </p:nvSpPr>
        <p:spPr>
          <a:xfrm>
            <a:off x="8641080" y="6199632"/>
            <a:ext cx="475488"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Dec</a:t>
            </a:r>
            <a:endParaRPr lang="en-US" sz="950" dirty="0"/>
          </a:p>
        </p:txBody>
      </p:sp>
      <p:sp>
        <p:nvSpPr>
          <p:cNvPr id="91" name="Shape 89"/>
          <p:cNvSpPr/>
          <p:nvPr/>
        </p:nvSpPr>
        <p:spPr>
          <a:xfrm>
            <a:off x="9144000" y="6263640"/>
            <a:ext cx="3017520" cy="201168"/>
          </a:xfrm>
          <a:prstGeom prst="rect">
            <a:avLst/>
          </a:prstGeom>
          <a:solidFill>
            <a:srgbClr val="F0F4F8"/>
          </a:solidFill>
          <a:ln w="12700">
            <a:solidFill>
              <a:srgbClr val="CBD5E0"/>
            </a:solidFill>
            <a:prstDash val="solid"/>
          </a:ln>
        </p:spPr>
        <p:txBody>
          <a:bodyPr/>
          <a:lstStyle/>
          <a:p>
            <a:endParaRPr lang="en-KE"/>
          </a:p>
        </p:txBody>
      </p:sp>
      <p:sp>
        <p:nvSpPr>
          <p:cNvPr id="92" name="Shape 90"/>
          <p:cNvSpPr/>
          <p:nvPr/>
        </p:nvSpPr>
        <p:spPr>
          <a:xfrm>
            <a:off x="9144000" y="6263640"/>
            <a:ext cx="2991656" cy="201168"/>
          </a:xfrm>
          <a:prstGeom prst="rect">
            <a:avLst/>
          </a:prstGeom>
          <a:solidFill>
            <a:srgbClr val="B71C1C"/>
          </a:solidFill>
          <a:ln w="12700">
            <a:solidFill>
              <a:srgbClr val="B71C1C"/>
            </a:solidFill>
            <a:prstDash val="solid"/>
          </a:ln>
        </p:spPr>
        <p:txBody>
          <a:bodyPr/>
          <a:lstStyle/>
          <a:p>
            <a:endParaRPr lang="en-KE"/>
          </a:p>
        </p:txBody>
      </p:sp>
      <p:sp>
        <p:nvSpPr>
          <p:cNvPr id="93" name="Text 91"/>
          <p:cNvSpPr/>
          <p:nvPr/>
        </p:nvSpPr>
        <p:spPr>
          <a:xfrm>
            <a:off x="11567160" y="6236208"/>
            <a:ext cx="548640" cy="228600"/>
          </a:xfrm>
          <a:prstGeom prst="rect">
            <a:avLst/>
          </a:prstGeom>
          <a:noFill/>
          <a:ln/>
        </p:spPr>
        <p:txBody>
          <a:bodyPr wrap="square" lIns="0" tIns="0" rIns="0" bIns="0"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40.65%</a:t>
            </a:r>
            <a:endParaRPr lang="en-US" sz="9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600" y="73152"/>
            <a:ext cx="4556760" cy="338328"/>
          </a:xfrm>
          <a:prstGeom prst="rect">
            <a:avLst/>
          </a:prstGeom>
          <a:noFill/>
          <a:ln/>
        </p:spPr>
        <p:txBody>
          <a:bodyPr wrap="square" lIns="0" tIns="0" rIns="0" bIns="0" rtlCol="0" anchor="ctr"/>
          <a:lstStyle/>
          <a:p>
            <a:pPr marL="0" indent="0">
              <a:buNone/>
            </a:pPr>
            <a:r>
              <a:rPr lang="en-US" sz="1100" b="1" kern="0" spc="400" dirty="0">
                <a:solidFill>
                  <a:srgbClr val="4DB6AC"/>
                </a:solidFill>
                <a:latin typeface="Calibri" pitchFamily="34" charset="0"/>
                <a:ea typeface="Calibri" pitchFamily="34" charset="-122"/>
                <a:cs typeface="Calibri" pitchFamily="34" charset="-120"/>
              </a:rPr>
              <a:t>CHURN FACTORS  ·  ROOT CAUSE ANALYSIS</a:t>
            </a:r>
            <a:endParaRPr lang="en-US" sz="11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Driving Students Away?</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Five evidence-based factors — ranked by impact and confirmed by SHAP explainability analysis</a:t>
            </a:r>
            <a:endParaRPr lang="en-US" sz="1100" dirty="0"/>
          </a:p>
        </p:txBody>
      </p:sp>
      <p:sp>
        <p:nvSpPr>
          <p:cNvPr id="7" name="Shape 5"/>
          <p:cNvSpPr/>
          <p:nvPr/>
        </p:nvSpPr>
        <p:spPr>
          <a:xfrm>
            <a:off x="228600" y="1207008"/>
            <a:ext cx="7818120" cy="157276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8" name="Shape 6"/>
          <p:cNvSpPr/>
          <p:nvPr/>
        </p:nvSpPr>
        <p:spPr>
          <a:xfrm>
            <a:off x="228600" y="1207008"/>
            <a:ext cx="7818120" cy="1572768"/>
          </a:xfrm>
          <a:prstGeom prst="rect">
            <a:avLst/>
          </a:prstGeom>
          <a:solidFill>
            <a:srgbClr val="B71C1C"/>
          </a:solidFill>
          <a:ln w="12700">
            <a:solidFill>
              <a:srgbClr val="B71C1C"/>
            </a:solidFill>
            <a:prstDash val="solid"/>
          </a:ln>
          <a:effectLst>
            <a:outerShdw blurRad="76200" dist="38100" dir="8100000" algn="bl" rotWithShape="0">
              <a:srgbClr val="000000">
                <a:alpha val="10000"/>
              </a:srgbClr>
            </a:outerShdw>
          </a:effectLst>
        </p:spPr>
        <p:txBody>
          <a:bodyPr/>
          <a:lstStyle/>
          <a:p>
            <a:endParaRPr lang="en-KE"/>
          </a:p>
        </p:txBody>
      </p:sp>
      <p:sp>
        <p:nvSpPr>
          <p:cNvPr id="9" name="Shape 7"/>
          <p:cNvSpPr/>
          <p:nvPr/>
        </p:nvSpPr>
        <p:spPr>
          <a:xfrm>
            <a:off x="347472" y="1353312"/>
            <a:ext cx="566928" cy="566928"/>
          </a:xfrm>
          <a:prstGeom prst="ellipse">
            <a:avLst/>
          </a:prstGeom>
          <a:solidFill>
            <a:srgbClr val="FFFFFF"/>
          </a:solidFill>
          <a:ln w="12700">
            <a:solidFill>
              <a:srgbClr val="FFFFFF"/>
            </a:solidFill>
            <a:prstDash val="solid"/>
          </a:ln>
        </p:spPr>
        <p:txBody>
          <a:bodyPr/>
          <a:lstStyle/>
          <a:p>
            <a:endParaRPr lang="en-KE"/>
          </a:p>
        </p:txBody>
      </p:sp>
      <p:sp>
        <p:nvSpPr>
          <p:cNvPr id="10" name="Text 8"/>
          <p:cNvSpPr/>
          <p:nvPr/>
        </p:nvSpPr>
        <p:spPr>
          <a:xfrm>
            <a:off x="347472" y="1353312"/>
            <a:ext cx="566928" cy="566928"/>
          </a:xfrm>
          <a:prstGeom prst="rect">
            <a:avLst/>
          </a:prstGeom>
          <a:noFill/>
          <a:ln/>
        </p:spPr>
        <p:txBody>
          <a:bodyPr wrap="square" lIns="0" tIns="0" rIns="0" bIns="0" rtlCol="0" anchor="ctr"/>
          <a:lstStyle/>
          <a:p>
            <a:pPr marL="0" indent="0" algn="ctr">
              <a:buNone/>
            </a:pPr>
            <a:r>
              <a:rPr lang="en-US" sz="2000" b="1" dirty="0">
                <a:solidFill>
                  <a:srgbClr val="B71C1C"/>
                </a:solidFill>
                <a:latin typeface="Calibri" pitchFamily="34" charset="0"/>
                <a:ea typeface="Calibri" pitchFamily="34" charset="-122"/>
                <a:cs typeface="Calibri" pitchFamily="34" charset="-120"/>
              </a:rPr>
              <a:t>1</a:t>
            </a:r>
            <a:endParaRPr lang="en-US" sz="2000" dirty="0"/>
          </a:p>
        </p:txBody>
      </p:sp>
      <p:sp>
        <p:nvSpPr>
          <p:cNvPr id="11" name="Text 9"/>
          <p:cNvSpPr/>
          <p:nvPr/>
        </p:nvSpPr>
        <p:spPr>
          <a:xfrm>
            <a:off x="1024128" y="1298448"/>
            <a:ext cx="6766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Programme Type &amp; Intensity </a:t>
            </a:r>
            <a:endParaRPr lang="en-US" sz="1400" dirty="0"/>
          </a:p>
        </p:txBody>
      </p:sp>
      <p:sp>
        <p:nvSpPr>
          <p:cNvPr id="12" name="Text 10"/>
          <p:cNvSpPr/>
          <p:nvPr/>
        </p:nvSpPr>
        <p:spPr>
          <a:xfrm>
            <a:off x="1024128" y="1691640"/>
            <a:ext cx="6766560" cy="502920"/>
          </a:xfrm>
          <a:prstGeom prst="rect">
            <a:avLst/>
          </a:prstGeom>
          <a:noFill/>
          <a:ln/>
        </p:spPr>
        <p:txBody>
          <a:bodyPr wrap="square" lIns="0" tIns="0" rIns="0" bIns="0" rtlCol="0" anchor="ctr"/>
          <a:lstStyle/>
          <a:p>
            <a:pPr marL="0" indent="0">
              <a:buNone/>
            </a:pPr>
            <a:r>
              <a:rPr lang="en-US" sz="1300" dirty="0">
                <a:solidFill>
                  <a:srgbClr val="FFCDD2"/>
                </a:solidFill>
                <a:latin typeface="Calibri" pitchFamily="34" charset="0"/>
                <a:ea typeface="Calibri" pitchFamily="34" charset="-122"/>
                <a:cs typeface="Calibri" pitchFamily="34" charset="-120"/>
              </a:rPr>
              <a:t>Internships carry 36.6% churn vs &lt;1.5% for all other categories. The model's most powerful signal — high-effort, team-based programmes create dropout conditions that courses and events simply do not.</a:t>
            </a:r>
            <a:endParaRPr lang="en-US" sz="1300" dirty="0"/>
          </a:p>
        </p:txBody>
      </p:sp>
      <p:sp>
        <p:nvSpPr>
          <p:cNvPr id="13" name="Shape 11"/>
          <p:cNvSpPr/>
          <p:nvPr/>
        </p:nvSpPr>
        <p:spPr>
          <a:xfrm>
            <a:off x="228600" y="2999232"/>
            <a:ext cx="5669280" cy="1536192"/>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14" name="Shape 12"/>
          <p:cNvSpPr/>
          <p:nvPr/>
        </p:nvSpPr>
        <p:spPr>
          <a:xfrm>
            <a:off x="228600" y="2999232"/>
            <a:ext cx="64008" cy="1536192"/>
          </a:xfrm>
          <a:prstGeom prst="rect">
            <a:avLst/>
          </a:prstGeom>
          <a:solidFill>
            <a:srgbClr val="E65100"/>
          </a:solidFill>
          <a:ln w="12700">
            <a:solidFill>
              <a:srgbClr val="E65100"/>
            </a:solidFill>
            <a:prstDash val="solid"/>
          </a:ln>
        </p:spPr>
        <p:txBody>
          <a:bodyPr/>
          <a:lstStyle/>
          <a:p>
            <a:endParaRPr lang="en-KE"/>
          </a:p>
        </p:txBody>
      </p:sp>
      <p:sp>
        <p:nvSpPr>
          <p:cNvPr id="15" name="Shape 13"/>
          <p:cNvSpPr/>
          <p:nvPr/>
        </p:nvSpPr>
        <p:spPr>
          <a:xfrm>
            <a:off x="365760" y="3118104"/>
            <a:ext cx="420624" cy="420624"/>
          </a:xfrm>
          <a:prstGeom prst="ellipse">
            <a:avLst/>
          </a:prstGeom>
          <a:solidFill>
            <a:srgbClr val="E65100"/>
          </a:solidFill>
          <a:ln w="12700">
            <a:solidFill>
              <a:srgbClr val="E65100"/>
            </a:solidFill>
            <a:prstDash val="solid"/>
          </a:ln>
        </p:spPr>
        <p:txBody>
          <a:bodyPr/>
          <a:lstStyle/>
          <a:p>
            <a:endParaRPr lang="en-KE"/>
          </a:p>
        </p:txBody>
      </p:sp>
      <p:sp>
        <p:nvSpPr>
          <p:cNvPr id="16" name="Text 14"/>
          <p:cNvSpPr/>
          <p:nvPr/>
        </p:nvSpPr>
        <p:spPr>
          <a:xfrm>
            <a:off x="365760" y="31181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896112" y="3090672"/>
            <a:ext cx="4864608"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Programme Duration Mismatch (10.5% importance)</a:t>
            </a:r>
            <a:endParaRPr lang="en-US" sz="1150" dirty="0"/>
          </a:p>
        </p:txBody>
      </p:sp>
      <p:sp>
        <p:nvSpPr>
          <p:cNvPr id="18" name="Text 16"/>
          <p:cNvSpPr/>
          <p:nvPr/>
        </p:nvSpPr>
        <p:spPr>
          <a:xfrm>
            <a:off x="884791" y="3374136"/>
            <a:ext cx="4864608" cy="694944"/>
          </a:xfrm>
          <a:prstGeom prst="rect">
            <a:avLst/>
          </a:prstGeom>
          <a:noFill/>
          <a:ln/>
        </p:spPr>
        <p:txBody>
          <a:bodyPr wrap="square" lIns="0" tIns="0" rIns="0" bIns="0" rtlCol="0" anchor="ctr"/>
          <a:lstStyle/>
          <a:p>
            <a:pPr marL="0" indent="0">
              <a:buNone/>
            </a:pPr>
            <a:r>
              <a:rPr lang="en-US" sz="1100" dirty="0">
                <a:solidFill>
                  <a:srgbClr val="1A2B3C"/>
                </a:solidFill>
                <a:latin typeface="Calibri" pitchFamily="34" charset="0"/>
                <a:ea typeface="Calibri" pitchFamily="34" charset="-122"/>
                <a:cs typeface="Calibri" pitchFamily="34" charset="-120"/>
              </a:rPr>
              <a:t>Medium-duration programmes (90–365 days) have 57.7% churn — far higher than short (&lt;90d: 0.3%) or long (&gt;365d: 11.7%). Mid-length internships are too long to sprint through but too short to build lasting commitment.</a:t>
            </a:r>
            <a:endParaRPr lang="en-US" sz="1100" dirty="0"/>
          </a:p>
        </p:txBody>
      </p:sp>
      <p:sp>
        <p:nvSpPr>
          <p:cNvPr id="19" name="Shape 17"/>
          <p:cNvSpPr/>
          <p:nvPr/>
        </p:nvSpPr>
        <p:spPr>
          <a:xfrm>
            <a:off x="1321961" y="4133088"/>
            <a:ext cx="1298448" cy="512064"/>
          </a:xfrm>
          <a:prstGeom prst="rect">
            <a:avLst/>
          </a:prstGeom>
          <a:solidFill>
            <a:srgbClr val="2E7D32"/>
          </a:solidFill>
          <a:ln w="12700">
            <a:solidFill>
              <a:srgbClr val="2E7D32"/>
            </a:solidFill>
            <a:prstDash val="solid"/>
          </a:ln>
        </p:spPr>
        <p:txBody>
          <a:bodyPr/>
          <a:lstStyle/>
          <a:p>
            <a:endParaRPr lang="en-KE"/>
          </a:p>
        </p:txBody>
      </p:sp>
      <p:sp>
        <p:nvSpPr>
          <p:cNvPr id="20" name="Text 18"/>
          <p:cNvSpPr/>
          <p:nvPr/>
        </p:nvSpPr>
        <p:spPr>
          <a:xfrm>
            <a:off x="1301786" y="4105148"/>
            <a:ext cx="1298448" cy="51206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Short &lt;90d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0.3% churn</a:t>
            </a:r>
            <a:endParaRPr lang="en-US" sz="900" dirty="0"/>
          </a:p>
        </p:txBody>
      </p:sp>
      <p:sp>
        <p:nvSpPr>
          <p:cNvPr id="21" name="Shape 19"/>
          <p:cNvSpPr/>
          <p:nvPr/>
        </p:nvSpPr>
        <p:spPr>
          <a:xfrm>
            <a:off x="2707930" y="4114800"/>
            <a:ext cx="1298448" cy="512064"/>
          </a:xfrm>
          <a:prstGeom prst="rect">
            <a:avLst/>
          </a:prstGeom>
          <a:solidFill>
            <a:srgbClr val="B71C1C"/>
          </a:solidFill>
          <a:ln w="12700">
            <a:solidFill>
              <a:srgbClr val="B71C1C"/>
            </a:solidFill>
            <a:prstDash val="solid"/>
          </a:ln>
        </p:spPr>
        <p:txBody>
          <a:bodyPr/>
          <a:lstStyle/>
          <a:p>
            <a:endParaRPr lang="en-KE"/>
          </a:p>
        </p:txBody>
      </p:sp>
      <p:sp>
        <p:nvSpPr>
          <p:cNvPr id="22" name="Text 20"/>
          <p:cNvSpPr/>
          <p:nvPr/>
        </p:nvSpPr>
        <p:spPr>
          <a:xfrm>
            <a:off x="2584269" y="4056888"/>
            <a:ext cx="1298448" cy="51206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 90-365d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57.7% churn</a:t>
            </a:r>
            <a:endParaRPr lang="en-US" sz="900" dirty="0"/>
          </a:p>
        </p:txBody>
      </p:sp>
      <p:sp>
        <p:nvSpPr>
          <p:cNvPr id="23" name="Shape 21"/>
          <p:cNvSpPr/>
          <p:nvPr/>
        </p:nvSpPr>
        <p:spPr>
          <a:xfrm>
            <a:off x="4075611" y="4075176"/>
            <a:ext cx="1298448" cy="512064"/>
          </a:xfrm>
          <a:prstGeom prst="rect">
            <a:avLst/>
          </a:prstGeom>
          <a:solidFill>
            <a:srgbClr val="E65100"/>
          </a:solidFill>
          <a:ln w="12700">
            <a:solidFill>
              <a:srgbClr val="E65100"/>
            </a:solidFill>
            <a:prstDash val="solid"/>
          </a:ln>
        </p:spPr>
        <p:txBody>
          <a:bodyPr/>
          <a:lstStyle/>
          <a:p>
            <a:endParaRPr lang="en-KE"/>
          </a:p>
        </p:txBody>
      </p:sp>
      <p:sp>
        <p:nvSpPr>
          <p:cNvPr id="24" name="Text 22"/>
          <p:cNvSpPr/>
          <p:nvPr/>
        </p:nvSpPr>
        <p:spPr>
          <a:xfrm>
            <a:off x="4106962" y="4032504"/>
            <a:ext cx="1298448" cy="51206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Long &gt;365d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11.7% churn</a:t>
            </a:r>
            <a:endParaRPr lang="en-US" sz="900" dirty="0"/>
          </a:p>
        </p:txBody>
      </p:sp>
      <p:sp>
        <p:nvSpPr>
          <p:cNvPr id="25" name="Shape 23"/>
          <p:cNvSpPr/>
          <p:nvPr/>
        </p:nvSpPr>
        <p:spPr>
          <a:xfrm>
            <a:off x="228600" y="4617720"/>
            <a:ext cx="5669280" cy="1536192"/>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26" name="Shape 24"/>
          <p:cNvSpPr/>
          <p:nvPr/>
        </p:nvSpPr>
        <p:spPr>
          <a:xfrm>
            <a:off x="228600" y="4617720"/>
            <a:ext cx="64008" cy="1536192"/>
          </a:xfrm>
          <a:prstGeom prst="rect">
            <a:avLst/>
          </a:prstGeom>
          <a:solidFill>
            <a:srgbClr val="1565C0"/>
          </a:solidFill>
          <a:ln w="12700">
            <a:solidFill>
              <a:srgbClr val="1565C0"/>
            </a:solidFill>
            <a:prstDash val="solid"/>
          </a:ln>
        </p:spPr>
        <p:txBody>
          <a:bodyPr/>
          <a:lstStyle/>
          <a:p>
            <a:endParaRPr lang="en-KE"/>
          </a:p>
        </p:txBody>
      </p:sp>
      <p:sp>
        <p:nvSpPr>
          <p:cNvPr id="27" name="Shape 25"/>
          <p:cNvSpPr/>
          <p:nvPr/>
        </p:nvSpPr>
        <p:spPr>
          <a:xfrm>
            <a:off x="365760" y="4736592"/>
            <a:ext cx="420624" cy="420624"/>
          </a:xfrm>
          <a:prstGeom prst="ellipse">
            <a:avLst/>
          </a:prstGeom>
          <a:solidFill>
            <a:srgbClr val="1565C0"/>
          </a:solidFill>
          <a:ln w="12700">
            <a:solidFill>
              <a:srgbClr val="1565C0"/>
            </a:solidFill>
            <a:prstDash val="solid"/>
          </a:ln>
        </p:spPr>
        <p:txBody>
          <a:bodyPr/>
          <a:lstStyle/>
          <a:p>
            <a:endParaRPr lang="en-KE"/>
          </a:p>
        </p:txBody>
      </p:sp>
      <p:sp>
        <p:nvSpPr>
          <p:cNvPr id="28" name="Text 26"/>
          <p:cNvSpPr/>
          <p:nvPr/>
        </p:nvSpPr>
        <p:spPr>
          <a:xfrm>
            <a:off x="365760" y="473659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9" name="Text 27"/>
          <p:cNvSpPr/>
          <p:nvPr/>
        </p:nvSpPr>
        <p:spPr>
          <a:xfrm>
            <a:off x="896112" y="4709160"/>
            <a:ext cx="4864608"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Seasonal Sign-Up Timing (6% importance)</a:t>
            </a:r>
            <a:endParaRPr lang="en-US" sz="1150" dirty="0"/>
          </a:p>
        </p:txBody>
      </p:sp>
      <p:sp>
        <p:nvSpPr>
          <p:cNvPr id="30" name="Text 28"/>
          <p:cNvSpPr/>
          <p:nvPr/>
        </p:nvSpPr>
        <p:spPr>
          <a:xfrm>
            <a:off x="896112" y="5074920"/>
            <a:ext cx="4864608" cy="868680"/>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December sign-ups churn at 34.7% — 2.3× the annual average. November: 22.3%. August: 16.8%. Learners who apply speculatively ahead of January cohorts are much more likely to withdraw when circumstances change.</a:t>
            </a:r>
            <a:endParaRPr lang="en-US" sz="1200" dirty="0"/>
          </a:p>
        </p:txBody>
      </p:sp>
      <p:sp>
        <p:nvSpPr>
          <p:cNvPr id="31" name="Shape 29"/>
          <p:cNvSpPr/>
          <p:nvPr/>
        </p:nvSpPr>
        <p:spPr>
          <a:xfrm>
            <a:off x="6080760" y="2999232"/>
            <a:ext cx="5852160" cy="1536192"/>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32" name="Shape 30"/>
          <p:cNvSpPr/>
          <p:nvPr/>
        </p:nvSpPr>
        <p:spPr>
          <a:xfrm>
            <a:off x="6080760" y="2999232"/>
            <a:ext cx="64008" cy="1536192"/>
          </a:xfrm>
          <a:prstGeom prst="rect">
            <a:avLst/>
          </a:prstGeom>
          <a:solidFill>
            <a:srgbClr val="4527A0"/>
          </a:solidFill>
          <a:ln w="12700">
            <a:solidFill>
              <a:srgbClr val="4527A0"/>
            </a:solidFill>
            <a:prstDash val="solid"/>
          </a:ln>
        </p:spPr>
        <p:txBody>
          <a:bodyPr/>
          <a:lstStyle/>
          <a:p>
            <a:endParaRPr lang="en-KE"/>
          </a:p>
        </p:txBody>
      </p:sp>
      <p:sp>
        <p:nvSpPr>
          <p:cNvPr id="33" name="Shape 31"/>
          <p:cNvSpPr/>
          <p:nvPr/>
        </p:nvSpPr>
        <p:spPr>
          <a:xfrm>
            <a:off x="6217920" y="3118104"/>
            <a:ext cx="420624" cy="420624"/>
          </a:xfrm>
          <a:prstGeom prst="ellipse">
            <a:avLst/>
          </a:prstGeom>
          <a:solidFill>
            <a:srgbClr val="4527A0"/>
          </a:solidFill>
          <a:ln w="12700">
            <a:solidFill>
              <a:srgbClr val="4527A0"/>
            </a:solidFill>
            <a:prstDash val="solid"/>
          </a:ln>
        </p:spPr>
        <p:txBody>
          <a:bodyPr/>
          <a:lstStyle/>
          <a:p>
            <a:endParaRPr lang="en-KE"/>
          </a:p>
        </p:txBody>
      </p:sp>
      <p:sp>
        <p:nvSpPr>
          <p:cNvPr id="34" name="Text 32"/>
          <p:cNvSpPr/>
          <p:nvPr/>
        </p:nvSpPr>
        <p:spPr>
          <a:xfrm>
            <a:off x="6217920" y="31181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5" name="Text 33"/>
          <p:cNvSpPr/>
          <p:nvPr/>
        </p:nvSpPr>
        <p:spPr>
          <a:xfrm>
            <a:off x="6748272" y="3090672"/>
            <a:ext cx="5047488"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Specific Programme Design Within Internships</a:t>
            </a:r>
            <a:endParaRPr lang="en-US" sz="1150" dirty="0"/>
          </a:p>
        </p:txBody>
      </p:sp>
      <p:sp>
        <p:nvSpPr>
          <p:cNvPr id="36" name="Text 34"/>
          <p:cNvSpPr/>
          <p:nvPr/>
        </p:nvSpPr>
        <p:spPr>
          <a:xfrm>
            <a:off x="6748272" y="3456432"/>
            <a:ext cx="5047488" cy="868680"/>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Digital Marketing (66.5%), Data Visualization (64.6%), Project Management (62.2%) vs Health Care Management (4.6%), Business Consulting (5.1%). Same category, same learner pool — radically different outcomes. Programme structure matters more than learner demographics.</a:t>
            </a:r>
            <a:endParaRPr lang="en-US" sz="1000" dirty="0"/>
          </a:p>
        </p:txBody>
      </p:sp>
      <p:sp>
        <p:nvSpPr>
          <p:cNvPr id="37" name="Shape 35"/>
          <p:cNvSpPr/>
          <p:nvPr/>
        </p:nvSpPr>
        <p:spPr>
          <a:xfrm>
            <a:off x="6080760" y="4617720"/>
            <a:ext cx="5852160" cy="1536192"/>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38" name="Shape 36"/>
          <p:cNvSpPr/>
          <p:nvPr/>
        </p:nvSpPr>
        <p:spPr>
          <a:xfrm>
            <a:off x="6080760" y="4617720"/>
            <a:ext cx="64008" cy="1536192"/>
          </a:xfrm>
          <a:prstGeom prst="rect">
            <a:avLst/>
          </a:prstGeom>
          <a:solidFill>
            <a:srgbClr val="00897B"/>
          </a:solidFill>
          <a:ln w="12700">
            <a:solidFill>
              <a:srgbClr val="00897B"/>
            </a:solidFill>
            <a:prstDash val="solid"/>
          </a:ln>
        </p:spPr>
        <p:txBody>
          <a:bodyPr/>
          <a:lstStyle/>
          <a:p>
            <a:endParaRPr lang="en-KE"/>
          </a:p>
        </p:txBody>
      </p:sp>
      <p:sp>
        <p:nvSpPr>
          <p:cNvPr id="39" name="Shape 37"/>
          <p:cNvSpPr/>
          <p:nvPr/>
        </p:nvSpPr>
        <p:spPr>
          <a:xfrm>
            <a:off x="6217920" y="4736592"/>
            <a:ext cx="420624" cy="420624"/>
          </a:xfrm>
          <a:prstGeom prst="ellipse">
            <a:avLst/>
          </a:prstGeom>
          <a:solidFill>
            <a:srgbClr val="00897B"/>
          </a:solidFill>
          <a:ln w="12700">
            <a:solidFill>
              <a:srgbClr val="00897B"/>
            </a:solidFill>
            <a:prstDash val="solid"/>
          </a:ln>
        </p:spPr>
        <p:txBody>
          <a:bodyPr/>
          <a:lstStyle/>
          <a:p>
            <a:endParaRPr lang="en-KE"/>
          </a:p>
        </p:txBody>
      </p:sp>
      <p:sp>
        <p:nvSpPr>
          <p:cNvPr id="40" name="Text 38"/>
          <p:cNvSpPr/>
          <p:nvPr/>
        </p:nvSpPr>
        <p:spPr>
          <a:xfrm>
            <a:off x="6217920" y="473659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1" name="Text 39"/>
          <p:cNvSpPr/>
          <p:nvPr/>
        </p:nvSpPr>
        <p:spPr>
          <a:xfrm>
            <a:off x="6748272" y="4709160"/>
            <a:ext cx="5047488"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Geographic Risk Profile (5.7% importance)</a:t>
            </a:r>
            <a:endParaRPr lang="en-US" sz="1150" dirty="0"/>
          </a:p>
        </p:txBody>
      </p:sp>
      <p:sp>
        <p:nvSpPr>
          <p:cNvPr id="42" name="Text 40"/>
          <p:cNvSpPr/>
          <p:nvPr/>
        </p:nvSpPr>
        <p:spPr>
          <a:xfrm>
            <a:off x="6748272" y="5074920"/>
            <a:ext cx="5047488" cy="868680"/>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US learners churn at 18.4% — highest of all major countries. Ghana: 6.4%. Pakistan: 7.3%. Wider availability of alternative opportunities in the US raises the cost of staying with a less-engaging programme.</a:t>
            </a:r>
            <a:endParaRPr lang="en-US" sz="1200" dirty="0"/>
          </a:p>
        </p:txBody>
      </p:sp>
      <p:sp>
        <p:nvSpPr>
          <p:cNvPr id="43" name="Shape 41"/>
          <p:cNvSpPr/>
          <p:nvPr/>
        </p:nvSpPr>
        <p:spPr>
          <a:xfrm>
            <a:off x="6080760" y="2999232"/>
            <a:ext cx="5852160" cy="1536192"/>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44" name="Shape 42"/>
          <p:cNvSpPr/>
          <p:nvPr/>
        </p:nvSpPr>
        <p:spPr>
          <a:xfrm>
            <a:off x="6080760" y="2999232"/>
            <a:ext cx="64008" cy="1536192"/>
          </a:xfrm>
          <a:prstGeom prst="rect">
            <a:avLst/>
          </a:prstGeom>
          <a:solidFill>
            <a:srgbClr val="4527A0"/>
          </a:solidFill>
          <a:ln w="12700">
            <a:solidFill>
              <a:srgbClr val="4527A0"/>
            </a:solidFill>
            <a:prstDash val="solid"/>
          </a:ln>
        </p:spPr>
        <p:txBody>
          <a:bodyPr/>
          <a:lstStyle/>
          <a:p>
            <a:endParaRPr lang="en-KE"/>
          </a:p>
        </p:txBody>
      </p:sp>
      <p:sp>
        <p:nvSpPr>
          <p:cNvPr id="45" name="Shape 43"/>
          <p:cNvSpPr/>
          <p:nvPr/>
        </p:nvSpPr>
        <p:spPr>
          <a:xfrm>
            <a:off x="6217920" y="3118104"/>
            <a:ext cx="420624" cy="420624"/>
          </a:xfrm>
          <a:prstGeom prst="ellipse">
            <a:avLst/>
          </a:prstGeom>
          <a:solidFill>
            <a:srgbClr val="4527A0"/>
          </a:solidFill>
          <a:ln w="12700">
            <a:solidFill>
              <a:srgbClr val="4527A0"/>
            </a:solidFill>
            <a:prstDash val="solid"/>
          </a:ln>
        </p:spPr>
        <p:txBody>
          <a:bodyPr/>
          <a:lstStyle/>
          <a:p>
            <a:endParaRPr lang="en-KE"/>
          </a:p>
        </p:txBody>
      </p:sp>
      <p:sp>
        <p:nvSpPr>
          <p:cNvPr id="46" name="Text 44"/>
          <p:cNvSpPr/>
          <p:nvPr/>
        </p:nvSpPr>
        <p:spPr>
          <a:xfrm>
            <a:off x="6217920" y="31181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7" name="Text 45"/>
          <p:cNvSpPr/>
          <p:nvPr/>
        </p:nvSpPr>
        <p:spPr>
          <a:xfrm>
            <a:off x="6748272" y="3090672"/>
            <a:ext cx="5029200"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Specific Programme Design Within Internships</a:t>
            </a:r>
            <a:endParaRPr lang="en-US" sz="1150" dirty="0"/>
          </a:p>
        </p:txBody>
      </p:sp>
      <p:sp>
        <p:nvSpPr>
          <p:cNvPr id="48" name="Text 46"/>
          <p:cNvSpPr/>
          <p:nvPr/>
        </p:nvSpPr>
        <p:spPr>
          <a:xfrm>
            <a:off x="6748272" y="3493008"/>
            <a:ext cx="2011680" cy="219456"/>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Digital Marketing</a:t>
            </a:r>
            <a:endParaRPr lang="en-US" sz="950" dirty="0"/>
          </a:p>
        </p:txBody>
      </p:sp>
      <p:sp>
        <p:nvSpPr>
          <p:cNvPr id="49" name="Shape 47"/>
          <p:cNvSpPr/>
          <p:nvPr/>
        </p:nvSpPr>
        <p:spPr>
          <a:xfrm>
            <a:off x="8869680" y="3529584"/>
            <a:ext cx="2743200" cy="164592"/>
          </a:xfrm>
          <a:prstGeom prst="rect">
            <a:avLst/>
          </a:prstGeom>
          <a:solidFill>
            <a:srgbClr val="F0F4F8"/>
          </a:solidFill>
          <a:ln w="12700">
            <a:solidFill>
              <a:srgbClr val="CBD5E0"/>
            </a:solidFill>
            <a:prstDash val="solid"/>
          </a:ln>
        </p:spPr>
        <p:txBody>
          <a:bodyPr/>
          <a:lstStyle/>
          <a:p>
            <a:endParaRPr lang="en-KE"/>
          </a:p>
        </p:txBody>
      </p:sp>
      <p:sp>
        <p:nvSpPr>
          <p:cNvPr id="50" name="Shape 48"/>
          <p:cNvSpPr/>
          <p:nvPr/>
        </p:nvSpPr>
        <p:spPr>
          <a:xfrm>
            <a:off x="8869680" y="3529584"/>
            <a:ext cx="2606040" cy="164592"/>
          </a:xfrm>
          <a:prstGeom prst="rect">
            <a:avLst/>
          </a:prstGeom>
          <a:solidFill>
            <a:srgbClr val="B71C1C"/>
          </a:solidFill>
          <a:ln w="12700">
            <a:solidFill>
              <a:srgbClr val="B71C1C"/>
            </a:solidFill>
            <a:prstDash val="solid"/>
          </a:ln>
        </p:spPr>
        <p:txBody>
          <a:bodyPr/>
          <a:lstStyle/>
          <a:p>
            <a:endParaRPr lang="en-KE"/>
          </a:p>
        </p:txBody>
      </p:sp>
      <p:sp>
        <p:nvSpPr>
          <p:cNvPr id="51" name="Text 49"/>
          <p:cNvSpPr/>
          <p:nvPr/>
        </p:nvSpPr>
        <p:spPr>
          <a:xfrm>
            <a:off x="11530584" y="3502152"/>
            <a:ext cx="502920" cy="201168"/>
          </a:xfrm>
          <a:prstGeom prst="rect">
            <a:avLst/>
          </a:prstGeom>
          <a:noFill/>
          <a:ln/>
        </p:spPr>
        <p:txBody>
          <a:bodyPr wrap="square" lIns="0" tIns="0" rIns="0" bIns="0" rtlCol="0" anchor="ctr"/>
          <a:lstStyle/>
          <a:p>
            <a:pPr marL="0" indent="0">
              <a:buNone/>
            </a:pPr>
            <a:r>
              <a:rPr lang="en-US" sz="950" b="1" dirty="0">
                <a:solidFill>
                  <a:srgbClr val="B71C1C"/>
                </a:solidFill>
                <a:latin typeface="Calibri" pitchFamily="34" charset="0"/>
                <a:ea typeface="Calibri" pitchFamily="34" charset="-122"/>
                <a:cs typeface="Calibri" pitchFamily="34" charset="-120"/>
              </a:rPr>
              <a:t>66.5%</a:t>
            </a:r>
            <a:endParaRPr lang="en-US" sz="950" dirty="0"/>
          </a:p>
        </p:txBody>
      </p:sp>
      <p:sp>
        <p:nvSpPr>
          <p:cNvPr id="52" name="Text 50"/>
          <p:cNvSpPr/>
          <p:nvPr/>
        </p:nvSpPr>
        <p:spPr>
          <a:xfrm>
            <a:off x="6748272" y="3721608"/>
            <a:ext cx="2011680" cy="219456"/>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Data Visualization</a:t>
            </a:r>
            <a:endParaRPr lang="en-US" sz="950" dirty="0"/>
          </a:p>
        </p:txBody>
      </p:sp>
      <p:sp>
        <p:nvSpPr>
          <p:cNvPr id="53" name="Shape 51"/>
          <p:cNvSpPr/>
          <p:nvPr/>
        </p:nvSpPr>
        <p:spPr>
          <a:xfrm>
            <a:off x="8869680" y="3758184"/>
            <a:ext cx="2743200" cy="164592"/>
          </a:xfrm>
          <a:prstGeom prst="rect">
            <a:avLst/>
          </a:prstGeom>
          <a:solidFill>
            <a:srgbClr val="F0F4F8"/>
          </a:solidFill>
          <a:ln w="12700">
            <a:solidFill>
              <a:srgbClr val="CBD5E0"/>
            </a:solidFill>
            <a:prstDash val="solid"/>
          </a:ln>
        </p:spPr>
        <p:txBody>
          <a:bodyPr/>
          <a:lstStyle/>
          <a:p>
            <a:endParaRPr lang="en-KE"/>
          </a:p>
        </p:txBody>
      </p:sp>
      <p:sp>
        <p:nvSpPr>
          <p:cNvPr id="54" name="Shape 52"/>
          <p:cNvSpPr/>
          <p:nvPr/>
        </p:nvSpPr>
        <p:spPr>
          <a:xfrm>
            <a:off x="8869680" y="3758184"/>
            <a:ext cx="2531582" cy="164592"/>
          </a:xfrm>
          <a:prstGeom prst="rect">
            <a:avLst/>
          </a:prstGeom>
          <a:solidFill>
            <a:srgbClr val="B71C1C"/>
          </a:solidFill>
          <a:ln w="12700">
            <a:solidFill>
              <a:srgbClr val="B71C1C"/>
            </a:solidFill>
            <a:prstDash val="solid"/>
          </a:ln>
        </p:spPr>
        <p:txBody>
          <a:bodyPr/>
          <a:lstStyle/>
          <a:p>
            <a:endParaRPr lang="en-KE"/>
          </a:p>
        </p:txBody>
      </p:sp>
      <p:sp>
        <p:nvSpPr>
          <p:cNvPr id="55" name="Text 53"/>
          <p:cNvSpPr/>
          <p:nvPr/>
        </p:nvSpPr>
        <p:spPr>
          <a:xfrm>
            <a:off x="11456126" y="3730752"/>
            <a:ext cx="502920" cy="201168"/>
          </a:xfrm>
          <a:prstGeom prst="rect">
            <a:avLst/>
          </a:prstGeom>
          <a:noFill/>
          <a:ln/>
        </p:spPr>
        <p:txBody>
          <a:bodyPr wrap="square" lIns="0" tIns="0" rIns="0" bIns="0" rtlCol="0" anchor="ctr"/>
          <a:lstStyle/>
          <a:p>
            <a:pPr marL="0" indent="0">
              <a:buNone/>
            </a:pPr>
            <a:r>
              <a:rPr lang="en-US" sz="950" b="1" dirty="0">
                <a:solidFill>
                  <a:srgbClr val="B71C1C"/>
                </a:solidFill>
                <a:latin typeface="Calibri" pitchFamily="34" charset="0"/>
                <a:ea typeface="Calibri" pitchFamily="34" charset="-122"/>
                <a:cs typeface="Calibri" pitchFamily="34" charset="-120"/>
              </a:rPr>
              <a:t>64.6%</a:t>
            </a:r>
            <a:endParaRPr lang="en-US" sz="950" dirty="0"/>
          </a:p>
        </p:txBody>
      </p:sp>
      <p:sp>
        <p:nvSpPr>
          <p:cNvPr id="56" name="Text 54"/>
          <p:cNvSpPr/>
          <p:nvPr/>
        </p:nvSpPr>
        <p:spPr>
          <a:xfrm>
            <a:off x="6748272" y="3950208"/>
            <a:ext cx="2011680" cy="219456"/>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Project Management</a:t>
            </a:r>
            <a:endParaRPr lang="en-US" sz="950" dirty="0"/>
          </a:p>
        </p:txBody>
      </p:sp>
      <p:sp>
        <p:nvSpPr>
          <p:cNvPr id="57" name="Shape 55"/>
          <p:cNvSpPr/>
          <p:nvPr/>
        </p:nvSpPr>
        <p:spPr>
          <a:xfrm>
            <a:off x="8869680" y="3986784"/>
            <a:ext cx="2743200" cy="164592"/>
          </a:xfrm>
          <a:prstGeom prst="rect">
            <a:avLst/>
          </a:prstGeom>
          <a:solidFill>
            <a:srgbClr val="F0F4F8"/>
          </a:solidFill>
          <a:ln w="12700">
            <a:solidFill>
              <a:srgbClr val="CBD5E0"/>
            </a:solidFill>
            <a:prstDash val="solid"/>
          </a:ln>
        </p:spPr>
        <p:txBody>
          <a:bodyPr/>
          <a:lstStyle/>
          <a:p>
            <a:endParaRPr lang="en-KE"/>
          </a:p>
        </p:txBody>
      </p:sp>
      <p:sp>
        <p:nvSpPr>
          <p:cNvPr id="58" name="Shape 56"/>
          <p:cNvSpPr/>
          <p:nvPr/>
        </p:nvSpPr>
        <p:spPr>
          <a:xfrm>
            <a:off x="8869680" y="3986784"/>
            <a:ext cx="2437529" cy="164592"/>
          </a:xfrm>
          <a:prstGeom prst="rect">
            <a:avLst/>
          </a:prstGeom>
          <a:solidFill>
            <a:srgbClr val="E65100"/>
          </a:solidFill>
          <a:ln w="12700">
            <a:solidFill>
              <a:srgbClr val="E65100"/>
            </a:solidFill>
            <a:prstDash val="solid"/>
          </a:ln>
        </p:spPr>
        <p:txBody>
          <a:bodyPr/>
          <a:lstStyle/>
          <a:p>
            <a:endParaRPr lang="en-KE"/>
          </a:p>
        </p:txBody>
      </p:sp>
      <p:sp>
        <p:nvSpPr>
          <p:cNvPr id="59" name="Text 57"/>
          <p:cNvSpPr/>
          <p:nvPr/>
        </p:nvSpPr>
        <p:spPr>
          <a:xfrm>
            <a:off x="11362073" y="3959352"/>
            <a:ext cx="502920" cy="201168"/>
          </a:xfrm>
          <a:prstGeom prst="rect">
            <a:avLst/>
          </a:prstGeom>
          <a:noFill/>
          <a:ln/>
        </p:spPr>
        <p:txBody>
          <a:bodyPr wrap="square" lIns="0" tIns="0" rIns="0" bIns="0" rtlCol="0" anchor="ctr"/>
          <a:lstStyle/>
          <a:p>
            <a:pPr marL="0" indent="0">
              <a:buNone/>
            </a:pPr>
            <a:r>
              <a:rPr lang="en-US" sz="950" b="1" dirty="0">
                <a:solidFill>
                  <a:srgbClr val="E65100"/>
                </a:solidFill>
                <a:latin typeface="Calibri" pitchFamily="34" charset="0"/>
                <a:ea typeface="Calibri" pitchFamily="34" charset="-122"/>
                <a:cs typeface="Calibri" pitchFamily="34" charset="-120"/>
              </a:rPr>
              <a:t>62.2%</a:t>
            </a:r>
            <a:endParaRPr lang="en-US" sz="950" dirty="0"/>
          </a:p>
        </p:txBody>
      </p:sp>
      <p:sp>
        <p:nvSpPr>
          <p:cNvPr id="60" name="Text 58"/>
          <p:cNvSpPr/>
          <p:nvPr/>
        </p:nvSpPr>
        <p:spPr>
          <a:xfrm>
            <a:off x="6748272" y="4178808"/>
            <a:ext cx="2011680" cy="219456"/>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Health Care Mgmt</a:t>
            </a:r>
            <a:endParaRPr lang="en-US" sz="950" dirty="0"/>
          </a:p>
        </p:txBody>
      </p:sp>
      <p:sp>
        <p:nvSpPr>
          <p:cNvPr id="61" name="Shape 59"/>
          <p:cNvSpPr/>
          <p:nvPr/>
        </p:nvSpPr>
        <p:spPr>
          <a:xfrm>
            <a:off x="8869680" y="4215384"/>
            <a:ext cx="2743200" cy="164592"/>
          </a:xfrm>
          <a:prstGeom prst="rect">
            <a:avLst/>
          </a:prstGeom>
          <a:solidFill>
            <a:srgbClr val="F0F4F8"/>
          </a:solidFill>
          <a:ln w="12700">
            <a:solidFill>
              <a:srgbClr val="CBD5E0"/>
            </a:solidFill>
            <a:prstDash val="solid"/>
          </a:ln>
        </p:spPr>
        <p:txBody>
          <a:bodyPr/>
          <a:lstStyle/>
          <a:p>
            <a:endParaRPr lang="en-KE"/>
          </a:p>
        </p:txBody>
      </p:sp>
      <p:sp>
        <p:nvSpPr>
          <p:cNvPr id="62" name="Shape 60"/>
          <p:cNvSpPr/>
          <p:nvPr/>
        </p:nvSpPr>
        <p:spPr>
          <a:xfrm>
            <a:off x="8869680" y="4215384"/>
            <a:ext cx="180267" cy="164592"/>
          </a:xfrm>
          <a:prstGeom prst="rect">
            <a:avLst/>
          </a:prstGeom>
          <a:solidFill>
            <a:srgbClr val="2E7D32"/>
          </a:solidFill>
          <a:ln w="12700">
            <a:solidFill>
              <a:srgbClr val="2E7D32"/>
            </a:solidFill>
            <a:prstDash val="solid"/>
          </a:ln>
        </p:spPr>
        <p:txBody>
          <a:bodyPr/>
          <a:lstStyle/>
          <a:p>
            <a:endParaRPr lang="en-KE"/>
          </a:p>
        </p:txBody>
      </p:sp>
      <p:sp>
        <p:nvSpPr>
          <p:cNvPr id="63" name="Text 61"/>
          <p:cNvSpPr/>
          <p:nvPr/>
        </p:nvSpPr>
        <p:spPr>
          <a:xfrm>
            <a:off x="9104811" y="4187952"/>
            <a:ext cx="502920" cy="201168"/>
          </a:xfrm>
          <a:prstGeom prst="rect">
            <a:avLst/>
          </a:prstGeom>
          <a:noFill/>
          <a:ln/>
        </p:spPr>
        <p:txBody>
          <a:bodyPr wrap="square" lIns="0" tIns="0" rIns="0" bIns="0" rtlCol="0" anchor="ctr"/>
          <a:lstStyle/>
          <a:p>
            <a:pPr marL="0" indent="0">
              <a:buNone/>
            </a:pPr>
            <a:r>
              <a:rPr lang="en-US" sz="950" b="1" dirty="0">
                <a:solidFill>
                  <a:srgbClr val="2E7D32"/>
                </a:solidFill>
                <a:latin typeface="Calibri" pitchFamily="34" charset="0"/>
                <a:ea typeface="Calibri" pitchFamily="34" charset="-122"/>
                <a:cs typeface="Calibri" pitchFamily="34" charset="-120"/>
              </a:rPr>
              <a:t>4.6%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599" y="73152"/>
            <a:ext cx="4472119" cy="329184"/>
          </a:xfrm>
          <a:prstGeom prst="rect">
            <a:avLst/>
          </a:prstGeom>
          <a:noFill/>
          <a:ln/>
        </p:spPr>
        <p:txBody>
          <a:bodyPr wrap="square" lIns="0" tIns="0" rIns="0" bIns="0" rtlCol="0" anchor="ctr"/>
          <a:lstStyle/>
          <a:p>
            <a:pPr marL="0" indent="0">
              <a:buNone/>
            </a:pPr>
            <a:r>
              <a:rPr lang="en-US" sz="900" b="1" kern="0" spc="400" dirty="0">
                <a:solidFill>
                  <a:srgbClr val="4DB6AC"/>
                </a:solidFill>
                <a:latin typeface="Calibri" pitchFamily="34" charset="0"/>
                <a:ea typeface="Calibri" pitchFamily="34" charset="-122"/>
                <a:cs typeface="Calibri" pitchFamily="34" charset="-120"/>
              </a:rPr>
              <a:t>MODEL EXPLAINABILITY  ·  SHAP ANALYSIS</a:t>
            </a:r>
            <a:endParaRPr lang="en-US" sz="9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the Model Makes Each Decision</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SHAP values reveal exactly how much each feature pushes a prediction toward or away from churn</a:t>
            </a:r>
            <a:endParaRPr lang="en-US" sz="1100" dirty="0"/>
          </a:p>
        </p:txBody>
      </p:sp>
      <p:sp>
        <p:nvSpPr>
          <p:cNvPr id="7" name="Shape 5"/>
          <p:cNvSpPr/>
          <p:nvPr/>
        </p:nvSpPr>
        <p:spPr>
          <a:xfrm>
            <a:off x="228600" y="1207008"/>
            <a:ext cx="5486400" cy="3392424"/>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dirty="0"/>
          </a:p>
        </p:txBody>
      </p:sp>
      <p:sp>
        <p:nvSpPr>
          <p:cNvPr id="8" name="Shape 6"/>
          <p:cNvSpPr/>
          <p:nvPr/>
        </p:nvSpPr>
        <p:spPr>
          <a:xfrm flipH="1">
            <a:off x="125842" y="1207008"/>
            <a:ext cx="102758" cy="3392424"/>
          </a:xfrm>
          <a:prstGeom prst="rect">
            <a:avLst/>
          </a:prstGeom>
          <a:solidFill>
            <a:srgbClr val="00897B"/>
          </a:solidFill>
          <a:ln w="12700">
            <a:solidFill>
              <a:srgbClr val="00897B"/>
            </a:solidFill>
            <a:prstDash val="solid"/>
          </a:ln>
        </p:spPr>
        <p:txBody>
          <a:bodyPr/>
          <a:lstStyle/>
          <a:p>
            <a:endParaRPr lang="en-KE"/>
          </a:p>
        </p:txBody>
      </p:sp>
      <p:sp>
        <p:nvSpPr>
          <p:cNvPr id="9" name="Text 7"/>
          <p:cNvSpPr/>
          <p:nvPr/>
        </p:nvSpPr>
        <p:spPr>
          <a:xfrm>
            <a:off x="438912" y="1335024"/>
            <a:ext cx="502920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What Actually Drives Churn ? </a:t>
            </a:r>
            <a:endParaRPr lang="en-US" sz="1300" dirty="0"/>
          </a:p>
        </p:txBody>
      </p:sp>
      <p:sp>
        <p:nvSpPr>
          <p:cNvPr id="10" name="Text 8"/>
          <p:cNvSpPr/>
          <p:nvPr/>
        </p:nvSpPr>
        <p:spPr>
          <a:xfrm>
            <a:off x="438912" y="1700784"/>
            <a:ext cx="5029200" cy="274320"/>
          </a:xfrm>
          <a:prstGeom prst="rect">
            <a:avLst/>
          </a:prstGeom>
          <a:noFill/>
          <a:ln/>
        </p:spPr>
        <p:txBody>
          <a:bodyPr wrap="square" lIns="0" tIns="0" rIns="0" bIns="0" rtlCol="0" anchor="ctr"/>
          <a:lstStyle/>
          <a:p>
            <a:pPr marL="0" indent="0">
              <a:buNone/>
            </a:pPr>
            <a:r>
              <a:rPr lang="en-US" sz="1000" i="1" dirty="0">
                <a:solidFill>
                  <a:srgbClr val="5A7A95"/>
                </a:solidFill>
                <a:latin typeface="Calibri" pitchFamily="34" charset="0"/>
                <a:ea typeface="Calibri" pitchFamily="34" charset="-122"/>
                <a:cs typeface="Calibri" pitchFamily="34" charset="-120"/>
              </a:rPr>
              <a:t>How much each feature influences the prediction</a:t>
            </a:r>
            <a:endParaRPr lang="en-US" sz="1000" dirty="0"/>
          </a:p>
        </p:txBody>
      </p:sp>
      <p:sp>
        <p:nvSpPr>
          <p:cNvPr id="11" name="Text 9"/>
          <p:cNvSpPr/>
          <p:nvPr/>
        </p:nvSpPr>
        <p:spPr>
          <a:xfrm>
            <a:off x="411480" y="2121408"/>
            <a:ext cx="2011680"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Engagement Time (Active Phase)</a:t>
            </a:r>
            <a:endParaRPr lang="en-US" sz="950" dirty="0"/>
          </a:p>
        </p:txBody>
      </p:sp>
      <p:sp>
        <p:nvSpPr>
          <p:cNvPr id="13" name="Shape 11"/>
          <p:cNvSpPr/>
          <p:nvPr/>
        </p:nvSpPr>
        <p:spPr>
          <a:xfrm>
            <a:off x="2514600" y="2139696"/>
            <a:ext cx="3200400" cy="237744"/>
          </a:xfrm>
          <a:prstGeom prst="rect">
            <a:avLst/>
          </a:prstGeom>
          <a:solidFill>
            <a:srgbClr val="0B2545"/>
          </a:solidFill>
          <a:ln w="12700">
            <a:solidFill>
              <a:srgbClr val="0B2545"/>
            </a:solidFill>
            <a:prstDash val="solid"/>
          </a:ln>
        </p:spPr>
        <p:txBody>
          <a:bodyPr/>
          <a:lstStyle/>
          <a:p>
            <a:endParaRPr lang="en-KE"/>
          </a:p>
        </p:txBody>
      </p:sp>
      <p:sp>
        <p:nvSpPr>
          <p:cNvPr id="14" name="Text 12"/>
          <p:cNvSpPr/>
          <p:nvPr/>
        </p:nvSpPr>
        <p:spPr>
          <a:xfrm>
            <a:off x="5319743" y="2103120"/>
            <a:ext cx="548640" cy="310896"/>
          </a:xfrm>
          <a:prstGeom prst="rect">
            <a:avLst/>
          </a:prstGeom>
          <a:noFill/>
          <a:ln/>
        </p:spPr>
        <p:txBody>
          <a:bodyPr wrap="square" lIns="0" tIns="0" rIns="0" bIns="0"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35.6%</a:t>
            </a:r>
            <a:endParaRPr lang="en-US" sz="950" dirty="0">
              <a:solidFill>
                <a:schemeClr val="bg1"/>
              </a:solidFill>
            </a:endParaRPr>
          </a:p>
        </p:txBody>
      </p:sp>
      <p:sp>
        <p:nvSpPr>
          <p:cNvPr id="15" name="Text 13"/>
          <p:cNvSpPr/>
          <p:nvPr/>
        </p:nvSpPr>
        <p:spPr>
          <a:xfrm>
            <a:off x="411480" y="2505456"/>
            <a:ext cx="2011680"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Opportunity Duration</a:t>
            </a:r>
            <a:endParaRPr lang="en-US" sz="950" dirty="0"/>
          </a:p>
        </p:txBody>
      </p:sp>
      <p:sp>
        <p:nvSpPr>
          <p:cNvPr id="16" name="Shape 14"/>
          <p:cNvSpPr/>
          <p:nvPr/>
        </p:nvSpPr>
        <p:spPr>
          <a:xfrm>
            <a:off x="2514600" y="2560320"/>
            <a:ext cx="3200400" cy="201168"/>
          </a:xfrm>
          <a:prstGeom prst="rect">
            <a:avLst/>
          </a:prstGeom>
          <a:solidFill>
            <a:srgbClr val="F0F4F8"/>
          </a:solidFill>
          <a:ln w="12700">
            <a:solidFill>
              <a:srgbClr val="CBD5E0"/>
            </a:solidFill>
            <a:prstDash val="solid"/>
          </a:ln>
        </p:spPr>
        <p:txBody>
          <a:bodyPr/>
          <a:lstStyle/>
          <a:p>
            <a:endParaRPr lang="en-KE"/>
          </a:p>
        </p:txBody>
      </p:sp>
      <p:sp>
        <p:nvSpPr>
          <p:cNvPr id="17" name="Shape 15"/>
          <p:cNvSpPr/>
          <p:nvPr/>
        </p:nvSpPr>
        <p:spPr>
          <a:xfrm>
            <a:off x="2514601" y="2560320"/>
            <a:ext cx="2730500" cy="201168"/>
          </a:xfrm>
          <a:prstGeom prst="rect">
            <a:avLst/>
          </a:prstGeom>
          <a:solidFill>
            <a:srgbClr val="0B2545"/>
          </a:solidFill>
          <a:ln w="12700">
            <a:solidFill>
              <a:srgbClr val="0B2545"/>
            </a:solidFill>
            <a:prstDash val="solid"/>
          </a:ln>
        </p:spPr>
        <p:txBody>
          <a:bodyPr/>
          <a:lstStyle/>
          <a:p>
            <a:endParaRPr lang="en-KE"/>
          </a:p>
        </p:txBody>
      </p:sp>
      <p:sp>
        <p:nvSpPr>
          <p:cNvPr id="18" name="Text 16"/>
          <p:cNvSpPr/>
          <p:nvPr/>
        </p:nvSpPr>
        <p:spPr>
          <a:xfrm>
            <a:off x="5309649" y="2505456"/>
            <a:ext cx="548640" cy="310896"/>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29.6%</a:t>
            </a:r>
            <a:endParaRPr lang="en-US" sz="950" dirty="0"/>
          </a:p>
        </p:txBody>
      </p:sp>
      <p:sp>
        <p:nvSpPr>
          <p:cNvPr id="19" name="Text 17"/>
          <p:cNvSpPr/>
          <p:nvPr/>
        </p:nvSpPr>
        <p:spPr>
          <a:xfrm>
            <a:off x="411480" y="2889504"/>
            <a:ext cx="2011680"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Program Category</a:t>
            </a:r>
            <a:endParaRPr lang="en-US" sz="950" dirty="0"/>
          </a:p>
        </p:txBody>
      </p:sp>
      <p:sp>
        <p:nvSpPr>
          <p:cNvPr id="20" name="Shape 18"/>
          <p:cNvSpPr/>
          <p:nvPr/>
        </p:nvSpPr>
        <p:spPr>
          <a:xfrm>
            <a:off x="2514600" y="2944368"/>
            <a:ext cx="3200400" cy="201168"/>
          </a:xfrm>
          <a:prstGeom prst="rect">
            <a:avLst/>
          </a:prstGeom>
          <a:solidFill>
            <a:srgbClr val="F0F4F8"/>
          </a:solidFill>
          <a:ln w="12700">
            <a:solidFill>
              <a:srgbClr val="CBD5E0"/>
            </a:solidFill>
            <a:prstDash val="solid"/>
          </a:ln>
        </p:spPr>
        <p:txBody>
          <a:bodyPr/>
          <a:lstStyle/>
          <a:p>
            <a:endParaRPr lang="en-KE"/>
          </a:p>
        </p:txBody>
      </p:sp>
      <p:sp>
        <p:nvSpPr>
          <p:cNvPr id="21" name="Shape 19"/>
          <p:cNvSpPr/>
          <p:nvPr/>
        </p:nvSpPr>
        <p:spPr>
          <a:xfrm>
            <a:off x="2514600" y="2944368"/>
            <a:ext cx="1582615" cy="201168"/>
          </a:xfrm>
          <a:prstGeom prst="rect">
            <a:avLst/>
          </a:prstGeom>
          <a:solidFill>
            <a:srgbClr val="1565C0"/>
          </a:solidFill>
          <a:ln w="12700">
            <a:solidFill>
              <a:srgbClr val="1565C0"/>
            </a:solidFill>
            <a:prstDash val="solid"/>
          </a:ln>
        </p:spPr>
        <p:txBody>
          <a:bodyPr/>
          <a:lstStyle/>
          <a:p>
            <a:endParaRPr lang="en-KE"/>
          </a:p>
        </p:txBody>
      </p:sp>
      <p:sp>
        <p:nvSpPr>
          <p:cNvPr id="22" name="Text 20"/>
          <p:cNvSpPr/>
          <p:nvPr/>
        </p:nvSpPr>
        <p:spPr>
          <a:xfrm>
            <a:off x="4152079" y="2889504"/>
            <a:ext cx="548640" cy="310896"/>
          </a:xfrm>
          <a:prstGeom prst="rect">
            <a:avLst/>
          </a:prstGeom>
          <a:noFill/>
          <a:ln/>
        </p:spPr>
        <p:txBody>
          <a:bodyPr wrap="square" lIns="0" tIns="0" rIns="0" bIns="0" rtlCol="0" anchor="ctr"/>
          <a:lstStyle/>
          <a:p>
            <a:pPr marL="0" indent="0">
              <a:buNone/>
            </a:pPr>
            <a:r>
              <a:rPr lang="en-US" sz="950" b="1" dirty="0">
                <a:solidFill>
                  <a:srgbClr val="1565C0"/>
                </a:solidFill>
                <a:latin typeface="Calibri" pitchFamily="34" charset="0"/>
                <a:ea typeface="Calibri" pitchFamily="34" charset="-122"/>
                <a:cs typeface="Calibri" pitchFamily="34" charset="-120"/>
              </a:rPr>
              <a:t>23.97%</a:t>
            </a:r>
            <a:endParaRPr lang="en-US" sz="950" dirty="0"/>
          </a:p>
        </p:txBody>
      </p:sp>
      <p:sp>
        <p:nvSpPr>
          <p:cNvPr id="23" name="Text 21"/>
          <p:cNvSpPr/>
          <p:nvPr/>
        </p:nvSpPr>
        <p:spPr>
          <a:xfrm>
            <a:off x="411480" y="3273552"/>
            <a:ext cx="2011680"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Student Age</a:t>
            </a:r>
            <a:endParaRPr lang="en-US" sz="950" dirty="0"/>
          </a:p>
        </p:txBody>
      </p:sp>
      <p:sp>
        <p:nvSpPr>
          <p:cNvPr id="24" name="Shape 22"/>
          <p:cNvSpPr/>
          <p:nvPr/>
        </p:nvSpPr>
        <p:spPr>
          <a:xfrm>
            <a:off x="2514600" y="3328416"/>
            <a:ext cx="3200400" cy="201168"/>
          </a:xfrm>
          <a:prstGeom prst="rect">
            <a:avLst/>
          </a:prstGeom>
          <a:solidFill>
            <a:srgbClr val="F0F4F8"/>
          </a:solidFill>
          <a:ln w="12700">
            <a:solidFill>
              <a:srgbClr val="CBD5E0"/>
            </a:solidFill>
            <a:prstDash val="solid"/>
          </a:ln>
        </p:spPr>
        <p:txBody>
          <a:bodyPr/>
          <a:lstStyle/>
          <a:p>
            <a:endParaRPr lang="en-KE"/>
          </a:p>
        </p:txBody>
      </p:sp>
      <p:sp>
        <p:nvSpPr>
          <p:cNvPr id="27" name="Text 25"/>
          <p:cNvSpPr/>
          <p:nvPr/>
        </p:nvSpPr>
        <p:spPr>
          <a:xfrm>
            <a:off x="411480" y="3657600"/>
            <a:ext cx="2011680"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Student Gender</a:t>
            </a:r>
            <a:endParaRPr lang="en-US" sz="950" dirty="0"/>
          </a:p>
        </p:txBody>
      </p:sp>
      <p:sp>
        <p:nvSpPr>
          <p:cNvPr id="28" name="Shape 26"/>
          <p:cNvSpPr/>
          <p:nvPr/>
        </p:nvSpPr>
        <p:spPr>
          <a:xfrm>
            <a:off x="2514600" y="3712464"/>
            <a:ext cx="3200400" cy="201168"/>
          </a:xfrm>
          <a:prstGeom prst="rect">
            <a:avLst/>
          </a:prstGeom>
          <a:solidFill>
            <a:srgbClr val="F0F4F8"/>
          </a:solidFill>
          <a:ln w="12700">
            <a:solidFill>
              <a:srgbClr val="CBD5E0"/>
            </a:solidFill>
            <a:prstDash val="solid"/>
          </a:ln>
        </p:spPr>
        <p:txBody>
          <a:bodyPr/>
          <a:lstStyle/>
          <a:p>
            <a:endParaRPr lang="en-KE"/>
          </a:p>
        </p:txBody>
      </p:sp>
      <p:sp>
        <p:nvSpPr>
          <p:cNvPr id="30" name="Text 28"/>
          <p:cNvSpPr/>
          <p:nvPr/>
        </p:nvSpPr>
        <p:spPr>
          <a:xfrm>
            <a:off x="2870915" y="3654891"/>
            <a:ext cx="548640" cy="310896"/>
          </a:xfrm>
          <a:prstGeom prst="rect">
            <a:avLst/>
          </a:prstGeom>
          <a:noFill/>
          <a:ln/>
        </p:spPr>
        <p:txBody>
          <a:bodyPr wrap="square" lIns="0" tIns="0" rIns="0" bIns="0" rtlCol="0" anchor="ctr"/>
          <a:lstStyle/>
          <a:p>
            <a:pPr marL="0" indent="0">
              <a:buNone/>
            </a:pPr>
            <a:r>
              <a:rPr lang="en-US" sz="950" b="1" dirty="0">
                <a:solidFill>
                  <a:srgbClr val="008080"/>
                </a:solidFill>
                <a:latin typeface="Calibri" pitchFamily="34" charset="0"/>
                <a:ea typeface="Calibri" pitchFamily="34" charset="-122"/>
                <a:cs typeface="Calibri" pitchFamily="34" charset="-120"/>
              </a:rPr>
              <a:t>1.2%</a:t>
            </a:r>
            <a:endParaRPr lang="en-US" sz="950" dirty="0">
              <a:solidFill>
                <a:srgbClr val="008080"/>
              </a:solidFill>
            </a:endParaRPr>
          </a:p>
        </p:txBody>
      </p:sp>
      <p:sp>
        <p:nvSpPr>
          <p:cNvPr id="31" name="Text 29"/>
          <p:cNvSpPr/>
          <p:nvPr/>
        </p:nvSpPr>
        <p:spPr>
          <a:xfrm>
            <a:off x="411480" y="4041648"/>
            <a:ext cx="2011680" cy="329184"/>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Weekend Activity</a:t>
            </a:r>
            <a:endParaRPr lang="en-US" sz="950" dirty="0"/>
          </a:p>
        </p:txBody>
      </p:sp>
      <p:sp>
        <p:nvSpPr>
          <p:cNvPr id="32" name="Shape 30"/>
          <p:cNvSpPr/>
          <p:nvPr/>
        </p:nvSpPr>
        <p:spPr>
          <a:xfrm>
            <a:off x="2514600" y="4096512"/>
            <a:ext cx="3200400" cy="201168"/>
          </a:xfrm>
          <a:prstGeom prst="rect">
            <a:avLst/>
          </a:prstGeom>
          <a:solidFill>
            <a:srgbClr val="F0F4F8"/>
          </a:solidFill>
          <a:ln w="12700">
            <a:solidFill>
              <a:srgbClr val="CBD5E0"/>
            </a:solidFill>
            <a:prstDash val="solid"/>
          </a:ln>
        </p:spPr>
        <p:txBody>
          <a:bodyPr/>
          <a:lstStyle/>
          <a:p>
            <a:endParaRPr lang="en-KE"/>
          </a:p>
        </p:txBody>
      </p:sp>
      <p:sp>
        <p:nvSpPr>
          <p:cNvPr id="34" name="Text 32"/>
          <p:cNvSpPr/>
          <p:nvPr/>
        </p:nvSpPr>
        <p:spPr>
          <a:xfrm>
            <a:off x="2646101" y="4046220"/>
            <a:ext cx="548640" cy="310896"/>
          </a:xfrm>
          <a:prstGeom prst="rect">
            <a:avLst/>
          </a:prstGeom>
          <a:noFill/>
          <a:ln/>
        </p:spPr>
        <p:txBody>
          <a:bodyPr wrap="square" lIns="0" tIns="0" rIns="0" bIns="0" rtlCol="0" anchor="ctr"/>
          <a:lstStyle/>
          <a:p>
            <a:pPr marL="0" indent="0">
              <a:buNone/>
            </a:pPr>
            <a:r>
              <a:rPr lang="en-US" sz="950" b="1" dirty="0">
                <a:solidFill>
                  <a:schemeClr val="bg1">
                    <a:lumMod val="75000"/>
                  </a:schemeClr>
                </a:solidFill>
                <a:latin typeface="Calibri" pitchFamily="34" charset="0"/>
                <a:ea typeface="Calibri" pitchFamily="34" charset="-122"/>
                <a:cs typeface="Calibri" pitchFamily="34" charset="-120"/>
              </a:rPr>
              <a:t>0.95%</a:t>
            </a:r>
            <a:endParaRPr lang="en-US" sz="950" dirty="0">
              <a:solidFill>
                <a:schemeClr val="bg1">
                  <a:lumMod val="75000"/>
                </a:schemeClr>
              </a:solidFill>
            </a:endParaRPr>
          </a:p>
        </p:txBody>
      </p:sp>
      <p:sp>
        <p:nvSpPr>
          <p:cNvPr id="37" name="Shape 35"/>
          <p:cNvSpPr/>
          <p:nvPr/>
        </p:nvSpPr>
        <p:spPr>
          <a:xfrm>
            <a:off x="2511717" y="3337560"/>
            <a:ext cx="768699" cy="201168"/>
          </a:xfrm>
          <a:prstGeom prst="rect">
            <a:avLst/>
          </a:prstGeom>
          <a:solidFill>
            <a:srgbClr val="E65100"/>
          </a:solidFill>
          <a:ln w="12700">
            <a:solidFill>
              <a:srgbClr val="E65100"/>
            </a:solidFill>
            <a:prstDash val="solid"/>
          </a:ln>
        </p:spPr>
        <p:txBody>
          <a:bodyPr/>
          <a:lstStyle/>
          <a:p>
            <a:endParaRPr lang="en-KE"/>
          </a:p>
        </p:txBody>
      </p:sp>
      <p:sp>
        <p:nvSpPr>
          <p:cNvPr id="38" name="Text 36"/>
          <p:cNvSpPr/>
          <p:nvPr/>
        </p:nvSpPr>
        <p:spPr>
          <a:xfrm>
            <a:off x="3338163" y="4425696"/>
            <a:ext cx="548640" cy="310896"/>
          </a:xfrm>
          <a:prstGeom prst="rect">
            <a:avLst/>
          </a:prstGeom>
          <a:noFill/>
          <a:ln/>
        </p:spPr>
        <p:txBody>
          <a:bodyPr wrap="square" lIns="0" tIns="0" rIns="0" bIns="0" rtlCol="0" anchor="ctr"/>
          <a:lstStyle/>
          <a:p>
            <a:pPr marL="0" indent="0">
              <a:buNone/>
            </a:pPr>
            <a:endParaRPr lang="en-US" sz="950" dirty="0"/>
          </a:p>
        </p:txBody>
      </p:sp>
      <p:sp>
        <p:nvSpPr>
          <p:cNvPr id="42" name="Text 40"/>
          <p:cNvSpPr/>
          <p:nvPr/>
        </p:nvSpPr>
        <p:spPr>
          <a:xfrm>
            <a:off x="3366132" y="3264747"/>
            <a:ext cx="548640" cy="310896"/>
          </a:xfrm>
          <a:prstGeom prst="rect">
            <a:avLst/>
          </a:prstGeom>
          <a:noFill/>
          <a:ln/>
        </p:spPr>
        <p:txBody>
          <a:bodyPr wrap="square" lIns="0" tIns="0" rIns="0" bIns="0" rtlCol="0" anchor="ctr"/>
          <a:lstStyle/>
          <a:p>
            <a:pPr marL="0" indent="0">
              <a:buNone/>
            </a:pPr>
            <a:r>
              <a:rPr lang="en-US" sz="950" b="1" dirty="0">
                <a:solidFill>
                  <a:srgbClr val="E65100"/>
                </a:solidFill>
                <a:latin typeface="Calibri" pitchFamily="34" charset="0"/>
                <a:ea typeface="Calibri" pitchFamily="34" charset="-122"/>
                <a:cs typeface="Calibri" pitchFamily="34" charset="-120"/>
              </a:rPr>
              <a:t>8.7%</a:t>
            </a:r>
            <a:endParaRPr lang="en-US" sz="950" dirty="0"/>
          </a:p>
        </p:txBody>
      </p:sp>
      <p:sp>
        <p:nvSpPr>
          <p:cNvPr id="45" name="Shape 43"/>
          <p:cNvSpPr/>
          <p:nvPr/>
        </p:nvSpPr>
        <p:spPr>
          <a:xfrm>
            <a:off x="2519724" y="3707469"/>
            <a:ext cx="240409" cy="201168"/>
          </a:xfrm>
          <a:prstGeom prst="rect">
            <a:avLst/>
          </a:prstGeom>
          <a:solidFill>
            <a:srgbClr val="00897B"/>
          </a:solidFill>
          <a:ln w="12700">
            <a:solidFill>
              <a:srgbClr val="00897B"/>
            </a:solidFill>
            <a:prstDash val="solid"/>
          </a:ln>
        </p:spPr>
        <p:txBody>
          <a:bodyPr/>
          <a:lstStyle/>
          <a:p>
            <a:endParaRPr lang="en-KE" dirty="0"/>
          </a:p>
        </p:txBody>
      </p:sp>
      <p:sp>
        <p:nvSpPr>
          <p:cNvPr id="46" name="Text 44"/>
          <p:cNvSpPr/>
          <p:nvPr/>
        </p:nvSpPr>
        <p:spPr>
          <a:xfrm>
            <a:off x="3217583" y="5193792"/>
            <a:ext cx="548640" cy="310896"/>
          </a:xfrm>
          <a:prstGeom prst="rect">
            <a:avLst/>
          </a:prstGeom>
          <a:noFill/>
          <a:ln/>
        </p:spPr>
        <p:txBody>
          <a:bodyPr wrap="square" lIns="0" tIns="0" rIns="0" bIns="0" rtlCol="0" anchor="ctr"/>
          <a:lstStyle/>
          <a:p>
            <a:pPr marL="0" indent="0">
              <a:buNone/>
            </a:pPr>
            <a:endParaRPr lang="en-US" sz="950" dirty="0"/>
          </a:p>
        </p:txBody>
      </p:sp>
      <p:sp>
        <p:nvSpPr>
          <p:cNvPr id="49" name="Shape 47"/>
          <p:cNvSpPr/>
          <p:nvPr/>
        </p:nvSpPr>
        <p:spPr>
          <a:xfrm>
            <a:off x="2519724" y="4096512"/>
            <a:ext cx="54864" cy="201168"/>
          </a:xfrm>
          <a:prstGeom prst="rect">
            <a:avLst/>
          </a:prstGeom>
          <a:solidFill>
            <a:srgbClr val="CBD5E0"/>
          </a:solidFill>
          <a:ln w="12700">
            <a:solidFill>
              <a:srgbClr val="CBD5E0"/>
            </a:solidFill>
            <a:prstDash val="solid"/>
          </a:ln>
        </p:spPr>
        <p:txBody>
          <a:bodyPr/>
          <a:lstStyle/>
          <a:p>
            <a:endParaRPr lang="en-KE"/>
          </a:p>
        </p:txBody>
      </p:sp>
      <p:sp>
        <p:nvSpPr>
          <p:cNvPr id="50" name="Text 48"/>
          <p:cNvSpPr/>
          <p:nvPr/>
        </p:nvSpPr>
        <p:spPr>
          <a:xfrm>
            <a:off x="2870915" y="5577840"/>
            <a:ext cx="548640" cy="310896"/>
          </a:xfrm>
          <a:prstGeom prst="rect">
            <a:avLst/>
          </a:prstGeom>
          <a:noFill/>
          <a:ln/>
        </p:spPr>
        <p:txBody>
          <a:bodyPr wrap="square" lIns="0" tIns="0" rIns="0" bIns="0" rtlCol="0" anchor="ctr"/>
          <a:lstStyle/>
          <a:p>
            <a:pPr marL="0" indent="0">
              <a:buNone/>
            </a:pPr>
            <a:endParaRPr lang="en-US" sz="950" dirty="0"/>
          </a:p>
        </p:txBody>
      </p:sp>
      <p:sp>
        <p:nvSpPr>
          <p:cNvPr id="54" name="Text 52"/>
          <p:cNvSpPr/>
          <p:nvPr/>
        </p:nvSpPr>
        <p:spPr>
          <a:xfrm>
            <a:off x="2569464" y="5961888"/>
            <a:ext cx="548640" cy="310896"/>
          </a:xfrm>
          <a:prstGeom prst="rect">
            <a:avLst/>
          </a:prstGeom>
          <a:noFill/>
          <a:ln/>
        </p:spPr>
        <p:txBody>
          <a:bodyPr wrap="square" lIns="0" tIns="0" rIns="0" bIns="0" rtlCol="0" anchor="ctr"/>
          <a:lstStyle/>
          <a:p>
            <a:pPr marL="0" indent="0">
              <a:buNone/>
            </a:pPr>
            <a:endParaRPr lang="en-US" sz="950" dirty="0"/>
          </a:p>
        </p:txBody>
      </p:sp>
      <p:sp>
        <p:nvSpPr>
          <p:cNvPr id="55" name="Shape 53"/>
          <p:cNvSpPr/>
          <p:nvPr/>
        </p:nvSpPr>
        <p:spPr>
          <a:xfrm>
            <a:off x="5972589" y="1353312"/>
            <a:ext cx="5989320" cy="257860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dirty="0"/>
          </a:p>
        </p:txBody>
      </p:sp>
      <p:sp>
        <p:nvSpPr>
          <p:cNvPr id="56" name="Shape 54"/>
          <p:cNvSpPr/>
          <p:nvPr/>
        </p:nvSpPr>
        <p:spPr>
          <a:xfrm>
            <a:off x="5943600" y="1207008"/>
            <a:ext cx="5989320" cy="64008"/>
          </a:xfrm>
          <a:prstGeom prst="rect">
            <a:avLst/>
          </a:prstGeom>
          <a:solidFill>
            <a:srgbClr val="B71C1C"/>
          </a:solidFill>
          <a:ln w="12700">
            <a:solidFill>
              <a:srgbClr val="B71C1C"/>
            </a:solidFill>
            <a:prstDash val="solid"/>
          </a:ln>
        </p:spPr>
        <p:txBody>
          <a:bodyPr/>
          <a:lstStyle/>
          <a:p>
            <a:endParaRPr lang="en-KE"/>
          </a:p>
        </p:txBody>
      </p:sp>
      <p:sp>
        <p:nvSpPr>
          <p:cNvPr id="57" name="Text 55"/>
          <p:cNvSpPr/>
          <p:nvPr/>
        </p:nvSpPr>
        <p:spPr>
          <a:xfrm>
            <a:off x="6126480" y="1335024"/>
            <a:ext cx="5623560" cy="365760"/>
          </a:xfrm>
          <a:prstGeom prst="rect">
            <a:avLst/>
          </a:prstGeom>
          <a:noFill/>
          <a:ln/>
        </p:spPr>
        <p:txBody>
          <a:bodyPr wrap="square" lIns="0" tIns="0" rIns="0" bIns="0" rtlCol="0" anchor="ctr"/>
          <a:lstStyle/>
          <a:p>
            <a:pPr marL="0" indent="0">
              <a:buNone/>
            </a:pPr>
            <a:r>
              <a:rPr lang="en-US" sz="1200" b="1" dirty="0">
                <a:solidFill>
                  <a:srgbClr val="B71C1C"/>
                </a:solidFill>
                <a:latin typeface="Calibri" pitchFamily="34" charset="0"/>
                <a:ea typeface="Calibri" pitchFamily="34" charset="-122"/>
                <a:cs typeface="Calibri" pitchFamily="34" charset="-120"/>
              </a:rPr>
              <a:t>HIGH RISK  — Predicted 86% Churn (Actually Churned)</a:t>
            </a:r>
            <a:endParaRPr lang="en-US" sz="1200" dirty="0"/>
          </a:p>
        </p:txBody>
      </p:sp>
      <p:sp>
        <p:nvSpPr>
          <p:cNvPr id="58" name="Text 56"/>
          <p:cNvSpPr/>
          <p:nvPr/>
        </p:nvSpPr>
        <p:spPr>
          <a:xfrm>
            <a:off x="6126480" y="1792224"/>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Opp Category</a:t>
            </a:r>
            <a:endParaRPr lang="en-US" sz="950" dirty="0"/>
          </a:p>
        </p:txBody>
      </p:sp>
      <p:sp>
        <p:nvSpPr>
          <p:cNvPr id="59" name="Shape 57"/>
          <p:cNvSpPr/>
          <p:nvPr/>
        </p:nvSpPr>
        <p:spPr>
          <a:xfrm>
            <a:off x="8092440" y="1828800"/>
            <a:ext cx="658368" cy="201168"/>
          </a:xfrm>
          <a:prstGeom prst="rect">
            <a:avLst/>
          </a:prstGeom>
          <a:solidFill>
            <a:srgbClr val="B71C1C"/>
          </a:solidFill>
          <a:ln w="12700">
            <a:solidFill>
              <a:srgbClr val="B71C1C"/>
            </a:solidFill>
            <a:prstDash val="solid"/>
          </a:ln>
        </p:spPr>
        <p:txBody>
          <a:bodyPr/>
          <a:lstStyle/>
          <a:p>
            <a:endParaRPr lang="en-KE"/>
          </a:p>
        </p:txBody>
      </p:sp>
      <p:sp>
        <p:nvSpPr>
          <p:cNvPr id="60" name="Text 58"/>
          <p:cNvSpPr/>
          <p:nvPr/>
        </p:nvSpPr>
        <p:spPr>
          <a:xfrm>
            <a:off x="8092440" y="1828800"/>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+1.80</a:t>
            </a:r>
            <a:endParaRPr lang="en-US" sz="900" dirty="0"/>
          </a:p>
        </p:txBody>
      </p:sp>
      <p:sp>
        <p:nvSpPr>
          <p:cNvPr id="61" name="Text 59"/>
          <p:cNvSpPr/>
          <p:nvPr/>
        </p:nvSpPr>
        <p:spPr>
          <a:xfrm>
            <a:off x="8823960" y="1792224"/>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Internship (cat=4)</a:t>
            </a:r>
            <a:endParaRPr lang="en-US" sz="900" dirty="0"/>
          </a:p>
        </p:txBody>
      </p:sp>
      <p:sp>
        <p:nvSpPr>
          <p:cNvPr id="62" name="Text 60"/>
          <p:cNvSpPr/>
          <p:nvPr/>
        </p:nvSpPr>
        <p:spPr>
          <a:xfrm>
            <a:off x="6126480" y="2121408"/>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Category Effort</a:t>
            </a:r>
            <a:endParaRPr lang="en-US" sz="950" dirty="0"/>
          </a:p>
        </p:txBody>
      </p:sp>
      <p:sp>
        <p:nvSpPr>
          <p:cNvPr id="63" name="Shape 61"/>
          <p:cNvSpPr/>
          <p:nvPr/>
        </p:nvSpPr>
        <p:spPr>
          <a:xfrm>
            <a:off x="8092440" y="2157984"/>
            <a:ext cx="658368" cy="201168"/>
          </a:xfrm>
          <a:prstGeom prst="rect">
            <a:avLst/>
          </a:prstGeom>
          <a:solidFill>
            <a:srgbClr val="B71C1C"/>
          </a:solidFill>
          <a:ln w="12700">
            <a:solidFill>
              <a:srgbClr val="B71C1C"/>
            </a:solidFill>
            <a:prstDash val="solid"/>
          </a:ln>
        </p:spPr>
        <p:txBody>
          <a:bodyPr/>
          <a:lstStyle/>
          <a:p>
            <a:endParaRPr lang="en-KE"/>
          </a:p>
        </p:txBody>
      </p:sp>
      <p:sp>
        <p:nvSpPr>
          <p:cNvPr id="64" name="Text 62"/>
          <p:cNvSpPr/>
          <p:nvPr/>
        </p:nvSpPr>
        <p:spPr>
          <a:xfrm>
            <a:off x="8092440" y="2157984"/>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+1.35</a:t>
            </a:r>
            <a:endParaRPr lang="en-US" sz="900" dirty="0"/>
          </a:p>
        </p:txBody>
      </p:sp>
      <p:sp>
        <p:nvSpPr>
          <p:cNvPr id="65" name="Text 63"/>
          <p:cNvSpPr/>
          <p:nvPr/>
        </p:nvSpPr>
        <p:spPr>
          <a:xfrm>
            <a:off x="8823960" y="2121408"/>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Max effort (1.0)</a:t>
            </a:r>
            <a:endParaRPr lang="en-US" sz="900" dirty="0"/>
          </a:p>
        </p:txBody>
      </p:sp>
      <p:sp>
        <p:nvSpPr>
          <p:cNvPr id="66" name="Text 64"/>
          <p:cNvSpPr/>
          <p:nvPr/>
        </p:nvSpPr>
        <p:spPr>
          <a:xfrm>
            <a:off x="6126480" y="2450592"/>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Duration×Age</a:t>
            </a:r>
            <a:endParaRPr lang="en-US" sz="950" dirty="0"/>
          </a:p>
        </p:txBody>
      </p:sp>
      <p:sp>
        <p:nvSpPr>
          <p:cNvPr id="67" name="Shape 65"/>
          <p:cNvSpPr/>
          <p:nvPr/>
        </p:nvSpPr>
        <p:spPr>
          <a:xfrm>
            <a:off x="8092440" y="2487168"/>
            <a:ext cx="658368" cy="201168"/>
          </a:xfrm>
          <a:prstGeom prst="rect">
            <a:avLst/>
          </a:prstGeom>
          <a:solidFill>
            <a:srgbClr val="B71C1C"/>
          </a:solidFill>
          <a:ln w="12700">
            <a:solidFill>
              <a:srgbClr val="B71C1C"/>
            </a:solidFill>
            <a:prstDash val="solid"/>
          </a:ln>
        </p:spPr>
        <p:txBody>
          <a:bodyPr/>
          <a:lstStyle/>
          <a:p>
            <a:endParaRPr lang="en-KE"/>
          </a:p>
        </p:txBody>
      </p:sp>
      <p:sp>
        <p:nvSpPr>
          <p:cNvPr id="68" name="Text 66"/>
          <p:cNvSpPr/>
          <p:nvPr/>
        </p:nvSpPr>
        <p:spPr>
          <a:xfrm>
            <a:off x="8092440" y="2487168"/>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+0.89</a:t>
            </a:r>
            <a:endParaRPr lang="en-US" sz="900" dirty="0"/>
          </a:p>
        </p:txBody>
      </p:sp>
      <p:sp>
        <p:nvSpPr>
          <p:cNvPr id="69" name="Text 67"/>
          <p:cNvSpPr/>
          <p:nvPr/>
        </p:nvSpPr>
        <p:spPr>
          <a:xfrm>
            <a:off x="8823960" y="2450592"/>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Medium-length, age 25</a:t>
            </a:r>
            <a:endParaRPr lang="en-US" sz="900" dirty="0"/>
          </a:p>
        </p:txBody>
      </p:sp>
      <p:sp>
        <p:nvSpPr>
          <p:cNvPr id="70" name="Text 68"/>
          <p:cNvSpPr/>
          <p:nvPr/>
        </p:nvSpPr>
        <p:spPr>
          <a:xfrm>
            <a:off x="6126480" y="2779776"/>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Month Signed Up</a:t>
            </a:r>
            <a:endParaRPr lang="en-US" sz="950" dirty="0"/>
          </a:p>
        </p:txBody>
      </p:sp>
      <p:sp>
        <p:nvSpPr>
          <p:cNvPr id="71" name="Shape 69"/>
          <p:cNvSpPr/>
          <p:nvPr/>
        </p:nvSpPr>
        <p:spPr>
          <a:xfrm>
            <a:off x="8092440" y="2816352"/>
            <a:ext cx="658368" cy="201168"/>
          </a:xfrm>
          <a:prstGeom prst="rect">
            <a:avLst/>
          </a:prstGeom>
          <a:solidFill>
            <a:srgbClr val="B71C1C"/>
          </a:solidFill>
          <a:ln w="12700">
            <a:solidFill>
              <a:srgbClr val="B71C1C"/>
            </a:solidFill>
            <a:prstDash val="solid"/>
          </a:ln>
        </p:spPr>
        <p:txBody>
          <a:bodyPr/>
          <a:lstStyle/>
          <a:p>
            <a:endParaRPr lang="en-KE"/>
          </a:p>
        </p:txBody>
      </p:sp>
      <p:sp>
        <p:nvSpPr>
          <p:cNvPr id="72" name="Text 70"/>
          <p:cNvSpPr/>
          <p:nvPr/>
        </p:nvSpPr>
        <p:spPr>
          <a:xfrm>
            <a:off x="8092440" y="2816352"/>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+0.41</a:t>
            </a:r>
            <a:endParaRPr lang="en-US" sz="900" dirty="0"/>
          </a:p>
        </p:txBody>
      </p:sp>
      <p:sp>
        <p:nvSpPr>
          <p:cNvPr id="73" name="Text 71"/>
          <p:cNvSpPr/>
          <p:nvPr/>
        </p:nvSpPr>
        <p:spPr>
          <a:xfrm>
            <a:off x="8823960" y="2779776"/>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November sign-up</a:t>
            </a:r>
            <a:endParaRPr lang="en-US" sz="900" dirty="0"/>
          </a:p>
        </p:txBody>
      </p:sp>
      <p:sp>
        <p:nvSpPr>
          <p:cNvPr id="74" name="Text 72"/>
          <p:cNvSpPr/>
          <p:nvPr/>
        </p:nvSpPr>
        <p:spPr>
          <a:xfrm>
            <a:off x="6126480" y="3108960"/>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Country</a:t>
            </a:r>
            <a:endParaRPr lang="en-US" sz="950" dirty="0"/>
          </a:p>
        </p:txBody>
      </p:sp>
      <p:sp>
        <p:nvSpPr>
          <p:cNvPr id="75" name="Shape 73"/>
          <p:cNvSpPr/>
          <p:nvPr/>
        </p:nvSpPr>
        <p:spPr>
          <a:xfrm>
            <a:off x="8092440" y="3145536"/>
            <a:ext cx="658368" cy="201168"/>
          </a:xfrm>
          <a:prstGeom prst="rect">
            <a:avLst/>
          </a:prstGeom>
          <a:solidFill>
            <a:srgbClr val="B71C1C"/>
          </a:solidFill>
          <a:ln w="12700">
            <a:solidFill>
              <a:srgbClr val="B71C1C"/>
            </a:solidFill>
            <a:prstDash val="solid"/>
          </a:ln>
        </p:spPr>
        <p:txBody>
          <a:bodyPr/>
          <a:lstStyle/>
          <a:p>
            <a:endParaRPr lang="en-KE"/>
          </a:p>
        </p:txBody>
      </p:sp>
      <p:sp>
        <p:nvSpPr>
          <p:cNvPr id="76" name="Text 74"/>
          <p:cNvSpPr/>
          <p:nvPr/>
        </p:nvSpPr>
        <p:spPr>
          <a:xfrm>
            <a:off x="8092440" y="3145536"/>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+0.40</a:t>
            </a:r>
            <a:endParaRPr lang="en-US" sz="900" dirty="0"/>
          </a:p>
        </p:txBody>
      </p:sp>
      <p:sp>
        <p:nvSpPr>
          <p:cNvPr id="77" name="Text 75"/>
          <p:cNvSpPr/>
          <p:nvPr/>
        </p:nvSpPr>
        <p:spPr>
          <a:xfrm>
            <a:off x="8823960" y="3108960"/>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US learner</a:t>
            </a:r>
            <a:endParaRPr lang="en-US" sz="900" dirty="0"/>
          </a:p>
        </p:txBody>
      </p:sp>
      <p:sp>
        <p:nvSpPr>
          <p:cNvPr id="78" name="Shape 76"/>
          <p:cNvSpPr/>
          <p:nvPr/>
        </p:nvSpPr>
        <p:spPr>
          <a:xfrm>
            <a:off x="5943600" y="3977640"/>
            <a:ext cx="5989320" cy="257860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79" name="Shape 77"/>
          <p:cNvSpPr/>
          <p:nvPr/>
        </p:nvSpPr>
        <p:spPr>
          <a:xfrm>
            <a:off x="5943600" y="3977640"/>
            <a:ext cx="5989320" cy="64008"/>
          </a:xfrm>
          <a:prstGeom prst="rect">
            <a:avLst/>
          </a:prstGeom>
          <a:solidFill>
            <a:srgbClr val="2E7D32"/>
          </a:solidFill>
          <a:ln w="12700">
            <a:solidFill>
              <a:srgbClr val="2E7D32"/>
            </a:solidFill>
            <a:prstDash val="solid"/>
          </a:ln>
        </p:spPr>
        <p:txBody>
          <a:bodyPr/>
          <a:lstStyle/>
          <a:p>
            <a:endParaRPr lang="en-KE"/>
          </a:p>
        </p:txBody>
      </p:sp>
      <p:sp>
        <p:nvSpPr>
          <p:cNvPr id="80" name="Text 78"/>
          <p:cNvSpPr/>
          <p:nvPr/>
        </p:nvSpPr>
        <p:spPr>
          <a:xfrm>
            <a:off x="6126480" y="4105656"/>
            <a:ext cx="5623560" cy="365760"/>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LOW RISK  — Predicted 0.7% Churn (Did Not Churn)</a:t>
            </a:r>
            <a:endParaRPr lang="en-US" sz="1200" dirty="0"/>
          </a:p>
        </p:txBody>
      </p:sp>
      <p:sp>
        <p:nvSpPr>
          <p:cNvPr id="81" name="Text 79"/>
          <p:cNvSpPr/>
          <p:nvPr/>
        </p:nvSpPr>
        <p:spPr>
          <a:xfrm>
            <a:off x="6126480" y="4562856"/>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Opp Category</a:t>
            </a:r>
            <a:endParaRPr lang="en-US" sz="950" dirty="0"/>
          </a:p>
        </p:txBody>
      </p:sp>
      <p:sp>
        <p:nvSpPr>
          <p:cNvPr id="82" name="Shape 80"/>
          <p:cNvSpPr/>
          <p:nvPr/>
        </p:nvSpPr>
        <p:spPr>
          <a:xfrm>
            <a:off x="8092440" y="4599432"/>
            <a:ext cx="658368" cy="201168"/>
          </a:xfrm>
          <a:prstGeom prst="rect">
            <a:avLst/>
          </a:prstGeom>
          <a:solidFill>
            <a:srgbClr val="2E7D32"/>
          </a:solidFill>
          <a:ln w="12700">
            <a:solidFill>
              <a:srgbClr val="2E7D32"/>
            </a:solidFill>
            <a:prstDash val="solid"/>
          </a:ln>
        </p:spPr>
        <p:txBody>
          <a:bodyPr/>
          <a:lstStyle/>
          <a:p>
            <a:endParaRPr lang="en-KE"/>
          </a:p>
        </p:txBody>
      </p:sp>
      <p:sp>
        <p:nvSpPr>
          <p:cNvPr id="83" name="Text 81"/>
          <p:cNvSpPr/>
          <p:nvPr/>
        </p:nvSpPr>
        <p:spPr>
          <a:xfrm>
            <a:off x="8092440" y="4599432"/>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−1.04</a:t>
            </a:r>
            <a:endParaRPr lang="en-US" sz="900" dirty="0"/>
          </a:p>
        </p:txBody>
      </p:sp>
      <p:sp>
        <p:nvSpPr>
          <p:cNvPr id="84" name="Text 82"/>
          <p:cNvSpPr/>
          <p:nvPr/>
        </p:nvSpPr>
        <p:spPr>
          <a:xfrm>
            <a:off x="8823960" y="4562856"/>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Course (cat=1)</a:t>
            </a:r>
            <a:endParaRPr lang="en-US" sz="900" dirty="0"/>
          </a:p>
        </p:txBody>
      </p:sp>
      <p:sp>
        <p:nvSpPr>
          <p:cNvPr id="85" name="Text 83"/>
          <p:cNvSpPr/>
          <p:nvPr/>
        </p:nvSpPr>
        <p:spPr>
          <a:xfrm>
            <a:off x="6126480" y="4892040"/>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Category Effort</a:t>
            </a:r>
            <a:endParaRPr lang="en-US" sz="950" dirty="0"/>
          </a:p>
        </p:txBody>
      </p:sp>
      <p:sp>
        <p:nvSpPr>
          <p:cNvPr id="86" name="Shape 84"/>
          <p:cNvSpPr/>
          <p:nvPr/>
        </p:nvSpPr>
        <p:spPr>
          <a:xfrm>
            <a:off x="8092440" y="4928616"/>
            <a:ext cx="658368" cy="201168"/>
          </a:xfrm>
          <a:prstGeom prst="rect">
            <a:avLst/>
          </a:prstGeom>
          <a:solidFill>
            <a:srgbClr val="2E7D32"/>
          </a:solidFill>
          <a:ln w="12700">
            <a:solidFill>
              <a:srgbClr val="2E7D32"/>
            </a:solidFill>
            <a:prstDash val="solid"/>
          </a:ln>
        </p:spPr>
        <p:txBody>
          <a:bodyPr/>
          <a:lstStyle/>
          <a:p>
            <a:endParaRPr lang="en-KE"/>
          </a:p>
        </p:txBody>
      </p:sp>
      <p:sp>
        <p:nvSpPr>
          <p:cNvPr id="87" name="Text 85"/>
          <p:cNvSpPr/>
          <p:nvPr/>
        </p:nvSpPr>
        <p:spPr>
          <a:xfrm>
            <a:off x="8092440" y="4928616"/>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−0.74</a:t>
            </a:r>
            <a:endParaRPr lang="en-US" sz="900" dirty="0"/>
          </a:p>
        </p:txBody>
      </p:sp>
      <p:sp>
        <p:nvSpPr>
          <p:cNvPr id="88" name="Text 86"/>
          <p:cNvSpPr/>
          <p:nvPr/>
        </p:nvSpPr>
        <p:spPr>
          <a:xfrm>
            <a:off x="8823960" y="4892040"/>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Low effort (0.5)</a:t>
            </a:r>
            <a:endParaRPr lang="en-US" sz="900" dirty="0"/>
          </a:p>
        </p:txBody>
      </p:sp>
      <p:sp>
        <p:nvSpPr>
          <p:cNvPr id="89" name="Text 87"/>
          <p:cNvSpPr/>
          <p:nvPr/>
        </p:nvSpPr>
        <p:spPr>
          <a:xfrm>
            <a:off x="6126480" y="5221224"/>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Friction Score</a:t>
            </a:r>
            <a:endParaRPr lang="en-US" sz="950" dirty="0"/>
          </a:p>
        </p:txBody>
      </p:sp>
      <p:sp>
        <p:nvSpPr>
          <p:cNvPr id="90" name="Shape 88"/>
          <p:cNvSpPr/>
          <p:nvPr/>
        </p:nvSpPr>
        <p:spPr>
          <a:xfrm>
            <a:off x="8092440" y="5257800"/>
            <a:ext cx="658368" cy="201168"/>
          </a:xfrm>
          <a:prstGeom prst="rect">
            <a:avLst/>
          </a:prstGeom>
          <a:solidFill>
            <a:srgbClr val="2E7D32"/>
          </a:solidFill>
          <a:ln w="12700">
            <a:solidFill>
              <a:srgbClr val="2E7D32"/>
            </a:solidFill>
            <a:prstDash val="solid"/>
          </a:ln>
        </p:spPr>
        <p:txBody>
          <a:bodyPr/>
          <a:lstStyle/>
          <a:p>
            <a:endParaRPr lang="en-KE"/>
          </a:p>
        </p:txBody>
      </p:sp>
      <p:sp>
        <p:nvSpPr>
          <p:cNvPr id="91" name="Text 89"/>
          <p:cNvSpPr/>
          <p:nvPr/>
        </p:nvSpPr>
        <p:spPr>
          <a:xfrm>
            <a:off x="8092440" y="5257800"/>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−0.23</a:t>
            </a:r>
            <a:endParaRPr lang="en-US" sz="900" dirty="0"/>
          </a:p>
        </p:txBody>
      </p:sp>
      <p:sp>
        <p:nvSpPr>
          <p:cNvPr id="92" name="Text 90"/>
          <p:cNvSpPr/>
          <p:nvPr/>
        </p:nvSpPr>
        <p:spPr>
          <a:xfrm>
            <a:off x="8823960" y="5221224"/>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Low friction</a:t>
            </a:r>
            <a:endParaRPr lang="en-US" sz="900" dirty="0"/>
          </a:p>
        </p:txBody>
      </p:sp>
      <p:sp>
        <p:nvSpPr>
          <p:cNvPr id="93" name="Text 91"/>
          <p:cNvSpPr/>
          <p:nvPr/>
        </p:nvSpPr>
        <p:spPr>
          <a:xfrm>
            <a:off x="6126480" y="5550408"/>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Month Signed Up</a:t>
            </a:r>
            <a:endParaRPr lang="en-US" sz="950" dirty="0"/>
          </a:p>
        </p:txBody>
      </p:sp>
      <p:sp>
        <p:nvSpPr>
          <p:cNvPr id="94" name="Shape 92"/>
          <p:cNvSpPr/>
          <p:nvPr/>
        </p:nvSpPr>
        <p:spPr>
          <a:xfrm>
            <a:off x="8092440" y="5586984"/>
            <a:ext cx="658368" cy="201168"/>
          </a:xfrm>
          <a:prstGeom prst="rect">
            <a:avLst/>
          </a:prstGeom>
          <a:solidFill>
            <a:srgbClr val="2E7D32"/>
          </a:solidFill>
          <a:ln w="12700">
            <a:solidFill>
              <a:srgbClr val="2E7D32"/>
            </a:solidFill>
            <a:prstDash val="solid"/>
          </a:ln>
        </p:spPr>
        <p:txBody>
          <a:bodyPr/>
          <a:lstStyle/>
          <a:p>
            <a:endParaRPr lang="en-KE"/>
          </a:p>
        </p:txBody>
      </p:sp>
      <p:sp>
        <p:nvSpPr>
          <p:cNvPr id="95" name="Text 93"/>
          <p:cNvSpPr/>
          <p:nvPr/>
        </p:nvSpPr>
        <p:spPr>
          <a:xfrm>
            <a:off x="8092440" y="5586984"/>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−0.11</a:t>
            </a:r>
            <a:endParaRPr lang="en-US" sz="900" dirty="0"/>
          </a:p>
        </p:txBody>
      </p:sp>
      <p:sp>
        <p:nvSpPr>
          <p:cNvPr id="96" name="Text 94"/>
          <p:cNvSpPr/>
          <p:nvPr/>
        </p:nvSpPr>
        <p:spPr>
          <a:xfrm>
            <a:off x="8823960" y="5550408"/>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August sign-up</a:t>
            </a:r>
            <a:endParaRPr lang="en-US" sz="900" dirty="0"/>
          </a:p>
        </p:txBody>
      </p:sp>
      <p:sp>
        <p:nvSpPr>
          <p:cNvPr id="97" name="Text 95"/>
          <p:cNvSpPr/>
          <p:nvPr/>
        </p:nvSpPr>
        <p:spPr>
          <a:xfrm>
            <a:off x="6126480" y="5879592"/>
            <a:ext cx="1920240" cy="274320"/>
          </a:xfrm>
          <a:prstGeom prst="rect">
            <a:avLst/>
          </a:prstGeom>
          <a:noFill/>
          <a:ln/>
        </p:spPr>
        <p:txBody>
          <a:bodyPr wrap="square" lIns="0" tIns="0" rIns="0" bIns="0" rtlCol="0" anchor="ctr"/>
          <a:lstStyle/>
          <a:p>
            <a:pPr marL="0" indent="0">
              <a:buNone/>
            </a:pPr>
            <a:r>
              <a:rPr lang="en-US" sz="950" b="1" dirty="0">
                <a:solidFill>
                  <a:srgbClr val="0B2545"/>
                </a:solidFill>
                <a:latin typeface="Calibri" pitchFamily="34" charset="0"/>
                <a:ea typeface="Calibri" pitchFamily="34" charset="-122"/>
                <a:cs typeface="Calibri" pitchFamily="34" charset="-120"/>
              </a:rPr>
              <a:t>Duration</a:t>
            </a:r>
            <a:endParaRPr lang="en-US" sz="950" dirty="0"/>
          </a:p>
        </p:txBody>
      </p:sp>
      <p:sp>
        <p:nvSpPr>
          <p:cNvPr id="98" name="Shape 96"/>
          <p:cNvSpPr/>
          <p:nvPr/>
        </p:nvSpPr>
        <p:spPr>
          <a:xfrm>
            <a:off x="8092440" y="5916168"/>
            <a:ext cx="658368" cy="201168"/>
          </a:xfrm>
          <a:prstGeom prst="rect">
            <a:avLst/>
          </a:prstGeom>
          <a:solidFill>
            <a:srgbClr val="2E7D32"/>
          </a:solidFill>
          <a:ln w="12700">
            <a:solidFill>
              <a:srgbClr val="2E7D32"/>
            </a:solidFill>
            <a:prstDash val="solid"/>
          </a:ln>
        </p:spPr>
        <p:txBody>
          <a:bodyPr/>
          <a:lstStyle/>
          <a:p>
            <a:endParaRPr lang="en-KE"/>
          </a:p>
        </p:txBody>
      </p:sp>
      <p:sp>
        <p:nvSpPr>
          <p:cNvPr id="99" name="Text 97"/>
          <p:cNvSpPr/>
          <p:nvPr/>
        </p:nvSpPr>
        <p:spPr>
          <a:xfrm>
            <a:off x="8092440" y="5916168"/>
            <a:ext cx="6583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−0.06</a:t>
            </a:r>
            <a:endParaRPr lang="en-US" sz="900" dirty="0"/>
          </a:p>
        </p:txBody>
      </p:sp>
      <p:sp>
        <p:nvSpPr>
          <p:cNvPr id="100" name="Text 98"/>
          <p:cNvSpPr/>
          <p:nvPr/>
        </p:nvSpPr>
        <p:spPr>
          <a:xfrm>
            <a:off x="8823960" y="5879592"/>
            <a:ext cx="2926080" cy="274320"/>
          </a:xfrm>
          <a:prstGeom prst="rect">
            <a:avLst/>
          </a:prstGeom>
          <a:noFill/>
          <a:ln/>
        </p:spPr>
        <p:txBody>
          <a:bodyPr wrap="square" lIns="0" tIns="0" rIns="0" bIns="0" rtlCol="0" anchor="ctr"/>
          <a:lstStyle/>
          <a:p>
            <a:pPr marL="0" indent="0">
              <a:buNone/>
            </a:pPr>
            <a:r>
              <a:rPr lang="en-US" sz="900" dirty="0">
                <a:solidFill>
                  <a:srgbClr val="5A7A95"/>
                </a:solidFill>
                <a:latin typeface="Calibri" pitchFamily="34" charset="0"/>
                <a:ea typeface="Calibri" pitchFamily="34" charset="-122"/>
                <a:cs typeface="Calibri" pitchFamily="34" charset="-120"/>
              </a:rPr>
              <a:t>Long programme (695d)</a:t>
            </a:r>
            <a:endParaRPr lang="en-US" sz="900" dirty="0"/>
          </a:p>
        </p:txBody>
      </p:sp>
      <p:sp>
        <p:nvSpPr>
          <p:cNvPr id="101" name="Shape 23">
            <a:extLst>
              <a:ext uri="{FF2B5EF4-FFF2-40B4-BE49-F238E27FC236}">
                <a16:creationId xmlns:a16="http://schemas.microsoft.com/office/drawing/2014/main" id="{1EAE85D6-6012-E336-3F24-A472BB9842DB}"/>
              </a:ext>
            </a:extLst>
          </p:cNvPr>
          <p:cNvSpPr/>
          <p:nvPr/>
        </p:nvSpPr>
        <p:spPr>
          <a:xfrm>
            <a:off x="109728" y="4891077"/>
            <a:ext cx="5669280" cy="1536192"/>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r>
              <a:rPr lang="en-US" sz="1100" b="1" dirty="0">
                <a:solidFill>
                  <a:srgbClr val="00897B"/>
                </a:solidFill>
                <a:latin typeface="Calibri" pitchFamily="34" charset="0"/>
                <a:ea typeface="Calibri" pitchFamily="34" charset="-122"/>
                <a:cs typeface="Calibri" pitchFamily="34" charset="-120"/>
              </a:rPr>
              <a:t>Insights:</a:t>
            </a:r>
          </a:p>
          <a:p>
            <a:endParaRPr lang="en-US" sz="1100" b="1" dirty="0">
              <a:solidFill>
                <a:srgbClr val="00897B"/>
              </a:solidFill>
              <a:latin typeface="Calibri" pitchFamily="34" charset="0"/>
              <a:ea typeface="Calibri" pitchFamily="34" charset="-122"/>
              <a:cs typeface="Calibri" pitchFamily="34" charset="-120"/>
            </a:endParaRPr>
          </a:p>
          <a:p>
            <a:r>
              <a:rPr lang="en-GB" sz="1100" dirty="0"/>
              <a:t>The high impact of </a:t>
            </a:r>
            <a:r>
              <a:rPr lang="en-GB" sz="1100" b="1" dirty="0"/>
              <a:t>Engagement Time</a:t>
            </a:r>
            <a:r>
              <a:rPr lang="en-GB" sz="1100" dirty="0"/>
              <a:t>, </a:t>
            </a:r>
            <a:r>
              <a:rPr lang="en-GB" sz="1100" b="1" dirty="0"/>
              <a:t>Opportunity Duration</a:t>
            </a:r>
            <a:r>
              <a:rPr lang="en-GB" sz="1100" dirty="0"/>
              <a:t>, and </a:t>
            </a:r>
            <a:r>
              <a:rPr lang="en-GB" sz="1100" b="1" dirty="0"/>
              <a:t>Program Category</a:t>
            </a:r>
            <a:r>
              <a:rPr lang="en-GB" sz="1100" dirty="0"/>
              <a:t> reveals that churn is primarily driven by the "physics" of program design rather than student demographics. </a:t>
            </a:r>
          </a:p>
          <a:p>
            <a:r>
              <a:rPr lang="en-GB" sz="1100" dirty="0"/>
              <a:t>This means the churn rate is ultimately a result of how much logistical weight and time commitment we ask a student to carry.</a:t>
            </a:r>
            <a:endParaRPr lang="en-US" sz="1100" dirty="0"/>
          </a:p>
        </p:txBody>
      </p:sp>
      <p:sp>
        <p:nvSpPr>
          <p:cNvPr id="102" name="Shape 6">
            <a:extLst>
              <a:ext uri="{FF2B5EF4-FFF2-40B4-BE49-F238E27FC236}">
                <a16:creationId xmlns:a16="http://schemas.microsoft.com/office/drawing/2014/main" id="{670274DC-D8A9-973B-7EB5-8FACB3D9E7C8}"/>
              </a:ext>
            </a:extLst>
          </p:cNvPr>
          <p:cNvSpPr/>
          <p:nvPr/>
        </p:nvSpPr>
        <p:spPr>
          <a:xfrm>
            <a:off x="89284" y="4837176"/>
            <a:ext cx="45719" cy="1559052"/>
          </a:xfrm>
          <a:prstGeom prst="rect">
            <a:avLst/>
          </a:prstGeom>
          <a:solidFill>
            <a:srgbClr val="00897B"/>
          </a:solidFill>
          <a:ln w="12700">
            <a:solidFill>
              <a:srgbClr val="00897B"/>
            </a:solidFill>
            <a:prstDash val="solid"/>
          </a:ln>
        </p:spPr>
        <p:txBody>
          <a:bodyPr/>
          <a:lstStyle/>
          <a:p>
            <a:endParaRPr lang="en-K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600" y="73152"/>
            <a:ext cx="2743200" cy="256032"/>
          </a:xfrm>
          <a:prstGeom prst="rect">
            <a:avLst/>
          </a:prstGeom>
          <a:noFill/>
          <a:ln/>
        </p:spPr>
        <p:txBody>
          <a:bodyPr wrap="square" lIns="0" tIns="0" rIns="0" bIns="0" rtlCol="0" anchor="ctr"/>
          <a:lstStyle/>
          <a:p>
            <a:pPr marL="0" indent="0">
              <a:buNone/>
            </a:pPr>
            <a:r>
              <a:rPr lang="en-US" sz="900" b="1" kern="0" spc="400" dirty="0">
                <a:solidFill>
                  <a:srgbClr val="4DB6AC"/>
                </a:solidFill>
                <a:latin typeface="Calibri" pitchFamily="34" charset="0"/>
                <a:ea typeface="Calibri" pitchFamily="34" charset="-122"/>
                <a:cs typeface="Calibri" pitchFamily="34" charset="-120"/>
              </a:rPr>
              <a:t>WEEK 3  ·  PREDICTIVE MODELLING</a:t>
            </a:r>
            <a:endParaRPr lang="en-US" sz="9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Selection &amp; Performance</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3 models trained and compared — Gradient Boosting selected as best predictor of student churn</a:t>
            </a:r>
            <a:endParaRPr lang="en-US" sz="1100" dirty="0"/>
          </a:p>
        </p:txBody>
      </p:sp>
      <p:sp>
        <p:nvSpPr>
          <p:cNvPr id="7" name="Shape 5"/>
          <p:cNvSpPr/>
          <p:nvPr/>
        </p:nvSpPr>
        <p:spPr>
          <a:xfrm>
            <a:off x="300228" y="1188720"/>
            <a:ext cx="11963400" cy="376732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dirty="0"/>
          </a:p>
        </p:txBody>
      </p:sp>
      <p:sp>
        <p:nvSpPr>
          <p:cNvPr id="8" name="Shape 6"/>
          <p:cNvSpPr/>
          <p:nvPr/>
        </p:nvSpPr>
        <p:spPr>
          <a:xfrm>
            <a:off x="228600" y="1207008"/>
            <a:ext cx="79248" cy="3767328"/>
          </a:xfrm>
          <a:prstGeom prst="rect">
            <a:avLst/>
          </a:prstGeom>
          <a:solidFill>
            <a:srgbClr val="00897B"/>
          </a:solidFill>
          <a:ln w="12700">
            <a:solidFill>
              <a:srgbClr val="00897B"/>
            </a:solidFill>
            <a:prstDash val="solid"/>
          </a:ln>
        </p:spPr>
        <p:txBody>
          <a:bodyPr/>
          <a:lstStyle/>
          <a:p>
            <a:endParaRPr lang="en-KE"/>
          </a:p>
        </p:txBody>
      </p:sp>
      <p:sp>
        <p:nvSpPr>
          <p:cNvPr id="9" name="Text 7"/>
          <p:cNvSpPr/>
          <p:nvPr/>
        </p:nvSpPr>
        <p:spPr>
          <a:xfrm>
            <a:off x="438912" y="1353312"/>
            <a:ext cx="1115568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Model Comparison — Test Set Performance (25% hold-out, n=1,107)</a:t>
            </a:r>
            <a:endParaRPr lang="en-US" sz="1300" dirty="0"/>
          </a:p>
        </p:txBody>
      </p:sp>
      <p:sp>
        <p:nvSpPr>
          <p:cNvPr id="10" name="Shape 8"/>
          <p:cNvSpPr/>
          <p:nvPr/>
        </p:nvSpPr>
        <p:spPr>
          <a:xfrm>
            <a:off x="320040" y="1783080"/>
            <a:ext cx="2286000" cy="384048"/>
          </a:xfrm>
          <a:prstGeom prst="rect">
            <a:avLst/>
          </a:prstGeom>
          <a:solidFill>
            <a:srgbClr val="0B2545"/>
          </a:solidFill>
          <a:ln w="12700">
            <a:solidFill>
              <a:srgbClr val="CBD5E0"/>
            </a:solidFill>
            <a:prstDash val="solid"/>
          </a:ln>
        </p:spPr>
        <p:txBody>
          <a:bodyPr/>
          <a:lstStyle/>
          <a:p>
            <a:endParaRPr lang="en-KE"/>
          </a:p>
        </p:txBody>
      </p:sp>
      <p:sp>
        <p:nvSpPr>
          <p:cNvPr id="11" name="Text 9"/>
          <p:cNvSpPr/>
          <p:nvPr/>
        </p:nvSpPr>
        <p:spPr>
          <a:xfrm>
            <a:off x="356616" y="1819656"/>
            <a:ext cx="2212848"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12" name="Shape 10"/>
          <p:cNvSpPr/>
          <p:nvPr/>
        </p:nvSpPr>
        <p:spPr>
          <a:xfrm>
            <a:off x="2606040" y="1783080"/>
            <a:ext cx="1097280" cy="384048"/>
          </a:xfrm>
          <a:prstGeom prst="rect">
            <a:avLst/>
          </a:prstGeom>
          <a:solidFill>
            <a:srgbClr val="0B2545"/>
          </a:solidFill>
          <a:ln w="12700">
            <a:solidFill>
              <a:srgbClr val="CBD5E0"/>
            </a:solidFill>
            <a:prstDash val="solid"/>
          </a:ln>
        </p:spPr>
        <p:txBody>
          <a:bodyPr/>
          <a:lstStyle/>
          <a:p>
            <a:endParaRPr lang="en-KE"/>
          </a:p>
        </p:txBody>
      </p:sp>
      <p:sp>
        <p:nvSpPr>
          <p:cNvPr id="13" name="Text 11"/>
          <p:cNvSpPr/>
          <p:nvPr/>
        </p:nvSpPr>
        <p:spPr>
          <a:xfrm>
            <a:off x="2642616" y="1819656"/>
            <a:ext cx="10241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p>
        </p:txBody>
      </p:sp>
      <p:sp>
        <p:nvSpPr>
          <p:cNvPr id="14" name="Shape 12"/>
          <p:cNvSpPr/>
          <p:nvPr/>
        </p:nvSpPr>
        <p:spPr>
          <a:xfrm>
            <a:off x="3703320" y="1783080"/>
            <a:ext cx="1097280" cy="384048"/>
          </a:xfrm>
          <a:prstGeom prst="rect">
            <a:avLst/>
          </a:prstGeom>
          <a:solidFill>
            <a:srgbClr val="0B2545"/>
          </a:solidFill>
          <a:ln w="12700">
            <a:solidFill>
              <a:srgbClr val="CBD5E0"/>
            </a:solidFill>
            <a:prstDash val="solid"/>
          </a:ln>
        </p:spPr>
        <p:txBody>
          <a:bodyPr/>
          <a:lstStyle/>
          <a:p>
            <a:endParaRPr lang="en-KE"/>
          </a:p>
        </p:txBody>
      </p:sp>
      <p:sp>
        <p:nvSpPr>
          <p:cNvPr id="15" name="Text 13"/>
          <p:cNvSpPr/>
          <p:nvPr/>
        </p:nvSpPr>
        <p:spPr>
          <a:xfrm>
            <a:off x="3739896" y="1819656"/>
            <a:ext cx="102412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p>
        </p:txBody>
      </p:sp>
      <p:sp>
        <p:nvSpPr>
          <p:cNvPr id="16" name="Shape 14"/>
          <p:cNvSpPr/>
          <p:nvPr/>
        </p:nvSpPr>
        <p:spPr>
          <a:xfrm>
            <a:off x="4800600" y="1783080"/>
            <a:ext cx="1005840" cy="384048"/>
          </a:xfrm>
          <a:prstGeom prst="rect">
            <a:avLst/>
          </a:prstGeom>
          <a:solidFill>
            <a:srgbClr val="0B2545"/>
          </a:solidFill>
          <a:ln w="12700">
            <a:solidFill>
              <a:srgbClr val="CBD5E0"/>
            </a:solidFill>
            <a:prstDash val="solid"/>
          </a:ln>
        </p:spPr>
        <p:txBody>
          <a:bodyPr/>
          <a:lstStyle/>
          <a:p>
            <a:endParaRPr lang="en-KE"/>
          </a:p>
        </p:txBody>
      </p:sp>
      <p:sp>
        <p:nvSpPr>
          <p:cNvPr id="17" name="Text 15"/>
          <p:cNvSpPr/>
          <p:nvPr/>
        </p:nvSpPr>
        <p:spPr>
          <a:xfrm>
            <a:off x="4837176" y="181965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p>
        </p:txBody>
      </p:sp>
      <p:sp>
        <p:nvSpPr>
          <p:cNvPr id="18" name="Shape 16"/>
          <p:cNvSpPr/>
          <p:nvPr/>
        </p:nvSpPr>
        <p:spPr>
          <a:xfrm>
            <a:off x="5806440" y="1783080"/>
            <a:ext cx="1005840" cy="384048"/>
          </a:xfrm>
          <a:prstGeom prst="rect">
            <a:avLst/>
          </a:prstGeom>
          <a:solidFill>
            <a:srgbClr val="0B2545"/>
          </a:solidFill>
          <a:ln w="12700">
            <a:solidFill>
              <a:srgbClr val="CBD5E0"/>
            </a:solidFill>
            <a:prstDash val="solid"/>
          </a:ln>
        </p:spPr>
        <p:txBody>
          <a:bodyPr/>
          <a:lstStyle/>
          <a:p>
            <a:endParaRPr lang="en-KE"/>
          </a:p>
        </p:txBody>
      </p:sp>
      <p:sp>
        <p:nvSpPr>
          <p:cNvPr id="19" name="Text 17"/>
          <p:cNvSpPr/>
          <p:nvPr/>
        </p:nvSpPr>
        <p:spPr>
          <a:xfrm>
            <a:off x="5843016" y="181965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F1-Score</a:t>
            </a:r>
            <a:endParaRPr lang="en-US" sz="1000" dirty="0"/>
          </a:p>
        </p:txBody>
      </p:sp>
      <p:sp>
        <p:nvSpPr>
          <p:cNvPr id="20" name="Shape 18"/>
          <p:cNvSpPr/>
          <p:nvPr/>
        </p:nvSpPr>
        <p:spPr>
          <a:xfrm>
            <a:off x="6812280" y="1783080"/>
            <a:ext cx="1005840" cy="384048"/>
          </a:xfrm>
          <a:prstGeom prst="rect">
            <a:avLst/>
          </a:prstGeom>
          <a:solidFill>
            <a:srgbClr val="0B2545"/>
          </a:solidFill>
          <a:ln w="12700">
            <a:solidFill>
              <a:srgbClr val="CBD5E0"/>
            </a:solidFill>
            <a:prstDash val="solid"/>
          </a:ln>
        </p:spPr>
        <p:txBody>
          <a:bodyPr/>
          <a:lstStyle/>
          <a:p>
            <a:endParaRPr lang="en-KE"/>
          </a:p>
        </p:txBody>
      </p:sp>
      <p:sp>
        <p:nvSpPr>
          <p:cNvPr id="21" name="Text 19"/>
          <p:cNvSpPr/>
          <p:nvPr/>
        </p:nvSpPr>
        <p:spPr>
          <a:xfrm>
            <a:off x="6848856" y="1819656"/>
            <a:ext cx="93268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AUC-ROC</a:t>
            </a:r>
            <a:endParaRPr lang="en-US" sz="1000" dirty="0"/>
          </a:p>
        </p:txBody>
      </p:sp>
      <p:sp>
        <p:nvSpPr>
          <p:cNvPr id="22" name="Shape 20"/>
          <p:cNvSpPr/>
          <p:nvPr/>
        </p:nvSpPr>
        <p:spPr>
          <a:xfrm>
            <a:off x="7818120" y="1783080"/>
            <a:ext cx="914400" cy="384048"/>
          </a:xfrm>
          <a:prstGeom prst="rect">
            <a:avLst/>
          </a:prstGeom>
          <a:solidFill>
            <a:srgbClr val="0B2545"/>
          </a:solidFill>
          <a:ln w="12700">
            <a:solidFill>
              <a:srgbClr val="CBD5E0"/>
            </a:solidFill>
            <a:prstDash val="solid"/>
          </a:ln>
        </p:spPr>
        <p:txBody>
          <a:bodyPr/>
          <a:lstStyle/>
          <a:p>
            <a:endParaRPr lang="en-KE"/>
          </a:p>
        </p:txBody>
      </p:sp>
      <p:sp>
        <p:nvSpPr>
          <p:cNvPr id="23" name="Text 21"/>
          <p:cNvSpPr/>
          <p:nvPr/>
        </p:nvSpPr>
        <p:spPr>
          <a:xfrm>
            <a:off x="7854696" y="1819656"/>
            <a:ext cx="841248"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Rank</a:t>
            </a:r>
            <a:endParaRPr lang="en-US" sz="1000" dirty="0"/>
          </a:p>
        </p:txBody>
      </p:sp>
      <p:sp>
        <p:nvSpPr>
          <p:cNvPr id="24" name="Shape 22"/>
          <p:cNvSpPr/>
          <p:nvPr/>
        </p:nvSpPr>
        <p:spPr>
          <a:xfrm>
            <a:off x="8732520" y="1783080"/>
            <a:ext cx="3543300" cy="365760"/>
          </a:xfrm>
          <a:prstGeom prst="rect">
            <a:avLst/>
          </a:prstGeom>
          <a:solidFill>
            <a:srgbClr val="0B2545"/>
          </a:solidFill>
          <a:ln w="12700">
            <a:solidFill>
              <a:srgbClr val="CBD5E0"/>
            </a:solidFill>
            <a:prstDash val="solid"/>
          </a:ln>
        </p:spPr>
        <p:txBody>
          <a:bodyPr/>
          <a:lstStyle/>
          <a:p>
            <a:endParaRPr lang="en-KE"/>
          </a:p>
        </p:txBody>
      </p:sp>
      <p:sp>
        <p:nvSpPr>
          <p:cNvPr id="25" name="Text 23"/>
          <p:cNvSpPr/>
          <p:nvPr/>
        </p:nvSpPr>
        <p:spPr>
          <a:xfrm>
            <a:off x="8769095" y="1819656"/>
            <a:ext cx="3320235"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Why It Was Tested</a:t>
            </a:r>
            <a:endParaRPr lang="en-US" sz="1000" dirty="0"/>
          </a:p>
        </p:txBody>
      </p:sp>
      <p:sp>
        <p:nvSpPr>
          <p:cNvPr id="26" name="Shape 24"/>
          <p:cNvSpPr/>
          <p:nvPr/>
        </p:nvSpPr>
        <p:spPr>
          <a:xfrm>
            <a:off x="320040" y="2240280"/>
            <a:ext cx="2286000" cy="475488"/>
          </a:xfrm>
          <a:prstGeom prst="rect">
            <a:avLst/>
          </a:prstGeom>
          <a:solidFill>
            <a:srgbClr val="FFFFFF"/>
          </a:solidFill>
          <a:ln w="12700">
            <a:solidFill>
              <a:srgbClr val="CBD5E0"/>
            </a:solidFill>
            <a:prstDash val="solid"/>
          </a:ln>
        </p:spPr>
        <p:txBody>
          <a:bodyPr/>
          <a:lstStyle/>
          <a:p>
            <a:endParaRPr lang="en-KE"/>
          </a:p>
        </p:txBody>
      </p:sp>
      <p:sp>
        <p:nvSpPr>
          <p:cNvPr id="27" name="Text 25"/>
          <p:cNvSpPr/>
          <p:nvPr/>
        </p:nvSpPr>
        <p:spPr>
          <a:xfrm>
            <a:off x="356616" y="2276856"/>
            <a:ext cx="2212848" cy="402336"/>
          </a:xfrm>
          <a:prstGeom prst="rect">
            <a:avLst/>
          </a:prstGeom>
          <a:noFill/>
          <a:ln/>
        </p:spPr>
        <p:txBody>
          <a:bodyPr wrap="square" lIns="0" tIns="0" rIns="0" bIns="0" rtlCol="0" anchor="ctr"/>
          <a:lstStyle/>
          <a:p>
            <a:pPr marL="0" indent="0" algn="l">
              <a:buNone/>
            </a:pPr>
            <a:r>
              <a:rPr lang="en-US" sz="950" b="1" dirty="0">
                <a:solidFill>
                  <a:srgbClr val="0B2545"/>
                </a:solidFill>
                <a:latin typeface="Calibri" pitchFamily="34" charset="0"/>
                <a:ea typeface="Calibri" pitchFamily="34" charset="-122"/>
                <a:cs typeface="Calibri" pitchFamily="34" charset="-120"/>
              </a:rPr>
              <a:t>Logistic Regression</a:t>
            </a:r>
            <a:endParaRPr lang="en-US" sz="950" dirty="0"/>
          </a:p>
        </p:txBody>
      </p:sp>
      <p:sp>
        <p:nvSpPr>
          <p:cNvPr id="28" name="Shape 26"/>
          <p:cNvSpPr/>
          <p:nvPr/>
        </p:nvSpPr>
        <p:spPr>
          <a:xfrm>
            <a:off x="2606040" y="2240280"/>
            <a:ext cx="1097280" cy="475488"/>
          </a:xfrm>
          <a:prstGeom prst="rect">
            <a:avLst/>
          </a:prstGeom>
          <a:solidFill>
            <a:srgbClr val="FFFFFF"/>
          </a:solidFill>
          <a:ln w="12700">
            <a:solidFill>
              <a:srgbClr val="CBD5E0"/>
            </a:solidFill>
            <a:prstDash val="solid"/>
          </a:ln>
        </p:spPr>
        <p:txBody>
          <a:bodyPr/>
          <a:lstStyle/>
          <a:p>
            <a:endParaRPr lang="en-KE"/>
          </a:p>
        </p:txBody>
      </p:sp>
      <p:sp>
        <p:nvSpPr>
          <p:cNvPr id="29" name="Text 27"/>
          <p:cNvSpPr/>
          <p:nvPr/>
        </p:nvSpPr>
        <p:spPr>
          <a:xfrm>
            <a:off x="2642616" y="2276856"/>
            <a:ext cx="102412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88.9%</a:t>
            </a:r>
            <a:endParaRPr lang="en-US" sz="950" dirty="0"/>
          </a:p>
        </p:txBody>
      </p:sp>
      <p:sp>
        <p:nvSpPr>
          <p:cNvPr id="30" name="Shape 28"/>
          <p:cNvSpPr/>
          <p:nvPr/>
        </p:nvSpPr>
        <p:spPr>
          <a:xfrm>
            <a:off x="3703320" y="2240280"/>
            <a:ext cx="1097280" cy="475488"/>
          </a:xfrm>
          <a:prstGeom prst="rect">
            <a:avLst/>
          </a:prstGeom>
          <a:solidFill>
            <a:srgbClr val="FFFFFF"/>
          </a:solidFill>
          <a:ln w="12700">
            <a:solidFill>
              <a:srgbClr val="CBD5E0"/>
            </a:solidFill>
            <a:prstDash val="solid"/>
          </a:ln>
        </p:spPr>
        <p:txBody>
          <a:bodyPr/>
          <a:lstStyle/>
          <a:p>
            <a:endParaRPr lang="en-KE"/>
          </a:p>
        </p:txBody>
      </p:sp>
      <p:sp>
        <p:nvSpPr>
          <p:cNvPr id="31" name="Text 29"/>
          <p:cNvSpPr/>
          <p:nvPr/>
        </p:nvSpPr>
        <p:spPr>
          <a:xfrm>
            <a:off x="3739896" y="2276856"/>
            <a:ext cx="102412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73.6%</a:t>
            </a:r>
            <a:endParaRPr lang="en-US" sz="950" dirty="0"/>
          </a:p>
        </p:txBody>
      </p:sp>
      <p:sp>
        <p:nvSpPr>
          <p:cNvPr id="32" name="Shape 30"/>
          <p:cNvSpPr/>
          <p:nvPr/>
        </p:nvSpPr>
        <p:spPr>
          <a:xfrm>
            <a:off x="4800600" y="2240280"/>
            <a:ext cx="1005840" cy="475488"/>
          </a:xfrm>
          <a:prstGeom prst="rect">
            <a:avLst/>
          </a:prstGeom>
          <a:solidFill>
            <a:srgbClr val="FFFFFF"/>
          </a:solidFill>
          <a:ln w="12700">
            <a:solidFill>
              <a:srgbClr val="CBD5E0"/>
            </a:solidFill>
            <a:prstDash val="solid"/>
          </a:ln>
        </p:spPr>
        <p:txBody>
          <a:bodyPr/>
          <a:lstStyle/>
          <a:p>
            <a:endParaRPr lang="en-KE"/>
          </a:p>
        </p:txBody>
      </p:sp>
      <p:sp>
        <p:nvSpPr>
          <p:cNvPr id="33" name="Text 31"/>
          <p:cNvSpPr/>
          <p:nvPr/>
        </p:nvSpPr>
        <p:spPr>
          <a:xfrm>
            <a:off x="4837176" y="227685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37.4%</a:t>
            </a:r>
            <a:endParaRPr lang="en-US" sz="950" dirty="0"/>
          </a:p>
        </p:txBody>
      </p:sp>
      <p:sp>
        <p:nvSpPr>
          <p:cNvPr id="34" name="Shape 32"/>
          <p:cNvSpPr/>
          <p:nvPr/>
        </p:nvSpPr>
        <p:spPr>
          <a:xfrm>
            <a:off x="5806440" y="2240280"/>
            <a:ext cx="1005840" cy="475488"/>
          </a:xfrm>
          <a:prstGeom prst="rect">
            <a:avLst/>
          </a:prstGeom>
          <a:solidFill>
            <a:srgbClr val="FFFFFF"/>
          </a:solidFill>
          <a:ln w="12700">
            <a:solidFill>
              <a:srgbClr val="CBD5E0"/>
            </a:solidFill>
            <a:prstDash val="solid"/>
          </a:ln>
        </p:spPr>
        <p:txBody>
          <a:bodyPr/>
          <a:lstStyle/>
          <a:p>
            <a:endParaRPr lang="en-KE"/>
          </a:p>
        </p:txBody>
      </p:sp>
      <p:sp>
        <p:nvSpPr>
          <p:cNvPr id="35" name="Text 33"/>
          <p:cNvSpPr/>
          <p:nvPr/>
        </p:nvSpPr>
        <p:spPr>
          <a:xfrm>
            <a:off x="5843016" y="227685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0.478</a:t>
            </a:r>
            <a:endParaRPr lang="en-US" sz="950" dirty="0"/>
          </a:p>
        </p:txBody>
      </p:sp>
      <p:sp>
        <p:nvSpPr>
          <p:cNvPr id="36" name="Shape 34"/>
          <p:cNvSpPr/>
          <p:nvPr/>
        </p:nvSpPr>
        <p:spPr>
          <a:xfrm>
            <a:off x="6812280" y="2240280"/>
            <a:ext cx="1005840" cy="475488"/>
          </a:xfrm>
          <a:prstGeom prst="rect">
            <a:avLst/>
          </a:prstGeom>
          <a:solidFill>
            <a:srgbClr val="FFFFFF"/>
          </a:solidFill>
          <a:ln w="12700">
            <a:solidFill>
              <a:srgbClr val="CBD5E0"/>
            </a:solidFill>
            <a:prstDash val="solid"/>
          </a:ln>
        </p:spPr>
        <p:txBody>
          <a:bodyPr/>
          <a:lstStyle/>
          <a:p>
            <a:endParaRPr lang="en-KE"/>
          </a:p>
        </p:txBody>
      </p:sp>
      <p:sp>
        <p:nvSpPr>
          <p:cNvPr id="37" name="Text 35"/>
          <p:cNvSpPr/>
          <p:nvPr/>
        </p:nvSpPr>
        <p:spPr>
          <a:xfrm>
            <a:off x="6848856" y="227685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0.895</a:t>
            </a:r>
            <a:endParaRPr lang="en-US" sz="950" dirty="0"/>
          </a:p>
        </p:txBody>
      </p:sp>
      <p:sp>
        <p:nvSpPr>
          <p:cNvPr id="38" name="Shape 36"/>
          <p:cNvSpPr/>
          <p:nvPr/>
        </p:nvSpPr>
        <p:spPr>
          <a:xfrm>
            <a:off x="7818120" y="2240280"/>
            <a:ext cx="914400" cy="475488"/>
          </a:xfrm>
          <a:prstGeom prst="rect">
            <a:avLst/>
          </a:prstGeom>
          <a:solidFill>
            <a:srgbClr val="FFFFFF"/>
          </a:solidFill>
          <a:ln w="12700">
            <a:solidFill>
              <a:srgbClr val="CBD5E0"/>
            </a:solidFill>
            <a:prstDash val="solid"/>
          </a:ln>
        </p:spPr>
        <p:txBody>
          <a:bodyPr/>
          <a:lstStyle/>
          <a:p>
            <a:endParaRPr lang="en-KE"/>
          </a:p>
        </p:txBody>
      </p:sp>
      <p:sp>
        <p:nvSpPr>
          <p:cNvPr id="39" name="Text 37"/>
          <p:cNvSpPr/>
          <p:nvPr/>
        </p:nvSpPr>
        <p:spPr>
          <a:xfrm>
            <a:off x="7854696" y="2276856"/>
            <a:ext cx="84124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3rd</a:t>
            </a:r>
            <a:endParaRPr lang="en-US" sz="950" dirty="0"/>
          </a:p>
        </p:txBody>
      </p:sp>
      <p:sp>
        <p:nvSpPr>
          <p:cNvPr id="40" name="Shape 38"/>
          <p:cNvSpPr/>
          <p:nvPr/>
        </p:nvSpPr>
        <p:spPr>
          <a:xfrm>
            <a:off x="8732520" y="2240280"/>
            <a:ext cx="3459480" cy="402336"/>
          </a:xfrm>
          <a:prstGeom prst="rect">
            <a:avLst/>
          </a:prstGeom>
          <a:solidFill>
            <a:srgbClr val="FFFFFF"/>
          </a:solidFill>
          <a:ln w="12700">
            <a:solidFill>
              <a:srgbClr val="CBD5E0"/>
            </a:solidFill>
            <a:prstDash val="solid"/>
          </a:ln>
        </p:spPr>
        <p:txBody>
          <a:bodyPr/>
          <a:lstStyle/>
          <a:p>
            <a:endParaRPr lang="en-KE"/>
          </a:p>
        </p:txBody>
      </p:sp>
      <p:sp>
        <p:nvSpPr>
          <p:cNvPr id="41" name="Text 39"/>
          <p:cNvSpPr/>
          <p:nvPr/>
        </p:nvSpPr>
        <p:spPr>
          <a:xfrm>
            <a:off x="8769096" y="2276856"/>
            <a:ext cx="3392424" cy="402336"/>
          </a:xfrm>
          <a:prstGeom prst="rect">
            <a:avLst/>
          </a:prstGeom>
          <a:noFill/>
          <a:ln/>
        </p:spPr>
        <p:txBody>
          <a:bodyPr wrap="square" lIns="0" tIns="0" rIns="0" bIns="0"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Linear baseline; interpretable coefficients; strong probability calibration</a:t>
            </a:r>
            <a:endParaRPr lang="en-US" sz="950" dirty="0"/>
          </a:p>
        </p:txBody>
      </p:sp>
      <p:sp>
        <p:nvSpPr>
          <p:cNvPr id="42" name="Shape 40"/>
          <p:cNvSpPr/>
          <p:nvPr/>
        </p:nvSpPr>
        <p:spPr>
          <a:xfrm>
            <a:off x="320040" y="2743200"/>
            <a:ext cx="2286000" cy="475488"/>
          </a:xfrm>
          <a:prstGeom prst="rect">
            <a:avLst/>
          </a:prstGeom>
          <a:solidFill>
            <a:srgbClr val="F0F4F8"/>
          </a:solidFill>
          <a:ln w="12700">
            <a:solidFill>
              <a:srgbClr val="CBD5E0"/>
            </a:solidFill>
            <a:prstDash val="solid"/>
          </a:ln>
        </p:spPr>
        <p:txBody>
          <a:bodyPr/>
          <a:lstStyle/>
          <a:p>
            <a:endParaRPr lang="en-KE"/>
          </a:p>
        </p:txBody>
      </p:sp>
      <p:sp>
        <p:nvSpPr>
          <p:cNvPr id="43" name="Text 41"/>
          <p:cNvSpPr/>
          <p:nvPr/>
        </p:nvSpPr>
        <p:spPr>
          <a:xfrm>
            <a:off x="356616" y="2779776"/>
            <a:ext cx="2212848" cy="402336"/>
          </a:xfrm>
          <a:prstGeom prst="rect">
            <a:avLst/>
          </a:prstGeom>
          <a:noFill/>
          <a:ln/>
        </p:spPr>
        <p:txBody>
          <a:bodyPr wrap="square" lIns="0" tIns="0" rIns="0" bIns="0" rtlCol="0" anchor="ctr"/>
          <a:lstStyle/>
          <a:p>
            <a:pPr marL="0" indent="0" algn="l">
              <a:buNone/>
            </a:pPr>
            <a:r>
              <a:rPr lang="en-US" sz="950" b="1" dirty="0">
                <a:solidFill>
                  <a:srgbClr val="0B2545"/>
                </a:solidFill>
                <a:latin typeface="Calibri" pitchFamily="34" charset="0"/>
                <a:ea typeface="Calibri" pitchFamily="34" charset="-122"/>
                <a:cs typeface="Calibri" pitchFamily="34" charset="-120"/>
              </a:rPr>
              <a:t>Decision Tree</a:t>
            </a:r>
            <a:endParaRPr lang="en-US" sz="950" dirty="0"/>
          </a:p>
        </p:txBody>
      </p:sp>
      <p:sp>
        <p:nvSpPr>
          <p:cNvPr id="44" name="Shape 42"/>
          <p:cNvSpPr/>
          <p:nvPr/>
        </p:nvSpPr>
        <p:spPr>
          <a:xfrm>
            <a:off x="2606040" y="2743200"/>
            <a:ext cx="1097280" cy="475488"/>
          </a:xfrm>
          <a:prstGeom prst="rect">
            <a:avLst/>
          </a:prstGeom>
          <a:solidFill>
            <a:srgbClr val="F0F4F8"/>
          </a:solidFill>
          <a:ln w="12700">
            <a:solidFill>
              <a:srgbClr val="CBD5E0"/>
            </a:solidFill>
            <a:prstDash val="solid"/>
          </a:ln>
        </p:spPr>
        <p:txBody>
          <a:bodyPr/>
          <a:lstStyle/>
          <a:p>
            <a:endParaRPr lang="en-KE"/>
          </a:p>
        </p:txBody>
      </p:sp>
      <p:sp>
        <p:nvSpPr>
          <p:cNvPr id="45" name="Text 43"/>
          <p:cNvSpPr/>
          <p:nvPr/>
        </p:nvSpPr>
        <p:spPr>
          <a:xfrm>
            <a:off x="2642616" y="2779776"/>
            <a:ext cx="102412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88.0%</a:t>
            </a:r>
            <a:endParaRPr lang="en-US" sz="950" dirty="0"/>
          </a:p>
        </p:txBody>
      </p:sp>
      <p:sp>
        <p:nvSpPr>
          <p:cNvPr id="46" name="Shape 44"/>
          <p:cNvSpPr/>
          <p:nvPr/>
        </p:nvSpPr>
        <p:spPr>
          <a:xfrm>
            <a:off x="3703320" y="2743200"/>
            <a:ext cx="1097280" cy="475488"/>
          </a:xfrm>
          <a:prstGeom prst="rect">
            <a:avLst/>
          </a:prstGeom>
          <a:solidFill>
            <a:srgbClr val="F0F4F8"/>
          </a:solidFill>
          <a:ln w="12700">
            <a:solidFill>
              <a:srgbClr val="CBD5E0"/>
            </a:solidFill>
            <a:prstDash val="solid"/>
          </a:ln>
        </p:spPr>
        <p:txBody>
          <a:bodyPr/>
          <a:lstStyle/>
          <a:p>
            <a:endParaRPr lang="en-KE"/>
          </a:p>
        </p:txBody>
      </p:sp>
      <p:sp>
        <p:nvSpPr>
          <p:cNvPr id="47" name="Text 45"/>
          <p:cNvSpPr/>
          <p:nvPr/>
        </p:nvSpPr>
        <p:spPr>
          <a:xfrm>
            <a:off x="3739896" y="2779776"/>
            <a:ext cx="102412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69.4%</a:t>
            </a:r>
            <a:endParaRPr lang="en-US" sz="950" dirty="0"/>
          </a:p>
        </p:txBody>
      </p:sp>
      <p:sp>
        <p:nvSpPr>
          <p:cNvPr id="48" name="Shape 46"/>
          <p:cNvSpPr/>
          <p:nvPr/>
        </p:nvSpPr>
        <p:spPr>
          <a:xfrm>
            <a:off x="4800600" y="2743200"/>
            <a:ext cx="1005840" cy="475488"/>
          </a:xfrm>
          <a:prstGeom prst="rect">
            <a:avLst/>
          </a:prstGeom>
          <a:solidFill>
            <a:srgbClr val="F0F4F8"/>
          </a:solidFill>
          <a:ln w="12700">
            <a:solidFill>
              <a:srgbClr val="CBD5E0"/>
            </a:solidFill>
            <a:prstDash val="solid"/>
          </a:ln>
        </p:spPr>
        <p:txBody>
          <a:bodyPr/>
          <a:lstStyle/>
          <a:p>
            <a:endParaRPr lang="en-KE"/>
          </a:p>
        </p:txBody>
      </p:sp>
      <p:sp>
        <p:nvSpPr>
          <p:cNvPr id="49" name="Text 47"/>
          <p:cNvSpPr/>
          <p:nvPr/>
        </p:nvSpPr>
        <p:spPr>
          <a:xfrm>
            <a:off x="4837176" y="277977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34.5%</a:t>
            </a:r>
            <a:endParaRPr lang="en-US" sz="950" dirty="0"/>
          </a:p>
        </p:txBody>
      </p:sp>
      <p:sp>
        <p:nvSpPr>
          <p:cNvPr id="50" name="Shape 48"/>
          <p:cNvSpPr/>
          <p:nvPr/>
        </p:nvSpPr>
        <p:spPr>
          <a:xfrm>
            <a:off x="5806440" y="2743200"/>
            <a:ext cx="1005840" cy="475488"/>
          </a:xfrm>
          <a:prstGeom prst="rect">
            <a:avLst/>
          </a:prstGeom>
          <a:solidFill>
            <a:srgbClr val="F0F4F8"/>
          </a:solidFill>
          <a:ln w="12700">
            <a:solidFill>
              <a:srgbClr val="CBD5E0"/>
            </a:solidFill>
            <a:prstDash val="solid"/>
          </a:ln>
        </p:spPr>
        <p:txBody>
          <a:bodyPr/>
          <a:lstStyle/>
          <a:p>
            <a:endParaRPr lang="en-KE"/>
          </a:p>
        </p:txBody>
      </p:sp>
      <p:sp>
        <p:nvSpPr>
          <p:cNvPr id="51" name="Text 49"/>
          <p:cNvSpPr/>
          <p:nvPr/>
        </p:nvSpPr>
        <p:spPr>
          <a:xfrm>
            <a:off x="5843016" y="277977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0.461</a:t>
            </a:r>
            <a:endParaRPr lang="en-US" sz="950" dirty="0"/>
          </a:p>
        </p:txBody>
      </p:sp>
      <p:sp>
        <p:nvSpPr>
          <p:cNvPr id="52" name="Shape 50"/>
          <p:cNvSpPr/>
          <p:nvPr/>
        </p:nvSpPr>
        <p:spPr>
          <a:xfrm>
            <a:off x="6812280" y="2743200"/>
            <a:ext cx="1005840" cy="475488"/>
          </a:xfrm>
          <a:prstGeom prst="rect">
            <a:avLst/>
          </a:prstGeom>
          <a:solidFill>
            <a:srgbClr val="F0F4F8"/>
          </a:solidFill>
          <a:ln w="12700">
            <a:solidFill>
              <a:srgbClr val="CBD5E0"/>
            </a:solidFill>
            <a:prstDash val="solid"/>
          </a:ln>
        </p:spPr>
        <p:txBody>
          <a:bodyPr/>
          <a:lstStyle/>
          <a:p>
            <a:endParaRPr lang="en-KE"/>
          </a:p>
        </p:txBody>
      </p:sp>
      <p:sp>
        <p:nvSpPr>
          <p:cNvPr id="53" name="Text 51"/>
          <p:cNvSpPr/>
          <p:nvPr/>
        </p:nvSpPr>
        <p:spPr>
          <a:xfrm>
            <a:off x="6848856" y="277977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0.907</a:t>
            </a:r>
            <a:endParaRPr lang="en-US" sz="950" dirty="0"/>
          </a:p>
        </p:txBody>
      </p:sp>
      <p:sp>
        <p:nvSpPr>
          <p:cNvPr id="54" name="Shape 52"/>
          <p:cNvSpPr/>
          <p:nvPr/>
        </p:nvSpPr>
        <p:spPr>
          <a:xfrm>
            <a:off x="7818120" y="2743200"/>
            <a:ext cx="914400" cy="475488"/>
          </a:xfrm>
          <a:prstGeom prst="rect">
            <a:avLst/>
          </a:prstGeom>
          <a:solidFill>
            <a:srgbClr val="F0F4F8"/>
          </a:solidFill>
          <a:ln w="12700">
            <a:solidFill>
              <a:srgbClr val="CBD5E0"/>
            </a:solidFill>
            <a:prstDash val="solid"/>
          </a:ln>
        </p:spPr>
        <p:txBody>
          <a:bodyPr/>
          <a:lstStyle/>
          <a:p>
            <a:endParaRPr lang="en-KE"/>
          </a:p>
        </p:txBody>
      </p:sp>
      <p:sp>
        <p:nvSpPr>
          <p:cNvPr id="55" name="Text 53"/>
          <p:cNvSpPr/>
          <p:nvPr/>
        </p:nvSpPr>
        <p:spPr>
          <a:xfrm>
            <a:off x="7854696" y="2779776"/>
            <a:ext cx="841248" cy="402336"/>
          </a:xfrm>
          <a:prstGeom prst="rect">
            <a:avLst/>
          </a:prstGeom>
          <a:noFill/>
          <a:ln/>
        </p:spPr>
        <p:txBody>
          <a:bodyPr wrap="square" lIns="0" tIns="0" rIns="0" bIns="0" rtlCol="0" anchor="ctr"/>
          <a:lstStyle/>
          <a:p>
            <a:pPr algn="ctr"/>
            <a:r>
              <a:rPr lang="en-US" sz="950" dirty="0">
                <a:solidFill>
                  <a:srgbClr val="1A2B3C"/>
                </a:solidFill>
                <a:latin typeface="Calibri" pitchFamily="34" charset="0"/>
                <a:ea typeface="Calibri" pitchFamily="34" charset="-122"/>
                <a:cs typeface="Calibri" pitchFamily="34" charset="-120"/>
              </a:rPr>
              <a:t>2nd</a:t>
            </a:r>
            <a:endParaRPr lang="en-US" sz="950" dirty="0"/>
          </a:p>
        </p:txBody>
      </p:sp>
      <p:sp>
        <p:nvSpPr>
          <p:cNvPr id="56" name="Shape 54"/>
          <p:cNvSpPr/>
          <p:nvPr/>
        </p:nvSpPr>
        <p:spPr>
          <a:xfrm>
            <a:off x="8732520" y="2743200"/>
            <a:ext cx="3531108" cy="475488"/>
          </a:xfrm>
          <a:prstGeom prst="rect">
            <a:avLst/>
          </a:prstGeom>
          <a:solidFill>
            <a:srgbClr val="F0F4F8"/>
          </a:solidFill>
          <a:ln w="12700">
            <a:solidFill>
              <a:srgbClr val="CBD5E0"/>
            </a:solidFill>
            <a:prstDash val="solid"/>
          </a:ln>
        </p:spPr>
        <p:txBody>
          <a:bodyPr/>
          <a:lstStyle/>
          <a:p>
            <a:endParaRPr lang="en-KE"/>
          </a:p>
        </p:txBody>
      </p:sp>
      <p:sp>
        <p:nvSpPr>
          <p:cNvPr id="57" name="Text 55"/>
          <p:cNvSpPr/>
          <p:nvPr/>
        </p:nvSpPr>
        <p:spPr>
          <a:xfrm>
            <a:off x="8769096" y="2779776"/>
            <a:ext cx="3422904" cy="402336"/>
          </a:xfrm>
          <a:prstGeom prst="rect">
            <a:avLst/>
          </a:prstGeom>
          <a:noFill/>
          <a:ln/>
        </p:spPr>
        <p:txBody>
          <a:bodyPr wrap="square" lIns="0" tIns="0" rIns="0" bIns="0"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Intuitive rule-based; reveals decision boundaries clearly</a:t>
            </a:r>
            <a:endParaRPr lang="en-US" sz="950" dirty="0"/>
          </a:p>
        </p:txBody>
      </p:sp>
      <p:sp>
        <p:nvSpPr>
          <p:cNvPr id="62" name="Shape 60"/>
          <p:cNvSpPr/>
          <p:nvPr/>
        </p:nvSpPr>
        <p:spPr>
          <a:xfrm>
            <a:off x="3703320" y="3246120"/>
            <a:ext cx="1097280" cy="475488"/>
          </a:xfrm>
          <a:prstGeom prst="rect">
            <a:avLst/>
          </a:prstGeom>
          <a:solidFill>
            <a:srgbClr val="FFFFFF"/>
          </a:solidFill>
          <a:ln w="12700">
            <a:solidFill>
              <a:srgbClr val="CBD5E0"/>
            </a:solidFill>
            <a:prstDash val="solid"/>
          </a:ln>
        </p:spPr>
        <p:txBody>
          <a:bodyPr/>
          <a:lstStyle/>
          <a:p>
            <a:endParaRPr lang="en-KE"/>
          </a:p>
        </p:txBody>
      </p:sp>
      <p:sp>
        <p:nvSpPr>
          <p:cNvPr id="63" name="Text 61"/>
          <p:cNvSpPr/>
          <p:nvPr/>
        </p:nvSpPr>
        <p:spPr>
          <a:xfrm>
            <a:off x="3739896" y="3282696"/>
            <a:ext cx="102412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93%</a:t>
            </a:r>
            <a:endParaRPr lang="en-US" sz="950" dirty="0"/>
          </a:p>
        </p:txBody>
      </p:sp>
      <p:sp>
        <p:nvSpPr>
          <p:cNvPr id="64" name="Shape 62"/>
          <p:cNvSpPr/>
          <p:nvPr/>
        </p:nvSpPr>
        <p:spPr>
          <a:xfrm>
            <a:off x="4800600" y="3246120"/>
            <a:ext cx="1005840" cy="475488"/>
          </a:xfrm>
          <a:prstGeom prst="rect">
            <a:avLst/>
          </a:prstGeom>
          <a:solidFill>
            <a:srgbClr val="FFFFFF"/>
          </a:solidFill>
          <a:ln w="12700">
            <a:solidFill>
              <a:srgbClr val="CBD5E0"/>
            </a:solidFill>
            <a:prstDash val="solid"/>
          </a:ln>
        </p:spPr>
        <p:txBody>
          <a:bodyPr/>
          <a:lstStyle/>
          <a:p>
            <a:endParaRPr lang="en-KE"/>
          </a:p>
        </p:txBody>
      </p:sp>
      <p:sp>
        <p:nvSpPr>
          <p:cNvPr id="65" name="Text 63"/>
          <p:cNvSpPr/>
          <p:nvPr/>
        </p:nvSpPr>
        <p:spPr>
          <a:xfrm>
            <a:off x="4837176" y="328269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40.9%</a:t>
            </a:r>
            <a:endParaRPr lang="en-US" sz="950" dirty="0"/>
          </a:p>
        </p:txBody>
      </p:sp>
      <p:sp>
        <p:nvSpPr>
          <p:cNvPr id="66" name="Shape 64"/>
          <p:cNvSpPr/>
          <p:nvPr/>
        </p:nvSpPr>
        <p:spPr>
          <a:xfrm>
            <a:off x="5806440" y="3246120"/>
            <a:ext cx="1005840" cy="475488"/>
          </a:xfrm>
          <a:prstGeom prst="rect">
            <a:avLst/>
          </a:prstGeom>
          <a:solidFill>
            <a:srgbClr val="FFFFFF"/>
          </a:solidFill>
          <a:ln w="12700">
            <a:solidFill>
              <a:srgbClr val="CBD5E0"/>
            </a:solidFill>
            <a:prstDash val="solid"/>
          </a:ln>
        </p:spPr>
        <p:txBody>
          <a:bodyPr/>
          <a:lstStyle/>
          <a:p>
            <a:endParaRPr lang="en-KE"/>
          </a:p>
        </p:txBody>
      </p:sp>
      <p:sp>
        <p:nvSpPr>
          <p:cNvPr id="67" name="Text 65"/>
          <p:cNvSpPr/>
          <p:nvPr/>
        </p:nvSpPr>
        <p:spPr>
          <a:xfrm>
            <a:off x="5843016" y="328269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0.490</a:t>
            </a:r>
            <a:endParaRPr lang="en-US" sz="950" dirty="0"/>
          </a:p>
        </p:txBody>
      </p:sp>
      <p:sp>
        <p:nvSpPr>
          <p:cNvPr id="68" name="Shape 66"/>
          <p:cNvSpPr/>
          <p:nvPr/>
        </p:nvSpPr>
        <p:spPr>
          <a:xfrm>
            <a:off x="6812280" y="3246120"/>
            <a:ext cx="1005840" cy="475488"/>
          </a:xfrm>
          <a:prstGeom prst="rect">
            <a:avLst/>
          </a:prstGeom>
          <a:solidFill>
            <a:srgbClr val="FFFFFF"/>
          </a:solidFill>
          <a:ln w="12700">
            <a:solidFill>
              <a:srgbClr val="CBD5E0"/>
            </a:solidFill>
            <a:prstDash val="solid"/>
          </a:ln>
        </p:spPr>
        <p:txBody>
          <a:bodyPr/>
          <a:lstStyle/>
          <a:p>
            <a:endParaRPr lang="en-KE"/>
          </a:p>
        </p:txBody>
      </p:sp>
      <p:sp>
        <p:nvSpPr>
          <p:cNvPr id="69" name="Text 67"/>
          <p:cNvSpPr/>
          <p:nvPr/>
        </p:nvSpPr>
        <p:spPr>
          <a:xfrm>
            <a:off x="6848856" y="3282696"/>
            <a:ext cx="932688" cy="402336"/>
          </a:xfrm>
          <a:prstGeom prst="rect">
            <a:avLst/>
          </a:prstGeom>
          <a:noFill/>
          <a:ln/>
        </p:spPr>
        <p:txBody>
          <a:bodyPr wrap="square" lIns="0" tIns="0" rIns="0" bIns="0"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0.910</a:t>
            </a:r>
            <a:endParaRPr lang="en-US" sz="950" dirty="0"/>
          </a:p>
        </p:txBody>
      </p:sp>
      <p:sp>
        <p:nvSpPr>
          <p:cNvPr id="70" name="Shape 68"/>
          <p:cNvSpPr/>
          <p:nvPr/>
        </p:nvSpPr>
        <p:spPr>
          <a:xfrm>
            <a:off x="7818120" y="3246120"/>
            <a:ext cx="914400" cy="475488"/>
          </a:xfrm>
          <a:prstGeom prst="rect">
            <a:avLst/>
          </a:prstGeom>
          <a:solidFill>
            <a:srgbClr val="FFFFFF"/>
          </a:solidFill>
          <a:ln w="12700">
            <a:solidFill>
              <a:srgbClr val="CBD5E0"/>
            </a:solidFill>
            <a:prstDash val="solid"/>
          </a:ln>
        </p:spPr>
        <p:txBody>
          <a:bodyPr/>
          <a:lstStyle/>
          <a:p>
            <a:endParaRPr lang="en-KE"/>
          </a:p>
        </p:txBody>
      </p:sp>
      <p:sp>
        <p:nvSpPr>
          <p:cNvPr id="71" name="Text 69"/>
          <p:cNvSpPr/>
          <p:nvPr/>
        </p:nvSpPr>
        <p:spPr>
          <a:xfrm>
            <a:off x="7854696" y="3282696"/>
            <a:ext cx="841248" cy="402336"/>
          </a:xfrm>
          <a:prstGeom prst="rect">
            <a:avLst/>
          </a:prstGeom>
          <a:noFill/>
          <a:ln/>
        </p:spPr>
        <p:txBody>
          <a:bodyPr wrap="square" lIns="0" tIns="0" rIns="0" bIns="0" rtlCol="0" anchor="ctr"/>
          <a:lstStyle/>
          <a:p>
            <a:pPr marL="0" indent="0" algn="ctr">
              <a:buNone/>
            </a:pPr>
            <a:endParaRPr lang="en-US" sz="950" dirty="0"/>
          </a:p>
        </p:txBody>
      </p:sp>
      <p:sp>
        <p:nvSpPr>
          <p:cNvPr id="75" name="Text 73"/>
          <p:cNvSpPr/>
          <p:nvPr/>
        </p:nvSpPr>
        <p:spPr>
          <a:xfrm>
            <a:off x="356616" y="3785616"/>
            <a:ext cx="2212848" cy="402336"/>
          </a:xfrm>
          <a:prstGeom prst="rect">
            <a:avLst/>
          </a:prstGeom>
          <a:noFill/>
          <a:ln/>
        </p:spPr>
        <p:txBody>
          <a:bodyPr wrap="square" lIns="0" tIns="0" rIns="0" bIns="0" rtlCol="0" anchor="ctr"/>
          <a:lstStyle/>
          <a:p>
            <a:pPr marL="0" indent="0" algn="l">
              <a:buNone/>
            </a:pPr>
            <a:endParaRPr lang="en-US" sz="950" dirty="0"/>
          </a:p>
        </p:txBody>
      </p:sp>
      <p:sp>
        <p:nvSpPr>
          <p:cNvPr id="77" name="Text 75"/>
          <p:cNvSpPr/>
          <p:nvPr/>
        </p:nvSpPr>
        <p:spPr>
          <a:xfrm>
            <a:off x="2642616" y="3785616"/>
            <a:ext cx="1024128" cy="402336"/>
          </a:xfrm>
          <a:prstGeom prst="rect">
            <a:avLst/>
          </a:prstGeom>
          <a:noFill/>
          <a:ln/>
        </p:spPr>
        <p:txBody>
          <a:bodyPr wrap="square" lIns="0" tIns="0" rIns="0" bIns="0" rtlCol="0" anchor="ctr"/>
          <a:lstStyle/>
          <a:p>
            <a:pPr marL="0" indent="0" algn="ctr">
              <a:buNone/>
            </a:pPr>
            <a:endParaRPr lang="en-US" sz="950" dirty="0"/>
          </a:p>
        </p:txBody>
      </p:sp>
      <p:sp>
        <p:nvSpPr>
          <p:cNvPr id="79" name="Text 77"/>
          <p:cNvSpPr/>
          <p:nvPr/>
        </p:nvSpPr>
        <p:spPr>
          <a:xfrm>
            <a:off x="3739896" y="3785616"/>
            <a:ext cx="1024128" cy="402336"/>
          </a:xfrm>
          <a:prstGeom prst="rect">
            <a:avLst/>
          </a:prstGeom>
          <a:noFill/>
          <a:ln/>
        </p:spPr>
        <p:txBody>
          <a:bodyPr wrap="square" lIns="0" tIns="0" rIns="0" bIns="0" rtlCol="0" anchor="ctr"/>
          <a:lstStyle/>
          <a:p>
            <a:pPr marL="0" indent="0" algn="ctr">
              <a:buNone/>
            </a:pPr>
            <a:endParaRPr lang="en-US" sz="950" dirty="0"/>
          </a:p>
        </p:txBody>
      </p:sp>
      <p:sp>
        <p:nvSpPr>
          <p:cNvPr id="81" name="Text 79"/>
          <p:cNvSpPr/>
          <p:nvPr/>
        </p:nvSpPr>
        <p:spPr>
          <a:xfrm>
            <a:off x="4837176" y="3785616"/>
            <a:ext cx="932688" cy="402336"/>
          </a:xfrm>
          <a:prstGeom prst="rect">
            <a:avLst/>
          </a:prstGeom>
          <a:noFill/>
          <a:ln/>
        </p:spPr>
        <p:txBody>
          <a:bodyPr wrap="square" lIns="0" tIns="0" rIns="0" bIns="0" rtlCol="0" anchor="ctr"/>
          <a:lstStyle/>
          <a:p>
            <a:pPr marL="0" indent="0" algn="ctr">
              <a:buNone/>
            </a:pPr>
            <a:endParaRPr lang="en-US" sz="950" dirty="0"/>
          </a:p>
        </p:txBody>
      </p:sp>
      <p:sp>
        <p:nvSpPr>
          <p:cNvPr id="83" name="Text 81"/>
          <p:cNvSpPr/>
          <p:nvPr/>
        </p:nvSpPr>
        <p:spPr>
          <a:xfrm>
            <a:off x="5843016" y="3785616"/>
            <a:ext cx="932688" cy="402336"/>
          </a:xfrm>
          <a:prstGeom prst="rect">
            <a:avLst/>
          </a:prstGeom>
          <a:noFill/>
          <a:ln/>
        </p:spPr>
        <p:txBody>
          <a:bodyPr wrap="square" lIns="0" tIns="0" rIns="0" bIns="0" rtlCol="0" anchor="ctr"/>
          <a:lstStyle/>
          <a:p>
            <a:pPr marL="0" indent="0" algn="ctr">
              <a:buNone/>
            </a:pPr>
            <a:endParaRPr lang="en-US" sz="950" dirty="0"/>
          </a:p>
        </p:txBody>
      </p:sp>
      <p:sp>
        <p:nvSpPr>
          <p:cNvPr id="85" name="Text 83"/>
          <p:cNvSpPr/>
          <p:nvPr/>
        </p:nvSpPr>
        <p:spPr>
          <a:xfrm>
            <a:off x="6848856" y="3785616"/>
            <a:ext cx="932688" cy="402336"/>
          </a:xfrm>
          <a:prstGeom prst="rect">
            <a:avLst/>
          </a:prstGeom>
          <a:noFill/>
          <a:ln/>
        </p:spPr>
        <p:txBody>
          <a:bodyPr wrap="square" lIns="0" tIns="0" rIns="0" bIns="0" rtlCol="0" anchor="ctr"/>
          <a:lstStyle/>
          <a:p>
            <a:pPr marL="0" indent="0" algn="ctr">
              <a:buNone/>
            </a:pPr>
            <a:endParaRPr lang="en-US" sz="950" dirty="0"/>
          </a:p>
        </p:txBody>
      </p:sp>
      <p:sp>
        <p:nvSpPr>
          <p:cNvPr id="87" name="Text 85"/>
          <p:cNvSpPr/>
          <p:nvPr/>
        </p:nvSpPr>
        <p:spPr>
          <a:xfrm>
            <a:off x="7854696" y="3785616"/>
            <a:ext cx="841248" cy="402336"/>
          </a:xfrm>
          <a:prstGeom prst="rect">
            <a:avLst/>
          </a:prstGeom>
          <a:noFill/>
          <a:ln/>
        </p:spPr>
        <p:txBody>
          <a:bodyPr wrap="square" lIns="0" tIns="0" rIns="0" bIns="0" rtlCol="0" anchor="ctr"/>
          <a:lstStyle/>
          <a:p>
            <a:pPr marL="0" indent="0" algn="ctr">
              <a:buNone/>
            </a:pPr>
            <a:endParaRPr lang="en-US" sz="950" dirty="0"/>
          </a:p>
        </p:txBody>
      </p:sp>
      <p:sp>
        <p:nvSpPr>
          <p:cNvPr id="89" name="Text 87"/>
          <p:cNvSpPr/>
          <p:nvPr/>
        </p:nvSpPr>
        <p:spPr>
          <a:xfrm>
            <a:off x="8769096" y="3785616"/>
            <a:ext cx="3950208" cy="402336"/>
          </a:xfrm>
          <a:prstGeom prst="rect">
            <a:avLst/>
          </a:prstGeom>
          <a:noFill/>
          <a:ln/>
        </p:spPr>
        <p:txBody>
          <a:bodyPr wrap="square" lIns="0" tIns="0" rIns="0" bIns="0" rtlCol="0" anchor="ctr"/>
          <a:lstStyle/>
          <a:p>
            <a:pPr marL="0" indent="0" algn="l">
              <a:buNone/>
            </a:pPr>
            <a:endParaRPr lang="en-US" sz="950" dirty="0"/>
          </a:p>
        </p:txBody>
      </p:sp>
      <p:sp>
        <p:nvSpPr>
          <p:cNvPr id="90" name="Shape 88"/>
          <p:cNvSpPr/>
          <p:nvPr/>
        </p:nvSpPr>
        <p:spPr>
          <a:xfrm>
            <a:off x="338328" y="3246120"/>
            <a:ext cx="2286000" cy="475488"/>
          </a:xfrm>
          <a:prstGeom prst="rect">
            <a:avLst/>
          </a:prstGeom>
          <a:solidFill>
            <a:srgbClr val="E0F7F4"/>
          </a:solidFill>
          <a:ln w="12700">
            <a:solidFill>
              <a:srgbClr val="CBD5E0"/>
            </a:solidFill>
            <a:prstDash val="solid"/>
          </a:ln>
        </p:spPr>
        <p:txBody>
          <a:bodyPr/>
          <a:lstStyle/>
          <a:p>
            <a:endParaRPr lang="en-KE" dirty="0"/>
          </a:p>
        </p:txBody>
      </p:sp>
      <p:sp>
        <p:nvSpPr>
          <p:cNvPr id="91" name="Text 89"/>
          <p:cNvSpPr/>
          <p:nvPr/>
        </p:nvSpPr>
        <p:spPr>
          <a:xfrm>
            <a:off x="320040" y="3291840"/>
            <a:ext cx="2212848" cy="402336"/>
          </a:xfrm>
          <a:prstGeom prst="rect">
            <a:avLst/>
          </a:prstGeom>
          <a:noFill/>
          <a:ln/>
        </p:spPr>
        <p:txBody>
          <a:bodyPr wrap="square" lIns="0" tIns="0" rIns="0" bIns="0" rtlCol="0" anchor="ctr"/>
          <a:lstStyle/>
          <a:p>
            <a:pPr marL="0" indent="0" algn="l">
              <a:buNone/>
            </a:pPr>
            <a:r>
              <a:rPr lang="en-US" sz="950" b="1" dirty="0">
                <a:solidFill>
                  <a:srgbClr val="00897B"/>
                </a:solidFill>
                <a:latin typeface="Calibri" pitchFamily="34" charset="0"/>
                <a:ea typeface="Calibri" pitchFamily="34" charset="-122"/>
                <a:cs typeface="Calibri" pitchFamily="34" charset="-120"/>
              </a:rPr>
              <a:t>Random Forest ★</a:t>
            </a:r>
            <a:endParaRPr lang="en-US" sz="950" dirty="0"/>
          </a:p>
        </p:txBody>
      </p:sp>
      <p:sp>
        <p:nvSpPr>
          <p:cNvPr id="92" name="Shape 90"/>
          <p:cNvSpPr/>
          <p:nvPr/>
        </p:nvSpPr>
        <p:spPr>
          <a:xfrm>
            <a:off x="2606040" y="3246120"/>
            <a:ext cx="1097280" cy="475488"/>
          </a:xfrm>
          <a:prstGeom prst="rect">
            <a:avLst/>
          </a:prstGeom>
          <a:solidFill>
            <a:srgbClr val="E0F7F4"/>
          </a:solidFill>
          <a:ln w="12700">
            <a:solidFill>
              <a:srgbClr val="CBD5E0"/>
            </a:solidFill>
            <a:prstDash val="solid"/>
          </a:ln>
        </p:spPr>
        <p:txBody>
          <a:bodyPr/>
          <a:lstStyle/>
          <a:p>
            <a:endParaRPr lang="en-KE" dirty="0"/>
          </a:p>
        </p:txBody>
      </p:sp>
      <p:sp>
        <p:nvSpPr>
          <p:cNvPr id="93" name="Text 91"/>
          <p:cNvSpPr/>
          <p:nvPr/>
        </p:nvSpPr>
        <p:spPr>
          <a:xfrm>
            <a:off x="2598420" y="3291840"/>
            <a:ext cx="1024128" cy="402336"/>
          </a:xfrm>
          <a:prstGeom prst="rect">
            <a:avLst/>
          </a:prstGeom>
          <a:noFill/>
          <a:ln/>
        </p:spPr>
        <p:txBody>
          <a:bodyPr wrap="square" lIns="0" tIns="0" rIns="0" bIns="0" rtlCol="0" anchor="ctr"/>
          <a:lstStyle/>
          <a:p>
            <a:pPr marL="0" indent="0" algn="ctr">
              <a:buNone/>
            </a:pPr>
            <a:r>
              <a:rPr lang="en-US" sz="950" b="1" dirty="0">
                <a:solidFill>
                  <a:srgbClr val="1A2B3C"/>
                </a:solidFill>
                <a:latin typeface="Calibri" pitchFamily="34" charset="0"/>
                <a:ea typeface="Calibri" pitchFamily="34" charset="-122"/>
                <a:cs typeface="Calibri" pitchFamily="34" charset="-120"/>
              </a:rPr>
              <a:t>94.6%</a:t>
            </a:r>
            <a:endParaRPr lang="en-US" sz="950" dirty="0"/>
          </a:p>
        </p:txBody>
      </p:sp>
      <p:sp>
        <p:nvSpPr>
          <p:cNvPr id="94" name="Shape 92"/>
          <p:cNvSpPr/>
          <p:nvPr/>
        </p:nvSpPr>
        <p:spPr>
          <a:xfrm>
            <a:off x="3724656" y="3273552"/>
            <a:ext cx="1097280" cy="475488"/>
          </a:xfrm>
          <a:prstGeom prst="rect">
            <a:avLst/>
          </a:prstGeom>
          <a:solidFill>
            <a:srgbClr val="E0F7F4"/>
          </a:solidFill>
          <a:ln w="12700">
            <a:solidFill>
              <a:srgbClr val="CBD5E0"/>
            </a:solidFill>
            <a:prstDash val="solid"/>
          </a:ln>
        </p:spPr>
        <p:txBody>
          <a:bodyPr/>
          <a:lstStyle/>
          <a:p>
            <a:endParaRPr lang="en-KE"/>
          </a:p>
        </p:txBody>
      </p:sp>
      <p:sp>
        <p:nvSpPr>
          <p:cNvPr id="95" name="Text 93"/>
          <p:cNvSpPr/>
          <p:nvPr/>
        </p:nvSpPr>
        <p:spPr>
          <a:xfrm>
            <a:off x="3666744" y="3310716"/>
            <a:ext cx="1024128" cy="402336"/>
          </a:xfrm>
          <a:prstGeom prst="rect">
            <a:avLst/>
          </a:prstGeom>
          <a:noFill/>
          <a:ln/>
        </p:spPr>
        <p:txBody>
          <a:bodyPr wrap="square" lIns="0" tIns="0" rIns="0" bIns="0" rtlCol="0" anchor="ctr"/>
          <a:lstStyle/>
          <a:p>
            <a:pPr marL="0" indent="0" algn="ctr">
              <a:buNone/>
            </a:pPr>
            <a:r>
              <a:rPr lang="en-US" sz="950" b="1" dirty="0">
                <a:solidFill>
                  <a:srgbClr val="1A2B3C"/>
                </a:solidFill>
                <a:latin typeface="Calibri" pitchFamily="34" charset="0"/>
                <a:ea typeface="Calibri" pitchFamily="34" charset="-122"/>
                <a:cs typeface="Calibri" pitchFamily="34" charset="-120"/>
              </a:rPr>
              <a:t>93%</a:t>
            </a:r>
            <a:endParaRPr lang="en-US" sz="950" dirty="0"/>
          </a:p>
        </p:txBody>
      </p:sp>
      <p:sp>
        <p:nvSpPr>
          <p:cNvPr id="96" name="Shape 94"/>
          <p:cNvSpPr/>
          <p:nvPr/>
        </p:nvSpPr>
        <p:spPr>
          <a:xfrm>
            <a:off x="4783074" y="3260077"/>
            <a:ext cx="1005840" cy="475488"/>
          </a:xfrm>
          <a:prstGeom prst="rect">
            <a:avLst/>
          </a:prstGeom>
          <a:solidFill>
            <a:srgbClr val="E0F7F4"/>
          </a:solidFill>
          <a:ln w="12700">
            <a:solidFill>
              <a:srgbClr val="CBD5E0"/>
            </a:solidFill>
            <a:prstDash val="solid"/>
          </a:ln>
        </p:spPr>
        <p:txBody>
          <a:bodyPr/>
          <a:lstStyle/>
          <a:p>
            <a:endParaRPr lang="en-KE"/>
          </a:p>
        </p:txBody>
      </p:sp>
      <p:sp>
        <p:nvSpPr>
          <p:cNvPr id="97" name="Text 95"/>
          <p:cNvSpPr/>
          <p:nvPr/>
        </p:nvSpPr>
        <p:spPr>
          <a:xfrm>
            <a:off x="4792980" y="3300984"/>
            <a:ext cx="932688" cy="402336"/>
          </a:xfrm>
          <a:prstGeom prst="rect">
            <a:avLst/>
          </a:prstGeom>
          <a:noFill/>
          <a:ln/>
        </p:spPr>
        <p:txBody>
          <a:bodyPr wrap="square" lIns="0" tIns="0" rIns="0" bIns="0" rtlCol="0" anchor="ctr"/>
          <a:lstStyle/>
          <a:p>
            <a:pPr marL="0" indent="0" algn="ctr">
              <a:buNone/>
            </a:pPr>
            <a:r>
              <a:rPr lang="en-US" sz="950" b="1" dirty="0">
                <a:solidFill>
                  <a:srgbClr val="1A2B3C"/>
                </a:solidFill>
                <a:latin typeface="Calibri" pitchFamily="34" charset="0"/>
                <a:ea typeface="Calibri" pitchFamily="34" charset="-122"/>
                <a:cs typeface="Calibri" pitchFamily="34" charset="-120"/>
              </a:rPr>
              <a:t>90%</a:t>
            </a:r>
            <a:endParaRPr lang="en-US" sz="950" dirty="0"/>
          </a:p>
        </p:txBody>
      </p:sp>
      <p:sp>
        <p:nvSpPr>
          <p:cNvPr id="98" name="Shape 96"/>
          <p:cNvSpPr/>
          <p:nvPr/>
        </p:nvSpPr>
        <p:spPr>
          <a:xfrm>
            <a:off x="5788914" y="3264194"/>
            <a:ext cx="1005840" cy="475488"/>
          </a:xfrm>
          <a:prstGeom prst="rect">
            <a:avLst/>
          </a:prstGeom>
          <a:solidFill>
            <a:srgbClr val="E0F7F4"/>
          </a:solidFill>
          <a:ln w="12700">
            <a:solidFill>
              <a:srgbClr val="CBD5E0"/>
            </a:solidFill>
            <a:prstDash val="solid"/>
          </a:ln>
        </p:spPr>
        <p:txBody>
          <a:bodyPr/>
          <a:lstStyle/>
          <a:p>
            <a:endParaRPr lang="en-KE"/>
          </a:p>
        </p:txBody>
      </p:sp>
      <p:sp>
        <p:nvSpPr>
          <p:cNvPr id="99" name="Text 97"/>
          <p:cNvSpPr/>
          <p:nvPr/>
        </p:nvSpPr>
        <p:spPr>
          <a:xfrm>
            <a:off x="5769864" y="3319753"/>
            <a:ext cx="932688" cy="402336"/>
          </a:xfrm>
          <a:prstGeom prst="rect">
            <a:avLst/>
          </a:prstGeom>
          <a:noFill/>
          <a:ln/>
        </p:spPr>
        <p:txBody>
          <a:bodyPr wrap="square" lIns="0" tIns="0" rIns="0" bIns="0" rtlCol="0" anchor="ctr"/>
          <a:lstStyle/>
          <a:p>
            <a:pPr marL="0" indent="0" algn="ctr">
              <a:buNone/>
            </a:pPr>
            <a:r>
              <a:rPr lang="en-US" sz="950" b="1" dirty="0">
                <a:solidFill>
                  <a:srgbClr val="1A2B3C"/>
                </a:solidFill>
                <a:latin typeface="Calibri" pitchFamily="34" charset="0"/>
                <a:ea typeface="Calibri" pitchFamily="34" charset="-122"/>
                <a:cs typeface="Calibri" pitchFamily="34" charset="-120"/>
              </a:rPr>
              <a:t>0.97</a:t>
            </a:r>
            <a:endParaRPr lang="en-US" sz="950" dirty="0"/>
          </a:p>
        </p:txBody>
      </p:sp>
      <p:sp>
        <p:nvSpPr>
          <p:cNvPr id="100" name="Shape 98"/>
          <p:cNvSpPr/>
          <p:nvPr/>
        </p:nvSpPr>
        <p:spPr>
          <a:xfrm>
            <a:off x="6766560" y="3266119"/>
            <a:ext cx="1005840" cy="475488"/>
          </a:xfrm>
          <a:prstGeom prst="rect">
            <a:avLst/>
          </a:prstGeom>
          <a:solidFill>
            <a:srgbClr val="E0F7F4"/>
          </a:solidFill>
          <a:ln w="12700">
            <a:solidFill>
              <a:srgbClr val="CBD5E0"/>
            </a:solidFill>
            <a:prstDash val="solid"/>
          </a:ln>
        </p:spPr>
        <p:txBody>
          <a:bodyPr/>
          <a:lstStyle/>
          <a:p>
            <a:endParaRPr lang="en-KE"/>
          </a:p>
        </p:txBody>
      </p:sp>
      <p:sp>
        <p:nvSpPr>
          <p:cNvPr id="101" name="Text 99"/>
          <p:cNvSpPr/>
          <p:nvPr/>
        </p:nvSpPr>
        <p:spPr>
          <a:xfrm>
            <a:off x="6792348" y="3323710"/>
            <a:ext cx="932688" cy="402336"/>
          </a:xfrm>
          <a:prstGeom prst="rect">
            <a:avLst/>
          </a:prstGeom>
          <a:noFill/>
          <a:ln/>
        </p:spPr>
        <p:txBody>
          <a:bodyPr wrap="square" lIns="0" tIns="0" rIns="0" bIns="0" rtlCol="0" anchor="ctr"/>
          <a:lstStyle/>
          <a:p>
            <a:pPr marL="0" indent="0" algn="ctr">
              <a:buNone/>
            </a:pPr>
            <a:r>
              <a:rPr lang="en-US" sz="950" b="1" dirty="0">
                <a:solidFill>
                  <a:srgbClr val="00897B"/>
                </a:solidFill>
                <a:latin typeface="Calibri" pitchFamily="34" charset="0"/>
                <a:ea typeface="Calibri" pitchFamily="34" charset="-122"/>
                <a:cs typeface="Calibri" pitchFamily="34" charset="-120"/>
              </a:rPr>
              <a:t>0.93</a:t>
            </a:r>
            <a:endParaRPr lang="en-US" sz="950" dirty="0"/>
          </a:p>
        </p:txBody>
      </p:sp>
      <p:sp>
        <p:nvSpPr>
          <p:cNvPr id="102" name="Shape 100"/>
          <p:cNvSpPr/>
          <p:nvPr/>
        </p:nvSpPr>
        <p:spPr>
          <a:xfrm>
            <a:off x="7781544" y="3246601"/>
            <a:ext cx="914400" cy="475488"/>
          </a:xfrm>
          <a:prstGeom prst="rect">
            <a:avLst/>
          </a:prstGeom>
          <a:solidFill>
            <a:srgbClr val="E0F7F4"/>
          </a:solidFill>
          <a:ln w="12700">
            <a:solidFill>
              <a:srgbClr val="CBD5E0"/>
            </a:solidFill>
            <a:prstDash val="solid"/>
          </a:ln>
        </p:spPr>
        <p:txBody>
          <a:bodyPr/>
          <a:lstStyle/>
          <a:p>
            <a:endParaRPr lang="en-KE"/>
          </a:p>
        </p:txBody>
      </p:sp>
      <p:sp>
        <p:nvSpPr>
          <p:cNvPr id="103" name="Text 101"/>
          <p:cNvSpPr/>
          <p:nvPr/>
        </p:nvSpPr>
        <p:spPr>
          <a:xfrm>
            <a:off x="7854696" y="3283284"/>
            <a:ext cx="841248" cy="402336"/>
          </a:xfrm>
          <a:prstGeom prst="rect">
            <a:avLst/>
          </a:prstGeom>
          <a:noFill/>
          <a:ln/>
        </p:spPr>
        <p:txBody>
          <a:bodyPr wrap="square" lIns="0" tIns="0" rIns="0" bIns="0" rtlCol="0" anchor="ctr"/>
          <a:lstStyle/>
          <a:p>
            <a:pPr marL="0" indent="0" algn="ctr">
              <a:buNone/>
            </a:pPr>
            <a:r>
              <a:rPr lang="en-US" sz="950" b="1" dirty="0">
                <a:solidFill>
                  <a:srgbClr val="1A2B3C"/>
                </a:solidFill>
                <a:latin typeface="Calibri" pitchFamily="34" charset="0"/>
                <a:ea typeface="Calibri" pitchFamily="34" charset="-122"/>
                <a:cs typeface="Calibri" pitchFamily="34" charset="-120"/>
              </a:rPr>
              <a:t>1st ★</a:t>
            </a:r>
            <a:endParaRPr lang="en-US" sz="950" dirty="0"/>
          </a:p>
        </p:txBody>
      </p:sp>
      <p:sp>
        <p:nvSpPr>
          <p:cNvPr id="104" name="Shape 102"/>
          <p:cNvSpPr/>
          <p:nvPr/>
        </p:nvSpPr>
        <p:spPr>
          <a:xfrm>
            <a:off x="8695944" y="3267296"/>
            <a:ext cx="3531108" cy="475488"/>
          </a:xfrm>
          <a:prstGeom prst="rect">
            <a:avLst/>
          </a:prstGeom>
          <a:solidFill>
            <a:srgbClr val="E0F7F4"/>
          </a:solidFill>
          <a:ln w="12700">
            <a:solidFill>
              <a:srgbClr val="CBD5E0"/>
            </a:solidFill>
            <a:prstDash val="solid"/>
          </a:ln>
        </p:spPr>
        <p:txBody>
          <a:bodyPr/>
          <a:lstStyle/>
          <a:p>
            <a:endParaRPr lang="en-KE" dirty="0"/>
          </a:p>
        </p:txBody>
      </p:sp>
      <p:sp>
        <p:nvSpPr>
          <p:cNvPr id="105" name="Text 103"/>
          <p:cNvSpPr/>
          <p:nvPr/>
        </p:nvSpPr>
        <p:spPr>
          <a:xfrm>
            <a:off x="8759952" y="3333229"/>
            <a:ext cx="3329379" cy="402336"/>
          </a:xfrm>
          <a:prstGeom prst="rect">
            <a:avLst/>
          </a:prstGeom>
          <a:noFill/>
          <a:ln/>
        </p:spPr>
        <p:txBody>
          <a:bodyPr wrap="square" lIns="0" tIns="0" rIns="0" bIns="0" rtlCol="0" anchor="ctr"/>
          <a:lstStyle/>
          <a:p>
            <a:pPr marL="0" indent="0" algn="l">
              <a:buNone/>
            </a:pPr>
            <a:r>
              <a:rPr lang="en-US" sz="950" b="1" dirty="0">
                <a:solidFill>
                  <a:srgbClr val="1A2B3C"/>
                </a:solidFill>
                <a:latin typeface="Calibri" pitchFamily="34" charset="0"/>
                <a:ea typeface="Calibri" pitchFamily="34" charset="-122"/>
                <a:cs typeface="Calibri" pitchFamily="34" charset="-120"/>
              </a:rPr>
              <a:t>Best F1 + AUC; sequential error-correction; Ensemble reduces variance, robust feature importance, strong </a:t>
            </a:r>
            <a:r>
              <a:rPr lang="en-US" sz="950" b="1" dirty="0" err="1">
                <a:solidFill>
                  <a:srgbClr val="1A2B3C"/>
                </a:solidFill>
                <a:latin typeface="Calibri" pitchFamily="34" charset="0"/>
                <a:ea typeface="Calibri" pitchFamily="34" charset="-122"/>
                <a:cs typeface="Calibri" pitchFamily="34" charset="-120"/>
              </a:rPr>
              <a:t>generalisation</a:t>
            </a:r>
            <a:endParaRPr lang="en-US" sz="950" dirty="0"/>
          </a:p>
        </p:txBody>
      </p:sp>
      <p:sp>
        <p:nvSpPr>
          <p:cNvPr id="106" name="Shape 104"/>
          <p:cNvSpPr/>
          <p:nvPr/>
        </p:nvSpPr>
        <p:spPr>
          <a:xfrm>
            <a:off x="228600" y="4956048"/>
            <a:ext cx="11998452" cy="1572768"/>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107" name="Shape 105"/>
          <p:cNvSpPr/>
          <p:nvPr/>
        </p:nvSpPr>
        <p:spPr>
          <a:xfrm>
            <a:off x="228600" y="5006581"/>
            <a:ext cx="12035028" cy="91440"/>
          </a:xfrm>
          <a:prstGeom prst="rect">
            <a:avLst/>
          </a:prstGeom>
          <a:solidFill>
            <a:srgbClr val="00897B"/>
          </a:solidFill>
          <a:ln w="12700">
            <a:solidFill>
              <a:srgbClr val="00897B"/>
            </a:solidFill>
            <a:prstDash val="solid"/>
          </a:ln>
        </p:spPr>
        <p:txBody>
          <a:bodyPr/>
          <a:lstStyle/>
          <a:p>
            <a:endParaRPr lang="en-KE"/>
          </a:p>
        </p:txBody>
      </p:sp>
      <p:sp>
        <p:nvSpPr>
          <p:cNvPr id="108" name="Text 106"/>
          <p:cNvSpPr/>
          <p:nvPr/>
        </p:nvSpPr>
        <p:spPr>
          <a:xfrm>
            <a:off x="359423" y="4608576"/>
            <a:ext cx="4572000" cy="347472"/>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Why Random Forest Was Selected</a:t>
            </a:r>
            <a:endParaRPr lang="en-US" sz="1200" dirty="0"/>
          </a:p>
        </p:txBody>
      </p:sp>
      <p:sp>
        <p:nvSpPr>
          <p:cNvPr id="109" name="Shape 107"/>
          <p:cNvSpPr/>
          <p:nvPr/>
        </p:nvSpPr>
        <p:spPr>
          <a:xfrm>
            <a:off x="411480" y="5084064"/>
            <a:ext cx="54864" cy="1353312"/>
          </a:xfrm>
          <a:prstGeom prst="rect">
            <a:avLst/>
          </a:prstGeom>
          <a:solidFill>
            <a:srgbClr val="00897B"/>
          </a:solidFill>
          <a:ln w="12700">
            <a:solidFill>
              <a:srgbClr val="00897B"/>
            </a:solidFill>
            <a:prstDash val="solid"/>
          </a:ln>
        </p:spPr>
        <p:txBody>
          <a:bodyPr/>
          <a:lstStyle/>
          <a:p>
            <a:endParaRPr lang="en-KE"/>
          </a:p>
        </p:txBody>
      </p:sp>
      <p:sp>
        <p:nvSpPr>
          <p:cNvPr id="110" name="Text 108"/>
          <p:cNvSpPr/>
          <p:nvPr/>
        </p:nvSpPr>
        <p:spPr>
          <a:xfrm>
            <a:off x="548640" y="5276088"/>
            <a:ext cx="2560320" cy="310896"/>
          </a:xfrm>
          <a:prstGeom prst="rect">
            <a:avLst/>
          </a:prstGeom>
          <a:noFill/>
          <a:ln/>
        </p:spPr>
        <p:txBody>
          <a:bodyPr wrap="square" lIns="0" tIns="0" rIns="0" bIns="0" rtlCol="0" anchor="ctr"/>
          <a:lstStyle/>
          <a:p>
            <a:pPr marL="0" indent="0">
              <a:buNone/>
            </a:pPr>
            <a:r>
              <a:rPr lang="en-US" sz="1050" b="1" dirty="0">
                <a:solidFill>
                  <a:srgbClr val="00897B"/>
                </a:solidFill>
                <a:latin typeface="Calibri" pitchFamily="34" charset="0"/>
                <a:ea typeface="Calibri" pitchFamily="34" charset="-122"/>
                <a:cs typeface="Calibri" pitchFamily="34" charset="-120"/>
              </a:rPr>
              <a:t>Highest AUC (0.93)</a:t>
            </a:r>
            <a:endParaRPr lang="en-US" sz="1050" dirty="0"/>
          </a:p>
        </p:txBody>
      </p:sp>
      <p:sp>
        <p:nvSpPr>
          <p:cNvPr id="111" name="Text 109"/>
          <p:cNvSpPr/>
          <p:nvPr/>
        </p:nvSpPr>
        <p:spPr>
          <a:xfrm>
            <a:off x="548640" y="5468112"/>
            <a:ext cx="2560320" cy="685800"/>
          </a:xfrm>
          <a:prstGeom prst="rect">
            <a:avLst/>
          </a:prstGeom>
          <a:noFill/>
          <a:ln/>
        </p:spPr>
        <p:txBody>
          <a:bodyPr wrap="square" lIns="0" tIns="0" rIns="0" bIns="0" rtlCol="0" anchor="ctr"/>
          <a:lstStyle/>
          <a:p>
            <a:pPr marL="0" indent="0">
              <a:buNone/>
            </a:pPr>
            <a:r>
              <a:rPr lang="en-US" sz="950" dirty="0">
                <a:solidFill>
                  <a:srgbClr val="1A2B3C"/>
                </a:solidFill>
                <a:latin typeface="Calibri" pitchFamily="34" charset="0"/>
                <a:ea typeface="Calibri" pitchFamily="34" charset="-122"/>
                <a:cs typeface="Calibri" pitchFamily="34" charset="-120"/>
              </a:rPr>
              <a:t>Best discrimination across all thresholds — most reliable for identifying at-risk learners.</a:t>
            </a:r>
            <a:endParaRPr lang="en-US" sz="950" dirty="0"/>
          </a:p>
        </p:txBody>
      </p:sp>
      <p:sp>
        <p:nvSpPr>
          <p:cNvPr id="112" name="Shape 110"/>
          <p:cNvSpPr/>
          <p:nvPr/>
        </p:nvSpPr>
        <p:spPr>
          <a:xfrm>
            <a:off x="3319272" y="5084064"/>
            <a:ext cx="54864" cy="1353312"/>
          </a:xfrm>
          <a:prstGeom prst="rect">
            <a:avLst/>
          </a:prstGeom>
          <a:solidFill>
            <a:srgbClr val="1565C0"/>
          </a:solidFill>
          <a:ln w="12700">
            <a:solidFill>
              <a:srgbClr val="1565C0"/>
            </a:solidFill>
            <a:prstDash val="solid"/>
          </a:ln>
        </p:spPr>
        <p:txBody>
          <a:bodyPr/>
          <a:lstStyle/>
          <a:p>
            <a:endParaRPr lang="en-KE"/>
          </a:p>
        </p:txBody>
      </p:sp>
      <p:sp>
        <p:nvSpPr>
          <p:cNvPr id="113" name="Text 111"/>
          <p:cNvSpPr/>
          <p:nvPr/>
        </p:nvSpPr>
        <p:spPr>
          <a:xfrm>
            <a:off x="3456432" y="5138928"/>
            <a:ext cx="2560320" cy="310896"/>
          </a:xfrm>
          <a:prstGeom prst="rect">
            <a:avLst/>
          </a:prstGeom>
          <a:noFill/>
          <a:ln/>
        </p:spPr>
        <p:txBody>
          <a:bodyPr wrap="square" lIns="0" tIns="0" rIns="0" bIns="0" rtlCol="0" anchor="ctr"/>
          <a:lstStyle/>
          <a:p>
            <a:pPr marL="0" indent="0">
              <a:buNone/>
            </a:pPr>
            <a:r>
              <a:rPr lang="en-US" sz="1050" b="1" dirty="0">
                <a:solidFill>
                  <a:srgbClr val="1565C0"/>
                </a:solidFill>
                <a:latin typeface="Calibri" pitchFamily="34" charset="0"/>
                <a:ea typeface="Calibri" pitchFamily="34" charset="-122"/>
                <a:cs typeface="Calibri" pitchFamily="34" charset="-120"/>
              </a:rPr>
              <a:t>Highest F1 (0.97)</a:t>
            </a:r>
            <a:endParaRPr lang="en-US" sz="1050" dirty="0"/>
          </a:p>
        </p:txBody>
      </p:sp>
      <p:sp>
        <p:nvSpPr>
          <p:cNvPr id="114" name="Text 112"/>
          <p:cNvSpPr/>
          <p:nvPr/>
        </p:nvSpPr>
        <p:spPr>
          <a:xfrm>
            <a:off x="3456432" y="5468112"/>
            <a:ext cx="2560320" cy="685800"/>
          </a:xfrm>
          <a:prstGeom prst="rect">
            <a:avLst/>
          </a:prstGeom>
          <a:noFill/>
          <a:ln/>
        </p:spPr>
        <p:txBody>
          <a:bodyPr wrap="square" lIns="0" tIns="0" rIns="0" bIns="0" rtlCol="0" anchor="ctr"/>
          <a:lstStyle/>
          <a:p>
            <a:pPr marL="0" indent="0">
              <a:buNone/>
            </a:pPr>
            <a:r>
              <a:rPr lang="en-US" sz="950" dirty="0">
                <a:solidFill>
                  <a:srgbClr val="1A2B3C"/>
                </a:solidFill>
                <a:latin typeface="Calibri" pitchFamily="34" charset="0"/>
                <a:ea typeface="Calibri" pitchFamily="34" charset="-122"/>
                <a:cs typeface="Calibri" pitchFamily="34" charset="-120"/>
              </a:rPr>
              <a:t>Best balance of precision and recall — catches most churners without flooding with false alarms.</a:t>
            </a:r>
            <a:endParaRPr lang="en-US" sz="950" dirty="0"/>
          </a:p>
        </p:txBody>
      </p:sp>
      <p:sp>
        <p:nvSpPr>
          <p:cNvPr id="115" name="Shape 113"/>
          <p:cNvSpPr/>
          <p:nvPr/>
        </p:nvSpPr>
        <p:spPr>
          <a:xfrm>
            <a:off x="6227064" y="5084064"/>
            <a:ext cx="54864" cy="1353312"/>
          </a:xfrm>
          <a:prstGeom prst="rect">
            <a:avLst/>
          </a:prstGeom>
          <a:solidFill>
            <a:srgbClr val="E65100"/>
          </a:solidFill>
          <a:ln w="12700">
            <a:solidFill>
              <a:srgbClr val="E65100"/>
            </a:solidFill>
            <a:prstDash val="solid"/>
          </a:ln>
        </p:spPr>
        <p:txBody>
          <a:bodyPr/>
          <a:lstStyle/>
          <a:p>
            <a:endParaRPr lang="en-KE"/>
          </a:p>
        </p:txBody>
      </p:sp>
      <p:sp>
        <p:nvSpPr>
          <p:cNvPr id="116" name="Text 114"/>
          <p:cNvSpPr/>
          <p:nvPr/>
        </p:nvSpPr>
        <p:spPr>
          <a:xfrm>
            <a:off x="6364224" y="5138928"/>
            <a:ext cx="2560320" cy="310896"/>
          </a:xfrm>
          <a:prstGeom prst="rect">
            <a:avLst/>
          </a:prstGeom>
          <a:noFill/>
          <a:ln/>
        </p:spPr>
        <p:txBody>
          <a:bodyPr wrap="square" lIns="0" tIns="0" rIns="0" bIns="0"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Captures Non-Linear Relationships</a:t>
            </a:r>
            <a:endParaRPr lang="en-US" sz="1050" dirty="0"/>
          </a:p>
        </p:txBody>
      </p:sp>
      <p:sp>
        <p:nvSpPr>
          <p:cNvPr id="117" name="Text 115"/>
          <p:cNvSpPr/>
          <p:nvPr/>
        </p:nvSpPr>
        <p:spPr>
          <a:xfrm>
            <a:off x="6364704" y="5660617"/>
            <a:ext cx="2770151" cy="685800"/>
          </a:xfrm>
          <a:prstGeom prst="rect">
            <a:avLst/>
          </a:prstGeom>
          <a:noFill/>
          <a:ln/>
        </p:spPr>
        <p:txBody>
          <a:bodyPr wrap="square" lIns="0" tIns="0" rIns="0" bIns="0" rtlCol="0" anchor="ctr"/>
          <a:lstStyle/>
          <a:p>
            <a:r>
              <a:rPr lang="en-GB" sz="1000" dirty="0"/>
              <a:t>Student churn isn't a straight line. For example, a "Lead Time" of 2 days is fine, 5 days might be okay, but 10 days might cause a </a:t>
            </a:r>
            <a:r>
              <a:rPr lang="en-GB" sz="1000" b="1" dirty="0"/>
              <a:t>sudden, massive spike</a:t>
            </a:r>
            <a:r>
              <a:rPr lang="en-GB" sz="1000" dirty="0"/>
              <a:t> in churn. Random Forest is built of "Decision Trees" that can handle these sudden "breaking points" and "if-this-then-that" scenarios far better than other models.</a:t>
            </a:r>
            <a:endParaRPr lang="en-US" sz="950" dirty="0"/>
          </a:p>
        </p:txBody>
      </p:sp>
      <p:sp>
        <p:nvSpPr>
          <p:cNvPr id="118" name="Shape 116"/>
          <p:cNvSpPr/>
          <p:nvPr/>
        </p:nvSpPr>
        <p:spPr>
          <a:xfrm>
            <a:off x="9134856" y="5084064"/>
            <a:ext cx="54864" cy="1353312"/>
          </a:xfrm>
          <a:prstGeom prst="rect">
            <a:avLst/>
          </a:prstGeom>
          <a:solidFill>
            <a:srgbClr val="2E7D32"/>
          </a:solidFill>
          <a:ln w="12700">
            <a:solidFill>
              <a:srgbClr val="2E7D32"/>
            </a:solidFill>
            <a:prstDash val="solid"/>
          </a:ln>
        </p:spPr>
        <p:txBody>
          <a:bodyPr/>
          <a:lstStyle/>
          <a:p>
            <a:endParaRPr lang="en-KE"/>
          </a:p>
        </p:txBody>
      </p:sp>
      <p:sp>
        <p:nvSpPr>
          <p:cNvPr id="119" name="Text 117"/>
          <p:cNvSpPr/>
          <p:nvPr/>
        </p:nvSpPr>
        <p:spPr>
          <a:xfrm>
            <a:off x="9272016" y="5138928"/>
            <a:ext cx="2560320" cy="310896"/>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Resistance to overfitting (The “Forest” Effect)</a:t>
            </a:r>
            <a:endParaRPr lang="en-US" sz="1050" dirty="0"/>
          </a:p>
        </p:txBody>
      </p:sp>
      <p:sp>
        <p:nvSpPr>
          <p:cNvPr id="120" name="Text 118"/>
          <p:cNvSpPr/>
          <p:nvPr/>
        </p:nvSpPr>
        <p:spPr>
          <a:xfrm>
            <a:off x="9272016" y="5468111"/>
            <a:ext cx="2560320" cy="878305"/>
          </a:xfrm>
          <a:prstGeom prst="rect">
            <a:avLst/>
          </a:prstGeom>
          <a:noFill/>
          <a:ln/>
        </p:spPr>
        <p:txBody>
          <a:bodyPr wrap="square" lIns="0" tIns="0" rIns="0" bIns="0" rtlCol="0" anchor="ctr"/>
          <a:lstStyle/>
          <a:p>
            <a:r>
              <a:rPr lang="en-GB" sz="1000" dirty="0"/>
              <a:t>By using a </a:t>
            </a:r>
            <a:r>
              <a:rPr lang="en-GB" sz="1000" b="1" dirty="0"/>
              <a:t>Forest</a:t>
            </a:r>
            <a:r>
              <a:rPr lang="en-GB" sz="1000" dirty="0"/>
              <a:t> (hundreds of trees) and taking their average, the model becomes much more robust. This ensures that when one uses the model to make 2026 budget decisions, they’re looking at real trends, not just statistical noise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00897B"/>
          </a:solidFill>
          <a:ln w="12700">
            <a:solidFill>
              <a:srgbClr val="00897B"/>
            </a:solidFill>
            <a:prstDash val="solid"/>
          </a:ln>
        </p:spPr>
        <p:txBody>
          <a:bodyPr/>
          <a:lstStyle/>
          <a:p>
            <a:endParaRPr lang="en-KE"/>
          </a:p>
        </p:txBody>
      </p:sp>
      <p:sp>
        <p:nvSpPr>
          <p:cNvPr id="3" name="Shape 1"/>
          <p:cNvSpPr/>
          <p:nvPr/>
        </p:nvSpPr>
        <p:spPr>
          <a:xfrm>
            <a:off x="0" y="6748272"/>
            <a:ext cx="12161520" cy="109728"/>
          </a:xfrm>
          <a:prstGeom prst="rect">
            <a:avLst/>
          </a:prstGeom>
          <a:solidFill>
            <a:srgbClr val="E65100"/>
          </a:solidFill>
          <a:ln w="12700">
            <a:solidFill>
              <a:srgbClr val="E65100"/>
            </a:solidFill>
            <a:prstDash val="solid"/>
          </a:ln>
        </p:spPr>
        <p:txBody>
          <a:bodyPr/>
          <a:lstStyle/>
          <a:p>
            <a:endParaRPr lang="en-KE"/>
          </a:p>
        </p:txBody>
      </p:sp>
      <p:sp>
        <p:nvSpPr>
          <p:cNvPr id="4" name="Text 2"/>
          <p:cNvSpPr/>
          <p:nvPr/>
        </p:nvSpPr>
        <p:spPr>
          <a:xfrm>
            <a:off x="411480" y="182880"/>
            <a:ext cx="11338560" cy="320040"/>
          </a:xfrm>
          <a:prstGeom prst="rect">
            <a:avLst/>
          </a:prstGeom>
          <a:noFill/>
          <a:ln/>
        </p:spPr>
        <p:txBody>
          <a:bodyPr wrap="square" lIns="0" tIns="0" rIns="0" bIns="0" rtlCol="0" anchor="ctr"/>
          <a:lstStyle/>
          <a:p>
            <a:pPr marL="0" indent="0">
              <a:buNone/>
            </a:pPr>
            <a:r>
              <a:rPr lang="en-US" sz="1200" b="1" kern="0" spc="500" dirty="0">
                <a:solidFill>
                  <a:srgbClr val="00897B"/>
                </a:solidFill>
                <a:latin typeface="Calibri" pitchFamily="34" charset="0"/>
                <a:ea typeface="Calibri" pitchFamily="34" charset="-122"/>
                <a:cs typeface="Calibri" pitchFamily="34" charset="-120"/>
              </a:rPr>
              <a:t>RECOMMENDATIONS</a:t>
            </a:r>
            <a:endParaRPr lang="en-US" sz="1200" dirty="0"/>
          </a:p>
        </p:txBody>
      </p:sp>
      <p:sp>
        <p:nvSpPr>
          <p:cNvPr id="5" name="Text 3"/>
          <p:cNvSpPr/>
          <p:nvPr/>
        </p:nvSpPr>
        <p:spPr>
          <a:xfrm>
            <a:off x="411480" y="530352"/>
            <a:ext cx="11338560" cy="62179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Four Actions That Will Reduce Churn — Starting Now</a:t>
            </a:r>
            <a:endParaRPr lang="en-US" sz="2400" dirty="0"/>
          </a:p>
        </p:txBody>
      </p:sp>
      <p:sp>
        <p:nvSpPr>
          <p:cNvPr id="6" name="Shape 4"/>
          <p:cNvSpPr/>
          <p:nvPr/>
        </p:nvSpPr>
        <p:spPr>
          <a:xfrm>
            <a:off x="411480" y="1234440"/>
            <a:ext cx="11338560" cy="0"/>
          </a:xfrm>
          <a:prstGeom prst="line">
            <a:avLst/>
          </a:prstGeom>
          <a:noFill/>
          <a:ln w="12700">
            <a:solidFill>
              <a:srgbClr val="1E3A5F"/>
            </a:solidFill>
            <a:prstDash val="solid"/>
          </a:ln>
        </p:spPr>
        <p:txBody>
          <a:bodyPr/>
          <a:lstStyle/>
          <a:p>
            <a:endParaRPr lang="en-KE"/>
          </a:p>
        </p:txBody>
      </p:sp>
      <p:sp>
        <p:nvSpPr>
          <p:cNvPr id="7" name="Shape 5"/>
          <p:cNvSpPr/>
          <p:nvPr/>
        </p:nvSpPr>
        <p:spPr>
          <a:xfrm>
            <a:off x="274320" y="1417320"/>
            <a:ext cx="5760720" cy="2487168"/>
          </a:xfrm>
          <a:prstGeom prst="rect">
            <a:avLst/>
          </a:prstGeom>
          <a:solidFill>
            <a:srgbClr val="0F2D4A"/>
          </a:solidFill>
          <a:ln w="12700">
            <a:solidFill>
              <a:srgbClr val="1E3A5F"/>
            </a:solidFill>
            <a:prstDash val="solid"/>
          </a:ln>
          <a:effectLst>
            <a:outerShdw blurRad="127000" dist="50800" dir="8100000" algn="bl" rotWithShape="0">
              <a:srgbClr val="000000">
                <a:alpha val="15000"/>
              </a:srgbClr>
            </a:outerShdw>
          </a:effectLst>
        </p:spPr>
        <p:txBody>
          <a:bodyPr/>
          <a:lstStyle/>
          <a:p>
            <a:endParaRPr lang="en-KE"/>
          </a:p>
        </p:txBody>
      </p:sp>
      <p:sp>
        <p:nvSpPr>
          <p:cNvPr id="8" name="Shape 6"/>
          <p:cNvSpPr/>
          <p:nvPr/>
        </p:nvSpPr>
        <p:spPr>
          <a:xfrm>
            <a:off x="274320" y="1417320"/>
            <a:ext cx="64008" cy="2487168"/>
          </a:xfrm>
          <a:prstGeom prst="rect">
            <a:avLst/>
          </a:prstGeom>
          <a:solidFill>
            <a:srgbClr val="B71C1C"/>
          </a:solidFill>
          <a:ln w="12700">
            <a:solidFill>
              <a:srgbClr val="B71C1C"/>
            </a:solidFill>
            <a:prstDash val="solid"/>
          </a:ln>
        </p:spPr>
        <p:txBody>
          <a:bodyPr/>
          <a:lstStyle/>
          <a:p>
            <a:endParaRPr lang="en-KE"/>
          </a:p>
        </p:txBody>
      </p:sp>
      <p:sp>
        <p:nvSpPr>
          <p:cNvPr id="9" name="Shape 7"/>
          <p:cNvSpPr/>
          <p:nvPr/>
        </p:nvSpPr>
        <p:spPr>
          <a:xfrm>
            <a:off x="438912" y="1545336"/>
            <a:ext cx="658368" cy="347472"/>
          </a:xfrm>
          <a:prstGeom prst="rect">
            <a:avLst/>
          </a:prstGeom>
          <a:solidFill>
            <a:srgbClr val="B71C1C"/>
          </a:solidFill>
          <a:ln w="12700">
            <a:solidFill>
              <a:srgbClr val="B71C1C"/>
            </a:solidFill>
            <a:prstDash val="solid"/>
          </a:ln>
        </p:spPr>
        <p:txBody>
          <a:bodyPr/>
          <a:lstStyle/>
          <a:p>
            <a:endParaRPr lang="en-KE"/>
          </a:p>
        </p:txBody>
      </p:sp>
      <p:sp>
        <p:nvSpPr>
          <p:cNvPr id="10" name="Text 8"/>
          <p:cNvSpPr/>
          <p:nvPr/>
        </p:nvSpPr>
        <p:spPr>
          <a:xfrm>
            <a:off x="438912" y="1545336"/>
            <a:ext cx="65836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1" name="Text 9"/>
          <p:cNvSpPr/>
          <p:nvPr/>
        </p:nvSpPr>
        <p:spPr>
          <a:xfrm>
            <a:off x="1207008" y="1545336"/>
            <a:ext cx="469087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Redesign the Four High-Churn Internships</a:t>
            </a:r>
            <a:endParaRPr lang="en-US" sz="1250" dirty="0"/>
          </a:p>
        </p:txBody>
      </p:sp>
      <p:sp>
        <p:nvSpPr>
          <p:cNvPr id="12" name="Text 10"/>
          <p:cNvSpPr/>
          <p:nvPr/>
        </p:nvSpPr>
        <p:spPr>
          <a:xfrm>
            <a:off x="438912" y="1993392"/>
            <a:ext cx="5458968" cy="1325880"/>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Digital Marketing (66.5%), Data Visualization (64.6%), Project Management (62.2%), and Innovation &amp; Entrepreneurship (61.9%) account for 76% of ALL churn. Benchmark against Health Care Management (4.6%) to identify what structural differences drive retention. Add mandatory Week 0 onboarding, weekly team check-ins, and a mentor quality audit.</a:t>
            </a:r>
            <a:endParaRPr lang="en-US" sz="1050" dirty="0"/>
          </a:p>
        </p:txBody>
      </p:sp>
      <p:sp>
        <p:nvSpPr>
          <p:cNvPr id="13" name="Shape 11"/>
          <p:cNvSpPr/>
          <p:nvPr/>
        </p:nvSpPr>
        <p:spPr>
          <a:xfrm>
            <a:off x="438912" y="3401568"/>
            <a:ext cx="5458968" cy="411480"/>
          </a:xfrm>
          <a:prstGeom prst="rect">
            <a:avLst/>
          </a:prstGeom>
          <a:solidFill>
            <a:srgbClr val="B71C1C"/>
          </a:solidFill>
          <a:ln w="12700">
            <a:solidFill>
              <a:srgbClr val="B71C1C"/>
            </a:solidFill>
            <a:prstDash val="solid"/>
          </a:ln>
        </p:spPr>
        <p:txBody>
          <a:bodyPr/>
          <a:lstStyle/>
          <a:p>
            <a:endParaRPr lang="en-KE"/>
          </a:p>
        </p:txBody>
      </p:sp>
      <p:sp>
        <p:nvSpPr>
          <p:cNvPr id="14" name="Text 12"/>
          <p:cNvSpPr/>
          <p:nvPr/>
        </p:nvSpPr>
        <p:spPr>
          <a:xfrm>
            <a:off x="530352" y="3401568"/>
            <a:ext cx="5349240"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Expected impact: −20pp churn in target programmes → ~200 additional retained learners/cycle</a:t>
            </a:r>
            <a:endParaRPr lang="en-US" sz="950" dirty="0"/>
          </a:p>
        </p:txBody>
      </p:sp>
      <p:sp>
        <p:nvSpPr>
          <p:cNvPr id="15" name="Shape 13"/>
          <p:cNvSpPr/>
          <p:nvPr/>
        </p:nvSpPr>
        <p:spPr>
          <a:xfrm>
            <a:off x="6263640" y="1417320"/>
            <a:ext cx="5760720" cy="2487168"/>
          </a:xfrm>
          <a:prstGeom prst="rect">
            <a:avLst/>
          </a:prstGeom>
          <a:solidFill>
            <a:srgbClr val="0F2D4A"/>
          </a:solidFill>
          <a:ln w="12700">
            <a:solidFill>
              <a:srgbClr val="1E3A5F"/>
            </a:solidFill>
            <a:prstDash val="solid"/>
          </a:ln>
          <a:effectLst>
            <a:outerShdw blurRad="127000" dist="50800" dir="8100000" algn="bl" rotWithShape="0">
              <a:srgbClr val="000000">
                <a:alpha val="15000"/>
              </a:srgbClr>
            </a:outerShdw>
          </a:effectLst>
        </p:spPr>
        <p:txBody>
          <a:bodyPr/>
          <a:lstStyle/>
          <a:p>
            <a:endParaRPr lang="en-KE"/>
          </a:p>
        </p:txBody>
      </p:sp>
      <p:sp>
        <p:nvSpPr>
          <p:cNvPr id="16" name="Shape 14"/>
          <p:cNvSpPr/>
          <p:nvPr/>
        </p:nvSpPr>
        <p:spPr>
          <a:xfrm>
            <a:off x="6263640" y="1417320"/>
            <a:ext cx="64008" cy="2487168"/>
          </a:xfrm>
          <a:prstGeom prst="rect">
            <a:avLst/>
          </a:prstGeom>
          <a:solidFill>
            <a:srgbClr val="E65100"/>
          </a:solidFill>
          <a:ln w="12700">
            <a:solidFill>
              <a:srgbClr val="E65100"/>
            </a:solidFill>
            <a:prstDash val="solid"/>
          </a:ln>
        </p:spPr>
        <p:txBody>
          <a:bodyPr/>
          <a:lstStyle/>
          <a:p>
            <a:endParaRPr lang="en-KE"/>
          </a:p>
        </p:txBody>
      </p:sp>
      <p:sp>
        <p:nvSpPr>
          <p:cNvPr id="17" name="Shape 15"/>
          <p:cNvSpPr/>
          <p:nvPr/>
        </p:nvSpPr>
        <p:spPr>
          <a:xfrm>
            <a:off x="6428232" y="1545336"/>
            <a:ext cx="658368" cy="347472"/>
          </a:xfrm>
          <a:prstGeom prst="rect">
            <a:avLst/>
          </a:prstGeom>
          <a:solidFill>
            <a:srgbClr val="E65100"/>
          </a:solidFill>
          <a:ln w="12700">
            <a:solidFill>
              <a:srgbClr val="E65100"/>
            </a:solidFill>
            <a:prstDash val="solid"/>
          </a:ln>
        </p:spPr>
        <p:txBody>
          <a:bodyPr/>
          <a:lstStyle/>
          <a:p>
            <a:endParaRPr lang="en-KE"/>
          </a:p>
        </p:txBody>
      </p:sp>
      <p:sp>
        <p:nvSpPr>
          <p:cNvPr id="18" name="Text 16"/>
          <p:cNvSpPr/>
          <p:nvPr/>
        </p:nvSpPr>
        <p:spPr>
          <a:xfrm>
            <a:off x="6428232" y="1545336"/>
            <a:ext cx="65836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9" name="Text 17"/>
          <p:cNvSpPr/>
          <p:nvPr/>
        </p:nvSpPr>
        <p:spPr>
          <a:xfrm>
            <a:off x="7196328" y="1545336"/>
            <a:ext cx="469087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December Confirmation Protocol</a:t>
            </a:r>
            <a:endParaRPr lang="en-US" sz="1250" dirty="0"/>
          </a:p>
        </p:txBody>
      </p:sp>
      <p:sp>
        <p:nvSpPr>
          <p:cNvPr id="20" name="Text 18"/>
          <p:cNvSpPr/>
          <p:nvPr/>
        </p:nvSpPr>
        <p:spPr>
          <a:xfrm>
            <a:off x="6428232" y="1993392"/>
            <a:ext cx="5458968" cy="1325880"/>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December sign-ups churn at 34.7% — 55.8% for December internship applications specifically. Implement: </a:t>
            </a:r>
          </a:p>
          <a:p>
            <a:pPr marL="228600" indent="-228600">
              <a:buAutoNum type="arabicParenBoth"/>
            </a:pPr>
            <a:r>
              <a:rPr lang="en-US" sz="1050" dirty="0">
                <a:solidFill>
                  <a:srgbClr val="8CAABF"/>
                </a:solidFill>
                <a:latin typeface="Calibri" pitchFamily="34" charset="0"/>
                <a:ea typeface="Calibri" pitchFamily="34" charset="-122"/>
                <a:cs typeface="Calibri" pitchFamily="34" charset="-120"/>
              </a:rPr>
              <a:t>a mandatory re-confirmation email in the 2nd week of December requiring learners to confirm their January start; </a:t>
            </a:r>
          </a:p>
          <a:p>
            <a:pPr marL="228600" indent="-228600">
              <a:buAutoNum type="arabicParenBoth"/>
            </a:pPr>
            <a:r>
              <a:rPr lang="en-US" sz="1050" dirty="0">
                <a:solidFill>
                  <a:srgbClr val="8CAABF"/>
                </a:solidFill>
                <a:latin typeface="Calibri" pitchFamily="34" charset="0"/>
                <a:ea typeface="Calibri" pitchFamily="34" charset="-122"/>
                <a:cs typeface="Calibri" pitchFamily="34" charset="-120"/>
              </a:rPr>
              <a:t> a pre-cohort Slack channel launching Dec 15 to build team relationships before the </a:t>
            </a:r>
            <a:r>
              <a:rPr lang="en-US" sz="1050" dirty="0" err="1">
                <a:solidFill>
                  <a:srgbClr val="8CAABF"/>
                </a:solidFill>
                <a:latin typeface="Calibri" pitchFamily="34" charset="0"/>
                <a:ea typeface="Calibri" pitchFamily="34" charset="-122"/>
                <a:cs typeface="Calibri" pitchFamily="34" charset="-120"/>
              </a:rPr>
              <a:t>programme</a:t>
            </a:r>
            <a:r>
              <a:rPr lang="en-US" sz="1050" dirty="0">
                <a:solidFill>
                  <a:srgbClr val="8CAABF"/>
                </a:solidFill>
                <a:latin typeface="Calibri" pitchFamily="34" charset="0"/>
                <a:ea typeface="Calibri" pitchFamily="34" charset="-122"/>
                <a:cs typeface="Calibri" pitchFamily="34" charset="-120"/>
              </a:rPr>
              <a:t> begins; </a:t>
            </a:r>
          </a:p>
          <a:p>
            <a:pPr marL="228600" indent="-228600">
              <a:buAutoNum type="arabicParenBoth"/>
            </a:pPr>
            <a:r>
              <a:rPr lang="en-US" sz="1050" dirty="0">
                <a:solidFill>
                  <a:srgbClr val="8CAABF"/>
                </a:solidFill>
                <a:latin typeface="Calibri" pitchFamily="34" charset="0"/>
                <a:ea typeface="Calibri" pitchFamily="34" charset="-122"/>
                <a:cs typeface="Calibri" pitchFamily="34" charset="-120"/>
              </a:rPr>
              <a:t>a 48-hour slot release for non-confirmers after Jan 2.</a:t>
            </a:r>
            <a:endParaRPr lang="en-US" sz="1050" dirty="0"/>
          </a:p>
        </p:txBody>
      </p:sp>
      <p:sp>
        <p:nvSpPr>
          <p:cNvPr id="21" name="Shape 19"/>
          <p:cNvSpPr/>
          <p:nvPr/>
        </p:nvSpPr>
        <p:spPr>
          <a:xfrm>
            <a:off x="6428232" y="3401568"/>
            <a:ext cx="5458968" cy="411480"/>
          </a:xfrm>
          <a:prstGeom prst="rect">
            <a:avLst/>
          </a:prstGeom>
          <a:solidFill>
            <a:srgbClr val="E65100"/>
          </a:solidFill>
          <a:ln w="12700">
            <a:solidFill>
              <a:srgbClr val="E65100"/>
            </a:solidFill>
            <a:prstDash val="solid"/>
          </a:ln>
        </p:spPr>
        <p:txBody>
          <a:bodyPr/>
          <a:lstStyle/>
          <a:p>
            <a:endParaRPr lang="en-KE"/>
          </a:p>
        </p:txBody>
      </p:sp>
      <p:sp>
        <p:nvSpPr>
          <p:cNvPr id="22" name="Text 20"/>
          <p:cNvSpPr/>
          <p:nvPr/>
        </p:nvSpPr>
        <p:spPr>
          <a:xfrm>
            <a:off x="6519672" y="3401568"/>
            <a:ext cx="5349240"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Expected impact: Convert 30% of would-be December dropouts → ~50 additional retained learners/cycle</a:t>
            </a:r>
            <a:endParaRPr lang="en-US" sz="950" dirty="0"/>
          </a:p>
        </p:txBody>
      </p:sp>
      <p:sp>
        <p:nvSpPr>
          <p:cNvPr id="23" name="Shape 21"/>
          <p:cNvSpPr/>
          <p:nvPr/>
        </p:nvSpPr>
        <p:spPr>
          <a:xfrm>
            <a:off x="274320" y="4050792"/>
            <a:ext cx="5760720" cy="2487168"/>
          </a:xfrm>
          <a:prstGeom prst="rect">
            <a:avLst/>
          </a:prstGeom>
          <a:solidFill>
            <a:srgbClr val="0F2D4A"/>
          </a:solidFill>
          <a:ln w="12700">
            <a:solidFill>
              <a:srgbClr val="1E3A5F"/>
            </a:solidFill>
            <a:prstDash val="solid"/>
          </a:ln>
          <a:effectLst>
            <a:outerShdw blurRad="127000" dist="50800" dir="8100000" algn="bl" rotWithShape="0">
              <a:srgbClr val="000000">
                <a:alpha val="15000"/>
              </a:srgbClr>
            </a:outerShdw>
          </a:effectLst>
        </p:spPr>
        <p:txBody>
          <a:bodyPr/>
          <a:lstStyle/>
          <a:p>
            <a:endParaRPr lang="en-KE"/>
          </a:p>
        </p:txBody>
      </p:sp>
      <p:sp>
        <p:nvSpPr>
          <p:cNvPr id="24" name="Shape 22"/>
          <p:cNvSpPr/>
          <p:nvPr/>
        </p:nvSpPr>
        <p:spPr>
          <a:xfrm>
            <a:off x="274320" y="4050792"/>
            <a:ext cx="64008" cy="2487168"/>
          </a:xfrm>
          <a:prstGeom prst="rect">
            <a:avLst/>
          </a:prstGeom>
          <a:solidFill>
            <a:srgbClr val="1565C0"/>
          </a:solidFill>
          <a:ln w="12700">
            <a:solidFill>
              <a:srgbClr val="1565C0"/>
            </a:solidFill>
            <a:prstDash val="solid"/>
          </a:ln>
        </p:spPr>
        <p:txBody>
          <a:bodyPr/>
          <a:lstStyle/>
          <a:p>
            <a:endParaRPr lang="en-KE"/>
          </a:p>
        </p:txBody>
      </p:sp>
      <p:sp>
        <p:nvSpPr>
          <p:cNvPr id="25" name="Shape 23"/>
          <p:cNvSpPr/>
          <p:nvPr/>
        </p:nvSpPr>
        <p:spPr>
          <a:xfrm>
            <a:off x="438912" y="4178808"/>
            <a:ext cx="658368" cy="347472"/>
          </a:xfrm>
          <a:prstGeom prst="rect">
            <a:avLst/>
          </a:prstGeom>
          <a:solidFill>
            <a:srgbClr val="1565C0"/>
          </a:solidFill>
          <a:ln w="12700">
            <a:solidFill>
              <a:srgbClr val="1565C0"/>
            </a:solidFill>
            <a:prstDash val="solid"/>
          </a:ln>
        </p:spPr>
        <p:txBody>
          <a:bodyPr/>
          <a:lstStyle/>
          <a:p>
            <a:endParaRPr lang="en-KE"/>
          </a:p>
        </p:txBody>
      </p:sp>
      <p:sp>
        <p:nvSpPr>
          <p:cNvPr id="26" name="Text 24"/>
          <p:cNvSpPr/>
          <p:nvPr/>
        </p:nvSpPr>
        <p:spPr>
          <a:xfrm>
            <a:off x="438912" y="4178808"/>
            <a:ext cx="65836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7" name="Text 25"/>
          <p:cNvSpPr/>
          <p:nvPr/>
        </p:nvSpPr>
        <p:spPr>
          <a:xfrm>
            <a:off x="1207008" y="4178808"/>
            <a:ext cx="469087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Three-Tier Automated Intervention System</a:t>
            </a:r>
            <a:endParaRPr lang="en-US" sz="1250" dirty="0"/>
          </a:p>
        </p:txBody>
      </p:sp>
      <p:sp>
        <p:nvSpPr>
          <p:cNvPr id="28" name="Text 26"/>
          <p:cNvSpPr/>
          <p:nvPr/>
        </p:nvSpPr>
        <p:spPr>
          <a:xfrm>
            <a:off x="438912" y="4626864"/>
            <a:ext cx="5458968" cy="1325880"/>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Use the Random forest model to score every newly placed learner. Threshold 0.60 = High Risk (80 learners/cycle): personal video call within 48 hours of placement. Threshold 0.30–0.60 = Medium Risk (~180 learners): automated 3-email welcome sequence + Week 1 pulse survey. Below 0.30 = Low Risk: standard programme delivery.</a:t>
            </a:r>
            <a:endParaRPr lang="en-US" sz="1050" dirty="0"/>
          </a:p>
        </p:txBody>
      </p:sp>
      <p:sp>
        <p:nvSpPr>
          <p:cNvPr id="29" name="Shape 27"/>
          <p:cNvSpPr/>
          <p:nvPr/>
        </p:nvSpPr>
        <p:spPr>
          <a:xfrm>
            <a:off x="438912" y="6035040"/>
            <a:ext cx="5458968" cy="411480"/>
          </a:xfrm>
          <a:prstGeom prst="rect">
            <a:avLst/>
          </a:prstGeom>
          <a:solidFill>
            <a:srgbClr val="1565C0"/>
          </a:solidFill>
          <a:ln w="12700">
            <a:solidFill>
              <a:srgbClr val="1565C0"/>
            </a:solidFill>
            <a:prstDash val="solid"/>
          </a:ln>
        </p:spPr>
        <p:txBody>
          <a:bodyPr/>
          <a:lstStyle/>
          <a:p>
            <a:endParaRPr lang="en-KE"/>
          </a:p>
        </p:txBody>
      </p:sp>
      <p:sp>
        <p:nvSpPr>
          <p:cNvPr id="30" name="Text 28"/>
          <p:cNvSpPr/>
          <p:nvPr/>
        </p:nvSpPr>
        <p:spPr>
          <a:xfrm>
            <a:off x="530352" y="6035040"/>
            <a:ext cx="5349240"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Expected impact: 30% retention improvement in high-risk tier → ~80 additional retained learners/cycle</a:t>
            </a:r>
            <a:endParaRPr lang="en-US" sz="950" dirty="0"/>
          </a:p>
        </p:txBody>
      </p:sp>
      <p:sp>
        <p:nvSpPr>
          <p:cNvPr id="31" name="Shape 29"/>
          <p:cNvSpPr/>
          <p:nvPr/>
        </p:nvSpPr>
        <p:spPr>
          <a:xfrm>
            <a:off x="6263640" y="4050792"/>
            <a:ext cx="5760720" cy="2487168"/>
          </a:xfrm>
          <a:prstGeom prst="rect">
            <a:avLst/>
          </a:prstGeom>
          <a:solidFill>
            <a:srgbClr val="0F2D4A"/>
          </a:solidFill>
          <a:ln w="12700">
            <a:solidFill>
              <a:srgbClr val="1E3A5F"/>
            </a:solidFill>
            <a:prstDash val="solid"/>
          </a:ln>
          <a:effectLst>
            <a:outerShdw blurRad="127000" dist="50800" dir="8100000" algn="bl" rotWithShape="0">
              <a:srgbClr val="000000">
                <a:alpha val="15000"/>
              </a:srgbClr>
            </a:outerShdw>
          </a:effectLst>
        </p:spPr>
        <p:txBody>
          <a:bodyPr/>
          <a:lstStyle/>
          <a:p>
            <a:endParaRPr lang="en-KE"/>
          </a:p>
        </p:txBody>
      </p:sp>
      <p:sp>
        <p:nvSpPr>
          <p:cNvPr id="32" name="Shape 30"/>
          <p:cNvSpPr/>
          <p:nvPr/>
        </p:nvSpPr>
        <p:spPr>
          <a:xfrm>
            <a:off x="6263640" y="4050792"/>
            <a:ext cx="64008" cy="2487168"/>
          </a:xfrm>
          <a:prstGeom prst="rect">
            <a:avLst/>
          </a:prstGeom>
          <a:solidFill>
            <a:srgbClr val="2E7D32"/>
          </a:solidFill>
          <a:ln w="12700">
            <a:solidFill>
              <a:srgbClr val="2E7D32"/>
            </a:solidFill>
            <a:prstDash val="solid"/>
          </a:ln>
        </p:spPr>
        <p:txBody>
          <a:bodyPr/>
          <a:lstStyle/>
          <a:p>
            <a:endParaRPr lang="en-KE"/>
          </a:p>
        </p:txBody>
      </p:sp>
      <p:sp>
        <p:nvSpPr>
          <p:cNvPr id="33" name="Shape 31"/>
          <p:cNvSpPr/>
          <p:nvPr/>
        </p:nvSpPr>
        <p:spPr>
          <a:xfrm>
            <a:off x="6428232" y="4178808"/>
            <a:ext cx="658368" cy="347472"/>
          </a:xfrm>
          <a:prstGeom prst="rect">
            <a:avLst/>
          </a:prstGeom>
          <a:solidFill>
            <a:srgbClr val="2E7D32"/>
          </a:solidFill>
          <a:ln w="12700">
            <a:solidFill>
              <a:srgbClr val="2E7D32"/>
            </a:solidFill>
            <a:prstDash val="solid"/>
          </a:ln>
        </p:spPr>
        <p:txBody>
          <a:bodyPr/>
          <a:lstStyle/>
          <a:p>
            <a:endParaRPr lang="en-KE"/>
          </a:p>
        </p:txBody>
      </p:sp>
      <p:sp>
        <p:nvSpPr>
          <p:cNvPr id="34" name="Text 32"/>
          <p:cNvSpPr/>
          <p:nvPr/>
        </p:nvSpPr>
        <p:spPr>
          <a:xfrm>
            <a:off x="6428232" y="4178808"/>
            <a:ext cx="658368"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5" name="Text 33"/>
          <p:cNvSpPr/>
          <p:nvPr/>
        </p:nvSpPr>
        <p:spPr>
          <a:xfrm>
            <a:off x="7196328" y="4178808"/>
            <a:ext cx="469087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Seasonal Capacity &amp; Campaign Calendar</a:t>
            </a:r>
            <a:endParaRPr lang="en-US" sz="1250" dirty="0"/>
          </a:p>
        </p:txBody>
      </p:sp>
      <p:sp>
        <p:nvSpPr>
          <p:cNvPr id="36" name="Text 34"/>
          <p:cNvSpPr/>
          <p:nvPr/>
        </p:nvSpPr>
        <p:spPr>
          <a:xfrm>
            <a:off x="6428232" y="4626864"/>
            <a:ext cx="5458968" cy="1325880"/>
          </a:xfrm>
          <a:prstGeom prst="rect">
            <a:avLst/>
          </a:prstGeom>
          <a:noFill/>
          <a:ln/>
        </p:spPr>
        <p:txBody>
          <a:bodyPr wrap="square" lIns="0" tIns="0" rIns="0" bIns="0" rtlCol="0" anchor="ctr"/>
          <a:lstStyle/>
          <a:p>
            <a:pPr marL="0" indent="0">
              <a:buNone/>
            </a:pPr>
            <a:r>
              <a:rPr lang="en-US" sz="1050" dirty="0">
                <a:solidFill>
                  <a:srgbClr val="8CAABF"/>
                </a:solidFill>
                <a:latin typeface="Calibri" pitchFamily="34" charset="0"/>
                <a:ea typeface="Calibri" pitchFamily="34" charset="-122"/>
                <a:cs typeface="Calibri" pitchFamily="34" charset="-120"/>
              </a:rPr>
              <a:t>Jan/Feb peak (seasonal idx 2.24×): open +30% additional cohort slots by December 1 to absorb demand without crushing conversion. August peak (1.41×): launch back-to-school university partnership campaigns by June 24. March trough (0.49×): reduce open slots by 25% to avoid under-subscribed cohorts with wasted facilitator time.</a:t>
            </a:r>
            <a:endParaRPr lang="en-US" sz="1050" dirty="0"/>
          </a:p>
        </p:txBody>
      </p:sp>
      <p:sp>
        <p:nvSpPr>
          <p:cNvPr id="37" name="Shape 35"/>
          <p:cNvSpPr/>
          <p:nvPr/>
        </p:nvSpPr>
        <p:spPr>
          <a:xfrm>
            <a:off x="6428232" y="6035040"/>
            <a:ext cx="5458968" cy="411480"/>
          </a:xfrm>
          <a:prstGeom prst="rect">
            <a:avLst/>
          </a:prstGeom>
          <a:solidFill>
            <a:srgbClr val="2E7D32"/>
          </a:solidFill>
          <a:ln w="12700">
            <a:solidFill>
              <a:srgbClr val="2E7D32"/>
            </a:solidFill>
            <a:prstDash val="solid"/>
          </a:ln>
        </p:spPr>
        <p:txBody>
          <a:bodyPr/>
          <a:lstStyle/>
          <a:p>
            <a:endParaRPr lang="en-KE"/>
          </a:p>
        </p:txBody>
      </p:sp>
      <p:sp>
        <p:nvSpPr>
          <p:cNvPr id="38" name="Text 36"/>
          <p:cNvSpPr/>
          <p:nvPr/>
        </p:nvSpPr>
        <p:spPr>
          <a:xfrm>
            <a:off x="6519672" y="6035040"/>
            <a:ext cx="5349240"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Expected impact: Lift Jan conversion from 23.4% to 35%+ → ~170 additional placements/year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78992"/>
          </a:xfrm>
          <a:prstGeom prst="rect">
            <a:avLst/>
          </a:prstGeom>
          <a:solidFill>
            <a:srgbClr val="0B2545"/>
          </a:solidFill>
          <a:ln w="12700">
            <a:solidFill>
              <a:srgbClr val="0B2545"/>
            </a:solidFill>
            <a:prstDash val="solid"/>
          </a:ln>
        </p:spPr>
        <p:txBody>
          <a:bodyPr/>
          <a:lstStyle/>
          <a:p>
            <a:endParaRPr lang="en-KE"/>
          </a:p>
        </p:txBody>
      </p:sp>
      <p:sp>
        <p:nvSpPr>
          <p:cNvPr id="3" name="Shape 1"/>
          <p:cNvSpPr/>
          <p:nvPr/>
        </p:nvSpPr>
        <p:spPr>
          <a:xfrm>
            <a:off x="0" y="0"/>
            <a:ext cx="73152" cy="1078992"/>
          </a:xfrm>
          <a:prstGeom prst="rect">
            <a:avLst/>
          </a:prstGeom>
          <a:solidFill>
            <a:srgbClr val="00897B"/>
          </a:solidFill>
          <a:ln w="12700">
            <a:solidFill>
              <a:srgbClr val="00897B"/>
            </a:solidFill>
            <a:prstDash val="solid"/>
          </a:ln>
        </p:spPr>
        <p:txBody>
          <a:bodyPr/>
          <a:lstStyle/>
          <a:p>
            <a:endParaRPr lang="en-KE"/>
          </a:p>
        </p:txBody>
      </p:sp>
      <p:sp>
        <p:nvSpPr>
          <p:cNvPr id="4" name="Text 2"/>
          <p:cNvSpPr/>
          <p:nvPr/>
        </p:nvSpPr>
        <p:spPr>
          <a:xfrm>
            <a:off x="228600" y="73152"/>
            <a:ext cx="4102768" cy="329184"/>
          </a:xfrm>
          <a:prstGeom prst="rect">
            <a:avLst/>
          </a:prstGeom>
          <a:noFill/>
          <a:ln/>
        </p:spPr>
        <p:txBody>
          <a:bodyPr wrap="square" lIns="0" tIns="0" rIns="0" bIns="0" rtlCol="0" anchor="ctr"/>
          <a:lstStyle/>
          <a:p>
            <a:pPr marL="0" indent="0">
              <a:buNone/>
            </a:pPr>
            <a:r>
              <a:rPr lang="en-US" sz="900" b="1" kern="0" spc="400" dirty="0">
                <a:solidFill>
                  <a:srgbClr val="4DB6AC"/>
                </a:solidFill>
                <a:latin typeface="Calibri" pitchFamily="34" charset="0"/>
                <a:ea typeface="Calibri" pitchFamily="34" charset="-122"/>
                <a:cs typeface="Calibri" pitchFamily="34" charset="-120"/>
              </a:rPr>
              <a:t>CONCLUSION  ·  4-WEEK SUMMARY</a:t>
            </a:r>
            <a:endParaRPr lang="en-US" sz="900" dirty="0"/>
          </a:p>
        </p:txBody>
      </p:sp>
      <p:sp>
        <p:nvSpPr>
          <p:cNvPr id="5" name="Text 3"/>
          <p:cNvSpPr/>
          <p:nvPr/>
        </p:nvSpPr>
        <p:spPr>
          <a:xfrm>
            <a:off x="228600" y="310896"/>
            <a:ext cx="914400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Takeaways</a:t>
            </a:r>
            <a:endParaRPr lang="en-US" sz="2200" dirty="0"/>
          </a:p>
        </p:txBody>
      </p:sp>
      <p:sp>
        <p:nvSpPr>
          <p:cNvPr id="6" name="Text 4"/>
          <p:cNvSpPr/>
          <p:nvPr/>
        </p:nvSpPr>
        <p:spPr>
          <a:xfrm>
            <a:off x="228600" y="749808"/>
            <a:ext cx="10058400" cy="274320"/>
          </a:xfrm>
          <a:prstGeom prst="rect">
            <a:avLst/>
          </a:prstGeom>
          <a:noFill/>
          <a:ln/>
        </p:spPr>
        <p:txBody>
          <a:bodyPr wrap="square" lIns="0" tIns="0" rIns="0" bIns="0" rtlCol="0" anchor="ctr"/>
          <a:lstStyle/>
          <a:p>
            <a:pPr marL="0" indent="0">
              <a:buNone/>
            </a:pPr>
            <a:r>
              <a:rPr lang="en-US" sz="1100" i="1" dirty="0">
                <a:solidFill>
                  <a:srgbClr val="90C2E7"/>
                </a:solidFill>
                <a:latin typeface="Calibri" pitchFamily="34" charset="0"/>
                <a:ea typeface="Calibri" pitchFamily="34" charset="-122"/>
                <a:cs typeface="Calibri" pitchFamily="34" charset="-120"/>
              </a:rPr>
              <a:t>From raw data to predictive intelligence — what we built and where it leads</a:t>
            </a:r>
            <a:endParaRPr lang="en-US" sz="1100" dirty="0"/>
          </a:p>
        </p:txBody>
      </p:sp>
      <p:sp>
        <p:nvSpPr>
          <p:cNvPr id="7" name="Shape 5"/>
          <p:cNvSpPr/>
          <p:nvPr/>
        </p:nvSpPr>
        <p:spPr>
          <a:xfrm>
            <a:off x="228600" y="1207008"/>
            <a:ext cx="6976872" cy="534924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sp>
        <p:nvSpPr>
          <p:cNvPr id="8" name="Shape 6"/>
          <p:cNvSpPr/>
          <p:nvPr/>
        </p:nvSpPr>
        <p:spPr>
          <a:xfrm>
            <a:off x="228600" y="1207008"/>
            <a:ext cx="64008" cy="5349240"/>
          </a:xfrm>
          <a:prstGeom prst="rect">
            <a:avLst/>
          </a:prstGeom>
          <a:solidFill>
            <a:srgbClr val="0B2545"/>
          </a:solidFill>
          <a:ln w="12700">
            <a:solidFill>
              <a:srgbClr val="0B2545"/>
            </a:solidFill>
            <a:prstDash val="solid"/>
          </a:ln>
        </p:spPr>
        <p:txBody>
          <a:bodyPr/>
          <a:lstStyle/>
          <a:p>
            <a:endParaRPr lang="en-KE"/>
          </a:p>
        </p:txBody>
      </p:sp>
      <p:sp>
        <p:nvSpPr>
          <p:cNvPr id="9" name="Text 7"/>
          <p:cNvSpPr/>
          <p:nvPr/>
        </p:nvSpPr>
        <p:spPr>
          <a:xfrm>
            <a:off x="438912" y="1335024"/>
            <a:ext cx="667512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6 Findings That Change How Excelerate Plans</a:t>
            </a:r>
            <a:endParaRPr lang="en-US" sz="1300" dirty="0"/>
          </a:p>
        </p:txBody>
      </p:sp>
      <p:sp>
        <p:nvSpPr>
          <p:cNvPr id="10" name="Shape 8"/>
          <p:cNvSpPr/>
          <p:nvPr/>
        </p:nvSpPr>
        <p:spPr>
          <a:xfrm>
            <a:off x="384048" y="1911096"/>
            <a:ext cx="384048" cy="384048"/>
          </a:xfrm>
          <a:prstGeom prst="ellipse">
            <a:avLst/>
          </a:prstGeom>
          <a:solidFill>
            <a:srgbClr val="00897B"/>
          </a:solidFill>
          <a:ln w="12700">
            <a:solidFill>
              <a:srgbClr val="00897B"/>
            </a:solidFill>
            <a:prstDash val="solid"/>
          </a:ln>
        </p:spPr>
        <p:txBody>
          <a:bodyPr/>
          <a:lstStyle/>
          <a:p>
            <a:endParaRPr lang="en-KE"/>
          </a:p>
        </p:txBody>
      </p:sp>
      <p:sp>
        <p:nvSpPr>
          <p:cNvPr id="11" name="Text 9"/>
          <p:cNvSpPr/>
          <p:nvPr/>
        </p:nvSpPr>
        <p:spPr>
          <a:xfrm>
            <a:off x="384048" y="19110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896112" y="1901952"/>
            <a:ext cx="6309360" cy="310896"/>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Platform scaled 8,000× in 2 years</a:t>
            </a:r>
            <a:endParaRPr lang="en-US" sz="1150" dirty="0"/>
          </a:p>
        </p:txBody>
      </p:sp>
      <p:sp>
        <p:nvSpPr>
          <p:cNvPr id="13" name="Text 11"/>
          <p:cNvSpPr/>
          <p:nvPr/>
        </p:nvSpPr>
        <p:spPr>
          <a:xfrm>
            <a:off x="896112" y="2240280"/>
            <a:ext cx="6309360" cy="329184"/>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Growth is event-driven (Jan–Feb 2024 = 31% of all-time apps), not organic. Without forecasting, every spike is a crisis.</a:t>
            </a:r>
            <a:endParaRPr lang="en-US" sz="1000" dirty="0"/>
          </a:p>
        </p:txBody>
      </p:sp>
      <p:sp>
        <p:nvSpPr>
          <p:cNvPr id="14" name="Shape 12"/>
          <p:cNvSpPr/>
          <p:nvPr/>
        </p:nvSpPr>
        <p:spPr>
          <a:xfrm>
            <a:off x="384048" y="2688336"/>
            <a:ext cx="384048" cy="384048"/>
          </a:xfrm>
          <a:prstGeom prst="ellipse">
            <a:avLst/>
          </a:prstGeom>
          <a:solidFill>
            <a:srgbClr val="B71C1C"/>
          </a:solidFill>
          <a:ln w="12700">
            <a:solidFill>
              <a:srgbClr val="B71C1C"/>
            </a:solidFill>
            <a:prstDash val="solid"/>
          </a:ln>
        </p:spPr>
        <p:txBody>
          <a:bodyPr/>
          <a:lstStyle/>
          <a:p>
            <a:endParaRPr lang="en-KE"/>
          </a:p>
        </p:txBody>
      </p:sp>
      <p:sp>
        <p:nvSpPr>
          <p:cNvPr id="15" name="Text 13"/>
          <p:cNvSpPr/>
          <p:nvPr/>
        </p:nvSpPr>
        <p:spPr>
          <a:xfrm>
            <a:off x="384048" y="26883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896112" y="2679192"/>
            <a:ext cx="6309360" cy="310896"/>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Churn is a single-category problem</a:t>
            </a:r>
            <a:endParaRPr lang="en-US" sz="1150" dirty="0"/>
          </a:p>
        </p:txBody>
      </p:sp>
      <p:sp>
        <p:nvSpPr>
          <p:cNvPr id="17" name="Text 15"/>
          <p:cNvSpPr/>
          <p:nvPr/>
        </p:nvSpPr>
        <p:spPr>
          <a:xfrm>
            <a:off x="896112" y="3017520"/>
            <a:ext cx="6309360" cy="329184"/>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95.5% of all 699 churned learners are from Internships (36.6% churn). Courses, Events, Competitions: effectively zero.</a:t>
            </a:r>
            <a:endParaRPr lang="en-US" sz="1000" dirty="0"/>
          </a:p>
        </p:txBody>
      </p:sp>
      <p:sp>
        <p:nvSpPr>
          <p:cNvPr id="18" name="Shape 16"/>
          <p:cNvSpPr/>
          <p:nvPr/>
        </p:nvSpPr>
        <p:spPr>
          <a:xfrm>
            <a:off x="384048" y="3465576"/>
            <a:ext cx="384048" cy="384048"/>
          </a:xfrm>
          <a:prstGeom prst="ellipse">
            <a:avLst/>
          </a:prstGeom>
          <a:solidFill>
            <a:srgbClr val="E65100"/>
          </a:solidFill>
          <a:ln w="12700">
            <a:solidFill>
              <a:srgbClr val="E65100"/>
            </a:solidFill>
            <a:prstDash val="solid"/>
          </a:ln>
        </p:spPr>
        <p:txBody>
          <a:bodyPr/>
          <a:lstStyle/>
          <a:p>
            <a:endParaRPr lang="en-KE"/>
          </a:p>
        </p:txBody>
      </p:sp>
      <p:sp>
        <p:nvSpPr>
          <p:cNvPr id="19" name="Text 17"/>
          <p:cNvSpPr/>
          <p:nvPr/>
        </p:nvSpPr>
        <p:spPr>
          <a:xfrm>
            <a:off x="384048" y="34655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96112" y="3456432"/>
            <a:ext cx="6309360" cy="310896"/>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Four programmes cause 76% of all churn</a:t>
            </a:r>
            <a:endParaRPr lang="en-US" sz="1150" dirty="0"/>
          </a:p>
        </p:txBody>
      </p:sp>
      <p:sp>
        <p:nvSpPr>
          <p:cNvPr id="21" name="Text 19"/>
          <p:cNvSpPr/>
          <p:nvPr/>
        </p:nvSpPr>
        <p:spPr>
          <a:xfrm>
            <a:off x="896112" y="3794760"/>
            <a:ext cx="6309360" cy="329184"/>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Digital Marketing, Data Visualization, Project Management, I&amp;E — vs Health Care Mgmt at 4.6%. Programme design &gt; learner demographics.</a:t>
            </a:r>
            <a:endParaRPr lang="en-US" sz="1000" dirty="0"/>
          </a:p>
        </p:txBody>
      </p:sp>
      <p:sp>
        <p:nvSpPr>
          <p:cNvPr id="22" name="Shape 20"/>
          <p:cNvSpPr/>
          <p:nvPr/>
        </p:nvSpPr>
        <p:spPr>
          <a:xfrm>
            <a:off x="384048" y="4242816"/>
            <a:ext cx="384048" cy="384048"/>
          </a:xfrm>
          <a:prstGeom prst="ellipse">
            <a:avLst/>
          </a:prstGeom>
          <a:solidFill>
            <a:srgbClr val="1565C0"/>
          </a:solidFill>
          <a:ln w="12700">
            <a:solidFill>
              <a:srgbClr val="1565C0"/>
            </a:solidFill>
            <a:prstDash val="solid"/>
          </a:ln>
        </p:spPr>
        <p:txBody>
          <a:bodyPr/>
          <a:lstStyle/>
          <a:p>
            <a:endParaRPr lang="en-KE"/>
          </a:p>
        </p:txBody>
      </p:sp>
      <p:sp>
        <p:nvSpPr>
          <p:cNvPr id="23" name="Text 21"/>
          <p:cNvSpPr/>
          <p:nvPr/>
        </p:nvSpPr>
        <p:spPr>
          <a:xfrm>
            <a:off x="384048" y="42428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896112" y="4233672"/>
            <a:ext cx="6309360" cy="310896"/>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December is the highest-risk month</a:t>
            </a:r>
            <a:endParaRPr lang="en-US" sz="1150" dirty="0"/>
          </a:p>
        </p:txBody>
      </p:sp>
      <p:sp>
        <p:nvSpPr>
          <p:cNvPr id="25" name="Text 23"/>
          <p:cNvSpPr/>
          <p:nvPr/>
        </p:nvSpPr>
        <p:spPr>
          <a:xfrm>
            <a:off x="896112" y="4572000"/>
            <a:ext cx="6309360" cy="329184"/>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34.7% churn rate — 55.8% for December internship sign-ups. Entirely predictable and preventable with a confirmation protocol.</a:t>
            </a:r>
            <a:endParaRPr lang="en-US" sz="1000" dirty="0"/>
          </a:p>
        </p:txBody>
      </p:sp>
      <p:sp>
        <p:nvSpPr>
          <p:cNvPr id="26" name="Shape 24"/>
          <p:cNvSpPr/>
          <p:nvPr/>
        </p:nvSpPr>
        <p:spPr>
          <a:xfrm>
            <a:off x="384048" y="5020056"/>
            <a:ext cx="384048" cy="384048"/>
          </a:xfrm>
          <a:prstGeom prst="ellipse">
            <a:avLst/>
          </a:prstGeom>
          <a:solidFill>
            <a:srgbClr val="4527A0"/>
          </a:solidFill>
          <a:ln w="12700">
            <a:solidFill>
              <a:srgbClr val="4527A0"/>
            </a:solidFill>
            <a:prstDash val="solid"/>
          </a:ln>
        </p:spPr>
        <p:txBody>
          <a:bodyPr/>
          <a:lstStyle/>
          <a:p>
            <a:endParaRPr lang="en-KE"/>
          </a:p>
        </p:txBody>
      </p:sp>
      <p:sp>
        <p:nvSpPr>
          <p:cNvPr id="27" name="Text 25"/>
          <p:cNvSpPr/>
          <p:nvPr/>
        </p:nvSpPr>
        <p:spPr>
          <a:xfrm>
            <a:off x="384048" y="50200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896112" y="5010912"/>
            <a:ext cx="6309360" cy="310896"/>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Long-tail users convert better than fast applicants</a:t>
            </a:r>
            <a:endParaRPr lang="en-US" sz="1150" dirty="0"/>
          </a:p>
        </p:txBody>
      </p:sp>
      <p:sp>
        <p:nvSpPr>
          <p:cNvPr id="29" name="Text 27"/>
          <p:cNvSpPr/>
          <p:nvPr/>
        </p:nvSpPr>
        <p:spPr>
          <a:xfrm>
            <a:off x="896112" y="5349240"/>
            <a:ext cx="6309360" cy="329184"/>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Learners who wait &gt;1 week to apply (48.5% of users) convert at 43.6% vs 35.2% for same-day applicants. Deliberate &gt; impulsive.</a:t>
            </a:r>
            <a:endParaRPr lang="en-US" sz="1000" dirty="0"/>
          </a:p>
        </p:txBody>
      </p:sp>
      <p:sp>
        <p:nvSpPr>
          <p:cNvPr id="30" name="Shape 28"/>
          <p:cNvSpPr/>
          <p:nvPr/>
        </p:nvSpPr>
        <p:spPr>
          <a:xfrm>
            <a:off x="384048" y="5797296"/>
            <a:ext cx="384048" cy="384048"/>
          </a:xfrm>
          <a:prstGeom prst="ellipse">
            <a:avLst/>
          </a:prstGeom>
          <a:solidFill>
            <a:srgbClr val="2E7D32"/>
          </a:solidFill>
          <a:ln w="12700">
            <a:solidFill>
              <a:srgbClr val="2E7D32"/>
            </a:solidFill>
            <a:prstDash val="solid"/>
          </a:ln>
        </p:spPr>
        <p:txBody>
          <a:bodyPr/>
          <a:lstStyle/>
          <a:p>
            <a:endParaRPr lang="en-KE"/>
          </a:p>
        </p:txBody>
      </p:sp>
      <p:sp>
        <p:nvSpPr>
          <p:cNvPr id="31" name="Text 29"/>
          <p:cNvSpPr/>
          <p:nvPr/>
        </p:nvSpPr>
        <p:spPr>
          <a:xfrm>
            <a:off x="384048" y="57972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96112" y="5788152"/>
            <a:ext cx="6309360" cy="310896"/>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The model identifies 94.6% of high-risk learners</a:t>
            </a:r>
            <a:endParaRPr lang="en-US" sz="1150" dirty="0"/>
          </a:p>
        </p:txBody>
      </p:sp>
      <p:sp>
        <p:nvSpPr>
          <p:cNvPr id="33" name="Text 31"/>
          <p:cNvSpPr/>
          <p:nvPr/>
        </p:nvSpPr>
        <p:spPr>
          <a:xfrm>
            <a:off x="896112" y="6126480"/>
            <a:ext cx="6309360" cy="329184"/>
          </a:xfrm>
          <a:prstGeom prst="rect">
            <a:avLst/>
          </a:prstGeom>
          <a:noFill/>
          <a:ln/>
        </p:spPr>
        <p:txBody>
          <a:bodyPr wrap="square" lIns="0" tIns="0" rIns="0" bIns="0" rtlCol="0" anchor="ctr"/>
          <a:lstStyle/>
          <a:p>
            <a:pPr marL="0" indent="0">
              <a:buNone/>
            </a:pPr>
            <a:r>
              <a:rPr lang="en-US" sz="1000" dirty="0">
                <a:solidFill>
                  <a:srgbClr val="5A7A95"/>
                </a:solidFill>
                <a:latin typeface="Calibri" pitchFamily="34" charset="0"/>
                <a:ea typeface="Calibri" pitchFamily="34" charset="-122"/>
                <a:cs typeface="Calibri" pitchFamily="34" charset="-120"/>
              </a:rPr>
              <a:t>Random Forest (AUC 0.93) correctly flags 9 in 10 learners who will churn in the high-risk tier (prob &gt; 0.60).</a:t>
            </a:r>
            <a:endParaRPr lang="en-US" sz="1000" dirty="0"/>
          </a:p>
        </p:txBody>
      </p:sp>
      <p:sp>
        <p:nvSpPr>
          <p:cNvPr id="49" name="Text 47"/>
          <p:cNvSpPr/>
          <p:nvPr/>
        </p:nvSpPr>
        <p:spPr>
          <a:xfrm>
            <a:off x="7818120" y="4005072"/>
            <a:ext cx="3931920" cy="347472"/>
          </a:xfrm>
          <a:prstGeom prst="rect">
            <a:avLst/>
          </a:prstGeom>
          <a:noFill/>
          <a:ln/>
        </p:spPr>
        <p:txBody>
          <a:bodyPr wrap="square" lIns="0" tIns="0" rIns="0" bIns="0" rtlCol="0" anchor="ctr"/>
          <a:lstStyle/>
          <a:p>
            <a:pPr marL="0" indent="0">
              <a:buNone/>
            </a:pPr>
            <a:endParaRPr lang="en-US" sz="1200" dirty="0"/>
          </a:p>
        </p:txBody>
      </p:sp>
      <p:sp>
        <p:nvSpPr>
          <p:cNvPr id="53" name="Text 51"/>
          <p:cNvSpPr/>
          <p:nvPr/>
        </p:nvSpPr>
        <p:spPr>
          <a:xfrm>
            <a:off x="8430768" y="4709160"/>
            <a:ext cx="2194560" cy="182880"/>
          </a:xfrm>
          <a:prstGeom prst="rect">
            <a:avLst/>
          </a:prstGeom>
          <a:noFill/>
          <a:ln/>
        </p:spPr>
        <p:txBody>
          <a:bodyPr wrap="square" lIns="0" tIns="0" rIns="0" bIns="0" rtlCol="0" anchor="ctr"/>
          <a:lstStyle/>
          <a:p>
            <a:pPr marL="0" indent="0">
              <a:buNone/>
            </a:pPr>
            <a:endParaRPr lang="en-US" sz="850" dirty="0"/>
          </a:p>
        </p:txBody>
      </p:sp>
      <p:sp>
        <p:nvSpPr>
          <p:cNvPr id="59" name="Text 57"/>
          <p:cNvSpPr/>
          <p:nvPr/>
        </p:nvSpPr>
        <p:spPr>
          <a:xfrm>
            <a:off x="7726680" y="5541264"/>
            <a:ext cx="640080" cy="347472"/>
          </a:xfrm>
          <a:prstGeom prst="rect">
            <a:avLst/>
          </a:prstGeom>
          <a:noFill/>
          <a:ln/>
        </p:spPr>
        <p:txBody>
          <a:bodyPr wrap="square" lIns="0" tIns="0" rIns="0" bIns="0" rtlCol="0" anchor="ctr"/>
          <a:lstStyle/>
          <a:p>
            <a:pPr marL="0" indent="0" algn="ctr">
              <a:buNone/>
            </a:pPr>
            <a:endParaRPr lang="en-US" sz="1400" dirty="0"/>
          </a:p>
        </p:txBody>
      </p:sp>
      <p:sp>
        <p:nvSpPr>
          <p:cNvPr id="63" name="Text 61"/>
          <p:cNvSpPr/>
          <p:nvPr/>
        </p:nvSpPr>
        <p:spPr>
          <a:xfrm>
            <a:off x="7726680" y="6062472"/>
            <a:ext cx="640080" cy="347472"/>
          </a:xfrm>
          <a:prstGeom prst="rect">
            <a:avLst/>
          </a:prstGeom>
          <a:noFill/>
          <a:ln/>
        </p:spPr>
        <p:txBody>
          <a:bodyPr wrap="square" lIns="0" tIns="0" rIns="0" bIns="0" rtlCol="0" anchor="ctr"/>
          <a:lstStyle/>
          <a:p>
            <a:pPr marL="0" indent="0" algn="ctr">
              <a:buNone/>
            </a:pPr>
            <a:endParaRPr lang="en-US" sz="1400" dirty="0"/>
          </a:p>
        </p:txBody>
      </p:sp>
      <p:sp>
        <p:nvSpPr>
          <p:cNvPr id="64" name="Text 62"/>
          <p:cNvSpPr/>
          <p:nvPr/>
        </p:nvSpPr>
        <p:spPr>
          <a:xfrm>
            <a:off x="8430768" y="6062472"/>
            <a:ext cx="2194560" cy="219456"/>
          </a:xfrm>
          <a:prstGeom prst="rect">
            <a:avLst/>
          </a:prstGeom>
          <a:noFill/>
          <a:ln/>
        </p:spPr>
        <p:txBody>
          <a:bodyPr wrap="square" lIns="0" tIns="0" rIns="0" bIns="0" rtlCol="0" anchor="ctr"/>
          <a:lstStyle/>
          <a:p>
            <a:pPr marL="0" indent="0">
              <a:buNone/>
            </a:pPr>
            <a:endParaRPr lang="en-US" sz="950" dirty="0"/>
          </a:p>
        </p:txBody>
      </p:sp>
      <p:sp>
        <p:nvSpPr>
          <p:cNvPr id="66" name="Shape 64"/>
          <p:cNvSpPr/>
          <p:nvPr/>
        </p:nvSpPr>
        <p:spPr>
          <a:xfrm>
            <a:off x="0" y="6565392"/>
            <a:ext cx="12161520" cy="292608"/>
          </a:xfrm>
          <a:prstGeom prst="rect">
            <a:avLst/>
          </a:prstGeom>
          <a:solidFill>
            <a:srgbClr val="0B2545"/>
          </a:solidFill>
          <a:ln w="12700">
            <a:solidFill>
              <a:srgbClr val="0B2545"/>
            </a:solidFill>
            <a:prstDash val="solid"/>
          </a:ln>
        </p:spPr>
        <p:txBody>
          <a:bodyPr/>
          <a:lstStyle/>
          <a:p>
            <a:endParaRPr lang="en-KE"/>
          </a:p>
        </p:txBody>
      </p:sp>
      <p:sp>
        <p:nvSpPr>
          <p:cNvPr id="67" name="Text 65"/>
          <p:cNvSpPr/>
          <p:nvPr/>
        </p:nvSpPr>
        <p:spPr>
          <a:xfrm>
            <a:off x="365760" y="6583680"/>
            <a:ext cx="11430000" cy="256032"/>
          </a:xfrm>
          <a:prstGeom prst="rect">
            <a:avLst/>
          </a:prstGeom>
          <a:noFill/>
          <a:ln/>
        </p:spPr>
        <p:txBody>
          <a:bodyPr wrap="square" lIns="0" tIns="0" rIns="0" bIns="0" rtlCol="0" anchor="ctr"/>
          <a:lstStyle/>
          <a:p>
            <a:pPr marL="0" indent="0" algn="ctr">
              <a:buNone/>
            </a:pPr>
            <a:r>
              <a:rPr lang="en-US" sz="950" dirty="0">
                <a:solidFill>
                  <a:srgbClr val="5A7A95"/>
                </a:solidFill>
                <a:latin typeface="Calibri" pitchFamily="34" charset="0"/>
                <a:ea typeface="Calibri" pitchFamily="34" charset="-122"/>
                <a:cs typeface="Calibri" pitchFamily="34" charset="-120"/>
              </a:rPr>
              <a:t>Excelerate  ·  AI-Powered Data Insight Internship  ·  4-Week Final Report  ·  March 2026</a:t>
            </a:r>
            <a:endParaRPr lang="en-US" sz="950" dirty="0"/>
          </a:p>
        </p:txBody>
      </p:sp>
      <p:sp>
        <p:nvSpPr>
          <p:cNvPr id="68" name="Shape 5">
            <a:extLst>
              <a:ext uri="{FF2B5EF4-FFF2-40B4-BE49-F238E27FC236}">
                <a16:creationId xmlns:a16="http://schemas.microsoft.com/office/drawing/2014/main" id="{7FF32E66-9D8F-811A-3761-9F14E8117810}"/>
              </a:ext>
            </a:extLst>
          </p:cNvPr>
          <p:cNvSpPr/>
          <p:nvPr/>
        </p:nvSpPr>
        <p:spPr>
          <a:xfrm>
            <a:off x="7296912" y="1188720"/>
            <a:ext cx="4748464" cy="5349240"/>
          </a:xfrm>
          <a:prstGeom prst="rect">
            <a:avLst/>
          </a:prstGeom>
          <a:solidFill>
            <a:srgbClr val="FFFFFF"/>
          </a:solidFill>
          <a:ln w="12700">
            <a:solidFill>
              <a:srgbClr val="CBD5E0"/>
            </a:solidFill>
            <a:prstDash val="solid"/>
          </a:ln>
          <a:effectLst>
            <a:outerShdw blurRad="76200" dist="38100" dir="8100000" algn="bl" rotWithShape="0">
              <a:srgbClr val="000000">
                <a:alpha val="10000"/>
              </a:srgbClr>
            </a:outerShdw>
          </a:effectLst>
        </p:spPr>
        <p:txBody>
          <a:bodyPr/>
          <a:lstStyle/>
          <a:p>
            <a:endParaRPr lang="en-KE"/>
          </a:p>
        </p:txBody>
      </p:sp>
      <p:pic>
        <p:nvPicPr>
          <p:cNvPr id="70" name="Picture 69">
            <a:extLst>
              <a:ext uri="{FF2B5EF4-FFF2-40B4-BE49-F238E27FC236}">
                <a16:creationId xmlns:a16="http://schemas.microsoft.com/office/drawing/2014/main" id="{13EB3286-50E8-A225-1ACD-7432DD5EDF22}"/>
              </a:ext>
            </a:extLst>
          </p:cNvPr>
          <p:cNvPicPr>
            <a:picLocks noChangeAspect="1"/>
          </p:cNvPicPr>
          <p:nvPr/>
        </p:nvPicPr>
        <p:blipFill>
          <a:blip r:embed="rId3"/>
          <a:stretch>
            <a:fillRect/>
          </a:stretch>
        </p:blipFill>
        <p:spPr>
          <a:xfrm>
            <a:off x="7315200" y="1533304"/>
            <a:ext cx="4730176" cy="43766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396</TotalTime>
  <Words>1951</Words>
  <Application>Microsoft Office PowerPoint</Application>
  <PresentationFormat>Widescreen</PresentationFormat>
  <Paragraphs>340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Excelerate Data Analysis — Final Report</dc:title>
  <dc:subject>PptxGenJS Presentation</dc:subject>
  <dc:creator>PptxGenJS</dc:creator>
  <cp:lastModifiedBy>Ngnintedem Ayden</cp:lastModifiedBy>
  <cp:revision>2</cp:revision>
  <dcterms:created xsi:type="dcterms:W3CDTF">2026-04-08T09:35:16Z</dcterms:created>
  <dcterms:modified xsi:type="dcterms:W3CDTF">2026-04-08T17:13:42Z</dcterms:modified>
</cp:coreProperties>
</file>